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法线贴图与视差贴图实现原理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A5568"/>
                </a:solidFill>
              </a:rPr>
              <a:t>两课时教学课件（URP 实战向 / 初学者友好）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D41"/>
                </a:solidFill>
              </a:defRPr>
            </a:pPr>
            <a:r>
              <a:t>适用对象：Unity/URP 初学者，具备基础 Shader 阅读能力</a:t>
            </a:r>
          </a:p>
          <a:p>
            <a:pPr>
              <a:spcAft>
                <a:spcPts val="1000"/>
              </a:spcAft>
              <a:defRPr sz="2400">
                <a:solidFill>
                  <a:srgbClr val="222D41"/>
                </a:solidFill>
              </a:defRPr>
            </a:pPr>
            <a:r>
              <a:t>课程目标：理解原理 -&gt; 看懂代码 -&gt; 能自己调参数和排错</a:t>
            </a:r>
          </a:p>
          <a:p>
            <a:pPr>
              <a:spcAft>
                <a:spcPts val="1000"/>
              </a:spcAft>
              <a:defRPr sz="2400">
                <a:solidFill>
                  <a:srgbClr val="222D41"/>
                </a:solidFill>
              </a:defRPr>
            </a:pPr>
            <a:r>
              <a:t>案例基础：Phong + Normal + Parallax + AO + SpecMask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课程安排（2 课时）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第 1 课时（90 分钟）：法线贴图与 TBN 空间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第 2 课时（90 分钟）：视差贴图与完整光照整合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每课时结构：概念讲解 40% + 案例拆解 40% + 实操与答疑 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知道法线贴图为何能“看起来凹凸”，但不增加模型面数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理解切线空间与 TBN：为何法线贴图可跨模型复用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掌握视差贴图 UV 偏移原理与迭代思路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能在 URP 中写出可维护的 Normal + Parallax Shader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第1课时：法线贴图核心认知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A5568"/>
                </a:solidFill>
              </a:rPr>
              <a:t>为什么“蓝紫色贴图”能骗过光照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035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核心思想：改法线，不改几何</a:t>
            </a:r>
          </a:p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RGB &lt;-&gt; 法线向量映射：x/y/z 对应 r/g/b</a:t>
            </a:r>
          </a:p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蓝通道偏高的原因：多数法线整体朝 +Z</a:t>
            </a:r>
          </a:p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关键难点：法线贴图是切线空间，不是世界空间</a:t>
            </a:r>
          </a:p>
        </p:txBody>
      </p:sp>
      <p:pic>
        <p:nvPicPr>
          <p:cNvPr id="5" name="Picture 4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法线向量编码与解码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编码：rgb = normal * 0.5 + 0.5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解码：normal = rgb * 2.0 - 1.0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法线贴图采样后必须 normalize()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导入设置错误（sRGB/Normal Type）会导致“塑料感”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2560320"/>
          </a:xfrm>
          <a:prstGeom prst="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Consolas"/>
              </a:rPr>
              <a:t>float3 normalTS = UnpackNormal(SAMPLE_TEXTURE2D(_NormalMap, sampler_NormalMap, uv));
normalTS.xy *= _NormalIntensity;
float3 normalWS = normalize(mul(normalTS, tbn));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TBN 与切线空间（重点）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T (Tangent)：沿纹理 U 方向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B (Bitangent)：沿纹理 V 方向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N (Normal)：几何法线方向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TBN 矩阵作用：把切线空间向量转到世界空间</a:t>
            </a:r>
          </a:p>
        </p:txBody>
      </p:sp>
      <p:pic>
        <p:nvPicPr>
          <p:cNvPr id="4" name="Picture 3" descr="tbn_v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第1课时案例拆解（URP）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顶点阶段输出：positionWS / normalWS / tangentWS / bitangentWS / uv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片元阶段流程：采样法线 -&gt; TBN 变换 -&gt; 参与光照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主光 + 附加光分离：便于排查每个光源贡献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调试建议：先关 Spec 和 AO，只看 NdotL 是否正常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第1课时实操任务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任务A：调 _NormalIntensity，观察砖缝深浅变化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任务B：翻转法线 G 通道，观察光照方向错误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任务C：关闭 normalize()，观察高光破碎现象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课堂产出：一份可解释“为什么这么写”的笔记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第2课时：视差贴图原理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A5568"/>
                </a:solidFill>
              </a:rPr>
              <a:t>UV 偏移模拟高度，不是真位移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035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输入：高度图(Height/Parallax Map) + 视线方向 viewDirTS</a:t>
            </a:r>
          </a:p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核心：沿 viewDirTS.xy 偏移 UV</a:t>
            </a:r>
          </a:p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本质：采样坐标变化造成“观察角度变化感”</a:t>
            </a:r>
          </a:p>
          <a:p>
            <a:pPr>
              <a:spcAft>
                <a:spcPts val="1000"/>
              </a:spcAft>
              <a:defRPr sz="2100">
                <a:solidFill>
                  <a:srgbClr val="222D41"/>
                </a:solidFill>
              </a:defRPr>
            </a:pPr>
            <a:r>
              <a:t>特点：几何不变，轮廓不变，细节感增强</a:t>
            </a:r>
          </a:p>
        </p:txBody>
      </p:sp>
      <p:pic>
        <p:nvPicPr>
          <p:cNvPr id="5" name="Picture 4" descr="parallax_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视差偏移公式（基础版）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P = viewDirTS.xy * height * scale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uv' = uv - P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视角越斜，偏移越明显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scale 过大时会出现纹理撕裂/游走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2560320"/>
          </a:xfrm>
          <a:prstGeom prst="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Consolas"/>
              </a:rPr>
              <a:t>float2 uvParallax = uv;
for (int i = 0; i &lt; 10; i++)
{
    float h = SAMPLE_TEXTURE2D(_ParallaxMap, sampler_ParallaxMap, uvParallax).r;
    uvParallax -= (0.5 - h) * viewDirTS.xy * _Parallax * 0.01;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为什么要迭代（Steep Parallax 思想）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单次偏移：快，但层次感不足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多次迭代：更接近“沿深度走层”效果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步数越高越真实，但像素成本更高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工程做法：近景高步数，远景低步数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法线 + 视差协同流程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先算 TBN，再得 viewDirTS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先做视差得到 uvParallax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再用 uvParallax 统一采样：Main/AO/Spec/Normal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最后用 normalWS 进入光照模型（Phong 或 PBR）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与你案例代码的对应关系（Phong.shader）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BuildTBN()：构造切线空间基底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ApplyParallaxUVIterative()：视差 UV 迭代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ApplyNormalTSToWS()：法线转世界空间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EvaluatePhongLighting()：单灯漫反射+高光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常见问题与排错清单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法线方向反了：检查切线 handedness / 法线贴图导入类型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视差抖动：减小 _Parallax，限制极斜视角偏移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高光异常：确认 normalWS 与 light/view 均 normalize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画面灰蒙：检查线性空间与手动 gamma 转换是否重复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性能与质量平衡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优先级：法线贴图 &gt; 视差贴图（性价比更高）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移动端建议：降低视差步数，或仅关键材质启用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可加 Keyword：_PARALLAX_OFF / _PARALLAX_LOW / _PARALLAX_HIGH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LOD 策略：远处关闭视差，仅保留法线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两课时练习安排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练习1：只开法线贴图，做“砖墙起伏感”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练习2：加视差贴图，对比不同 _Parallax 和步数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练习3：记录 FPS 与视觉质量，给出参数建议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练习4：封装自己的 Shading Library 函数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课后作业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作业A：在你的材质库中新增一个“可调视差级别”的 Shader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作业B：写一页文档解释“为什么先视差后法线采样”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作业C：提交一组对比图（关闭/开启法线与视差）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图片与资料来源（网络）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D41"/>
                </a:solidFill>
              </a:defRPr>
            </a:pPr>
            <a:r>
              <a:t>Wikimedia Commons: File:Normal_map_example.png</a:t>
            </a:r>
          </a:p>
          <a:p>
            <a:pPr>
              <a:spcAft>
                <a:spcPts val="1000"/>
              </a:spcAft>
              <a:defRPr sz="1800">
                <a:solidFill>
                  <a:srgbClr val="222D41"/>
                </a:solidFill>
              </a:defRPr>
            </a:pPr>
            <a:r>
              <a:t>Wikimedia Commons: File:Normal_map_example - Map.png</a:t>
            </a:r>
          </a:p>
          <a:p>
            <a:pPr>
              <a:spcAft>
                <a:spcPts val="1000"/>
              </a:spcAft>
              <a:defRPr sz="1800">
                <a:solidFill>
                  <a:srgbClr val="222D41"/>
                </a:solidFill>
              </a:defRPr>
            </a:pPr>
            <a:r>
              <a:t>Wikimedia Commons: File:Normal_map_example - Result.png</a:t>
            </a:r>
          </a:p>
          <a:p>
            <a:pPr>
              <a:spcAft>
                <a:spcPts val="1000"/>
              </a:spcAft>
              <a:defRPr sz="1800">
                <a:solidFill>
                  <a:srgbClr val="222D41"/>
                </a:solidFill>
              </a:defRPr>
            </a:pPr>
            <a:r>
              <a:t>Wikimedia Commons: File:Normal_map_example with scene and result.png</a:t>
            </a:r>
          </a:p>
          <a:p>
            <a:pPr>
              <a:spcAft>
                <a:spcPts val="1000"/>
              </a:spcAft>
              <a:defRPr sz="1800">
                <a:solidFill>
                  <a:srgbClr val="222D41"/>
                </a:solidFill>
              </a:defRPr>
            </a:pPr>
            <a:r>
              <a:t>Wikimedia Commons: File:Normal_map_example - Scene.png</a:t>
            </a:r>
          </a:p>
          <a:p>
            <a:pPr>
              <a:spcAft>
                <a:spcPts val="1000"/>
              </a:spcAft>
              <a:defRPr sz="1800">
                <a:solidFill>
                  <a:srgbClr val="222D41"/>
                </a:solidFill>
              </a:defRPr>
            </a:pPr>
            <a:r>
              <a:t>LearnOpenGL: Normal Mapping（TBN/切线空间示意图）</a:t>
            </a:r>
          </a:p>
          <a:p>
            <a:pPr>
              <a:spcAft>
                <a:spcPts val="1000"/>
              </a:spcAft>
              <a:defRPr sz="1800">
                <a:solidFill>
                  <a:srgbClr val="222D41"/>
                </a:solidFill>
              </a:defRPr>
            </a:pPr>
            <a:r>
              <a:t>LearnOpenGL: Parallax Mapping（原理示意图与算法）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B4D"/>
                </a:solidFill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法线贴图：核心在“空间统一”和“法线正确变换”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视差贴图：核心在“UV 偏移模型”和“步数/性能平衡”</a:t>
            </a:r>
          </a:p>
          <a:p>
            <a:pPr>
              <a:spcAft>
                <a:spcPts val="1000"/>
              </a:spcAft>
              <a:defRPr sz="2200">
                <a:solidFill>
                  <a:srgbClr val="222D41"/>
                </a:solidFill>
              </a:defRPr>
            </a:pPr>
            <a:r>
              <a:t>工程实践：函数库封装 + 调试可视化 + 参数分级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欢迎继续提问：我可以再给你一版“讲师逐页讲稿”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
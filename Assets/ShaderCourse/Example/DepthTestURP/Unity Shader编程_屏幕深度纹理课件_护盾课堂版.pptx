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aa7a364ba94b15" /><Relationship Type="http://schemas.openxmlformats.org/officeDocument/2006/relationships/extended-properties" Target="/docProps/app.xml" Id="R7706c09d807b4a48" /><Relationship Type="http://schemas.openxmlformats.org/officeDocument/2006/relationships/officeDocument" Target="/ppt/presentation.xml" Id="R17fd2c17d91148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2f7c77fbd4e1c"/>
  </p:sldMasterIdLst>
  <p:notesMasterIdLst>
    <p:notesMasterId xmlns:r="http://schemas.openxmlformats.org/officeDocument/2006/relationships" r:id="Re3d2976feb7d4256"/>
  </p:notesMasterIdLst>
  <p:sldIdLst>
    <p:sldId xmlns:r="http://schemas.openxmlformats.org/officeDocument/2006/relationships" id="256" r:id="Rbe4668c0a84340ff"/>
    <p:sldId xmlns:r="http://schemas.openxmlformats.org/officeDocument/2006/relationships" id="257" r:id="R6065a3eb86204627"/>
    <p:sldId xmlns:r="http://schemas.openxmlformats.org/officeDocument/2006/relationships" id="258" r:id="R870a3a8fdc284319"/>
    <p:sldId xmlns:r="http://schemas.openxmlformats.org/officeDocument/2006/relationships" id="259" r:id="R721d476a6dc146d6"/>
    <p:sldId xmlns:r="http://schemas.openxmlformats.org/officeDocument/2006/relationships" id="260" r:id="R5e9f6f58f83c4419"/>
    <p:sldId xmlns:r="http://schemas.openxmlformats.org/officeDocument/2006/relationships" id="261" r:id="R24f7f2841cb74b1c"/>
    <p:sldId xmlns:r="http://schemas.openxmlformats.org/officeDocument/2006/relationships" id="262" r:id="R54ce4c3a1bd14d80"/>
    <p:sldId xmlns:r="http://schemas.openxmlformats.org/officeDocument/2006/relationships" id="263" r:id="R40490302111e478c"/>
    <p:sldId xmlns:r="http://schemas.openxmlformats.org/officeDocument/2006/relationships" id="264" r:id="R605d3aaecd144e10"/>
    <p:sldId xmlns:r="http://schemas.openxmlformats.org/officeDocument/2006/relationships" id="265" r:id="R26e3ff30b69246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2f7c77fbd4e1c" /><Relationship Type="http://schemas.openxmlformats.org/officeDocument/2006/relationships/theme" Target="/ppt/theme/theme1.xml" Id="R6f59f77055ab42af" /><Relationship Type="http://schemas.openxmlformats.org/officeDocument/2006/relationships/notesMaster" Target="/ppt/notesMasters/notesMaster1.xml" Id="Re3d2976feb7d4256" /><Relationship Type="http://schemas.openxmlformats.org/officeDocument/2006/relationships/presProps" Target="/ppt/presProps.xml" Id="R647bc3e67cb14572" /><Relationship Type="http://schemas.openxmlformats.org/officeDocument/2006/relationships/viewProps" Target="/ppt/viewProps.xml" Id="R8c60fbbcab3946cc" /><Relationship Type="http://schemas.openxmlformats.org/officeDocument/2006/relationships/tableStyles" Target="/ppt/tableStyles.xml" Id="R0ffdc91a1a7945cc" /><Relationship Type="http://schemas.openxmlformats.org/officeDocument/2006/relationships/slide" Target="/ppt/slides/slide1.xml" Id="Rbe4668c0a84340ff" /><Relationship Type="http://schemas.openxmlformats.org/officeDocument/2006/relationships/slide" Target="/ppt/slides/slide2.xml" Id="R6065a3eb86204627" /><Relationship Type="http://schemas.openxmlformats.org/officeDocument/2006/relationships/slide" Target="/ppt/slides/slide3.xml" Id="R870a3a8fdc284319" /><Relationship Type="http://schemas.openxmlformats.org/officeDocument/2006/relationships/slide" Target="/ppt/slides/slide4.xml" Id="R721d476a6dc146d6" /><Relationship Type="http://schemas.openxmlformats.org/officeDocument/2006/relationships/slide" Target="/ppt/slides/slide5.xml" Id="R5e9f6f58f83c4419" /><Relationship Type="http://schemas.openxmlformats.org/officeDocument/2006/relationships/slide" Target="/ppt/slides/slide6.xml" Id="R24f7f2841cb74b1c" /><Relationship Type="http://schemas.openxmlformats.org/officeDocument/2006/relationships/slide" Target="/ppt/slides/slide7.xml" Id="R54ce4c3a1bd14d80" /><Relationship Type="http://schemas.openxmlformats.org/officeDocument/2006/relationships/slide" Target="/ppt/slides/slide8.xml" Id="R40490302111e478c" /><Relationship Type="http://schemas.openxmlformats.org/officeDocument/2006/relationships/slide" Target="/ppt/slides/slide9.xml" Id="R605d3aaecd144e10" /><Relationship Type="http://schemas.openxmlformats.org/officeDocument/2006/relationships/slide" Target="/ppt/slides/slide10.xml" Id="R26e3ff30b69246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dbd5f3268aa46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7329d52eb74fe7" /><Relationship Type="http://schemas.openxmlformats.org/officeDocument/2006/relationships/notesMaster" Target="/ppt/notesMasters/notesMaster1.xml" Id="R907edac9a1c94d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0756d39da141eb" /><Relationship Type="http://schemas.openxmlformats.org/officeDocument/2006/relationships/notesMaster" Target="/ppt/notesMasters/notesMaster1.xml" Id="Rf6bff12a6b1649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ecf47d0d274005" /><Relationship Type="http://schemas.openxmlformats.org/officeDocument/2006/relationships/notesMaster" Target="/ppt/notesMasters/notesMaster1.xml" Id="R069ef7ad9dda49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0d1852f0c45a0" /><Relationship Type="http://schemas.openxmlformats.org/officeDocument/2006/relationships/notesMaster" Target="/ppt/notesMasters/notesMaster1.xml" Id="Rb54ca05e84b7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20e99cf99f41a3" /><Relationship Type="http://schemas.openxmlformats.org/officeDocument/2006/relationships/notesMaster" Target="/ppt/notesMasters/notesMaster1.xml" Id="Ra6bde80005b5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cfb79ae4c4ac1" /><Relationship Type="http://schemas.openxmlformats.org/officeDocument/2006/relationships/notesMaster" Target="/ppt/notesMasters/notesMaster1.xml" Id="R52341086aee24f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1ba000f3504052" /><Relationship Type="http://schemas.openxmlformats.org/officeDocument/2006/relationships/notesMaster" Target="/ppt/notesMasters/notesMaster1.xml" Id="Rb0a50fa57c174d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4f96cefcf84656" /><Relationship Type="http://schemas.openxmlformats.org/officeDocument/2006/relationships/notesMaster" Target="/ppt/notesMasters/notesMaster1.xml" Id="R1fdb270f55ea4b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b451c573614c23" /><Relationship Type="http://schemas.openxmlformats.org/officeDocument/2006/relationships/notesMaster" Target="/ppt/notesMasters/notesMaster1.xml" Id="Rcf7fa287d8b146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859ac0fa1c4247" /><Relationship Type="http://schemas.openxmlformats.org/officeDocument/2006/relationships/notesMaster" Target="/ppt/notesMasters/notesMaster1.xml" Id="R80e5400d40d3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78bc6333d41a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56EAD76-F9E3-4B84-8D64-F3C8E73B263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0B2B83C-3887-428D-875F-7E64486AA2E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2F37F0-66A9-4C85-A9D6-FC0F1C67394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A24BE4-4C80-43EF-8E38-CD1F6C28DD5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3d1760400e4c13" /><Relationship Type="http://schemas.openxmlformats.org/officeDocument/2006/relationships/slideLayout" Target="/ppt/slideLayouts/slideLayout2.xml" Id="R17956ef638cc4e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EB4463-F2AF-4776-BB1B-87390EFDC03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956ef638cc4e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f5776c4304ba6" /><Relationship Type="http://schemas.openxmlformats.org/officeDocument/2006/relationships/notesSlide" Target="/ppt/notesSlides/notesSlide1.xml" Id="Rf68cf7a1d46044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4887cff4134a98" /><Relationship Type="http://schemas.openxmlformats.org/officeDocument/2006/relationships/notesSlide" Target="/ppt/notesSlides/notesSlide2.xml" Id="R393907e97f3f48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79609dad944597" /><Relationship Type="http://schemas.openxmlformats.org/officeDocument/2006/relationships/notesSlide" Target="/ppt/notesSlides/notesSlide3.xml" Id="R1f5f40756110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8fdefcd374af3" /><Relationship Type="http://schemas.openxmlformats.org/officeDocument/2006/relationships/image" Target="/ppt/media/image.jpeg" Id="Rf5238b12f7a840cc" /><Relationship Type="http://schemas.openxmlformats.org/officeDocument/2006/relationships/image" Target="/ppt/media/image2.jpeg" Id="Rdca54b3984bc4fb9" /><Relationship Type="http://schemas.openxmlformats.org/officeDocument/2006/relationships/notesSlide" Target="/ppt/notesSlides/notesSlide4.xml" Id="R3cbf2079783e40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4669737ce407c" /><Relationship Type="http://schemas.openxmlformats.org/officeDocument/2006/relationships/notesSlide" Target="/ppt/notesSlides/notesSlide5.xml" Id="R99aea582673345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d0ddcd6c2428c" /><Relationship Type="http://schemas.openxmlformats.org/officeDocument/2006/relationships/notesSlide" Target="/ppt/notesSlides/notesSlide6.xml" Id="R336c7054bc6945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7939fed11f4994" /><Relationship Type="http://schemas.openxmlformats.org/officeDocument/2006/relationships/notesSlide" Target="/ppt/notesSlides/notesSlide7.xml" Id="R086fe7b742f24b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b75fb401c4f06" /><Relationship Type="http://schemas.openxmlformats.org/officeDocument/2006/relationships/notesSlide" Target="/ppt/notesSlides/notesSlide8.xml" Id="R806fcd89e7d245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629cac7e444ba7" /><Relationship Type="http://schemas.openxmlformats.org/officeDocument/2006/relationships/notesSlide" Target="/ppt/notesSlides/notesSlide9.xml" Id="R97ef2c1dde6b45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9bc28aa72c453c" /><Relationship Type="http://schemas.openxmlformats.org/officeDocument/2006/relationships/notesSlide" Target="/ppt/notesSlides/notesSlide10.xml" Id="R7d467d299a994b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4BA17-15D1-4581-8DCB-2851B3FA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7BBAA-B082-4707-8DE5-247A3BF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43FA6-7F62-4BF3-B41F-366118D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58E8A-86B9-43CA-A154-66304787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F7E49-1646-4C9D-A9F4-1F6A440E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BAF27-D720-4706-9759-CB23C05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D81FC-F3D2-489E-8922-3A73302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LESSON 07A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E9A29-0A40-4790-8B98-432E1EE3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6252A-D678-4355-8F94-2A7165DD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01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7CC91-AD4E-4D1A-9C7F-8FEC786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Unity Shader 编程</a:t>
            </a:r>
          </a:p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屏幕深度纹理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08A42-F025-495F-AD26-4C7A3C0C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49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本节课位于“深度测试”之后、“PoolWater 水面案例”之前。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对应案例脚本不是水体，而是之前做的护盾效果：ScreenDepthTexture_Debug.shader。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目标是先把屏幕深度纹理讲透，再自然过渡到水体、软粒子、交界发光等实际应用。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CB58F-EC9F-4A61-AF7B-2D2718F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343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C8CC6-1716-41C8-985B-5A92B966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34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D8D3C-9CA1-4388-9E56-9BAEAC9F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本节核心问题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A06E2-2562-4C2D-B9F4-458DFE3C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8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深度测试只负责判断谁挡住谁，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而屏幕深度纹理让 Shader 能把这种前后关系“读出来”，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再转成颜色过渡、厚度感、泡沫边缘与交界发光等视觉结果。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C4776-775E-4FC4-8343-427CFD97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90650"/>
            <a:ext cx="424815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6C879-6E9C-4ADB-8B99-FAC9818E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90650"/>
            <a:ext cx="424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BFFF9-6892-4D53-99AE-04C21998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主案例定位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F69C0-AB98-4574-BEA6-9DF9E719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3905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主案例：ScreenDepthTexture_Debug.shader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它把三件事直接讲清楚：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1. 如何采样场景深度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2. 如何得到当前护盾自身深度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3. 如何用深度差值驱动护盾效果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PoolWater 只作为下一节的应用延伸，不作为本节主讲案例。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A719C-AB46-42D7-91A7-EE4B2506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608022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864CE-0E87-432A-BB68-22161461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A2B78-0152-4846-8858-CBC7C903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85589-EBEA-4510-88D3-412D8F45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42887-5779-4C9A-A92A-CEDC3558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90E11-9DA6-4E3D-9D4F-E4E6FA20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DD44C-946A-43E0-A34D-F17ADD05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487B9-CD72-4EEB-A436-492F73E7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B5E80-1F40-424E-938B-F2A9D49E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3A719-BC0E-4417-A81B-7CE24C20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02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88675-3221-4851-954E-9DDE57D3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从深度测试过渡到深度纹理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C33BD-46A3-4FB4-88AE-E391A88C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深度测试解决“可见性裁决”，深度纹理解决“把这份裁决结果提供给 Shader 继续利用”。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59C57-2495-4736-A2DA-C69209F7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1813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56CB9-F491-4E66-AB71-7612E5C5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181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B0A0B-5415-4E50-9E38-5B8D2E0F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深度缓冲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0E6C8-B584-44B5-9D8A-0843F955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8384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由 GPU 在渲染中维护。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主要职责是进行深度测试，决定当前片元能不能留下来。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它首先是一套规则，不是一个给美术直接看的效果图。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EB301-FEB0-46E4-9813-462741B0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21B9A-380D-4F64-8C8E-FE9A8327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4DCEF-52A5-4AC4-ADE1-1A0C886D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深度纹理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3A8E2-C09F-4152-B434-363B19FA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2895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把场景深度结果变成 Shader 可采样的纹理。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一旦能采样，深度就从“规则”变成了“参数”，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可以驱动护盾、水体、软粒子、泡沫和交界发光。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DF44C-3C83-4C42-B312-AAAE43A4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2385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3173F-DE77-42D5-9D7B-ED185F09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96711-E665-441C-AD10-8C9E99F0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教学结论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EC297-D0CC-495B-92ED-9F5F1B56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895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深度缓冲负责挡住谁，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深度纹理负责让我们知道“哪里靠近、哪里有厚度”。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理解这组关系后，后续很多特效会突然变得顺畅。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23061-3E5D-480B-8165-D6268960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1057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一句话记忆：Depth Buffer 负责裁决，Depth Texture 负责把裁决结果交给 Shader 继续使用。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8904D-D212-4F0C-A430-0F8C4DAC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302888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7D5E5-9D5C-4317-9AAB-F793FF3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9D5E0-6E65-4435-BA33-4506B46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92A1A-46CC-4303-818B-B4564BC2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BD640-6141-4E6B-AE9E-F3506154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C3D03-1E0C-4650-A5B4-D827E420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D6ED6-07CD-4F98-93EE-BD4B1F8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232F6-E27D-4773-B4E5-3626D1B0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7258C-3FDD-4794-BAFE-0775164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A0912-A18E-4271-ADFA-78F77F3A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03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BECE1-B6D0-4E1E-B084-0434BAFE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什么是深度缓冲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A9FCD-EB96-4652-A5A9-C79C1E0D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每个屏幕像素不仅存颜色，也会记录当前最近的深度值，它是 GPU 处理遮挡关系的基础。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C1208-78CE-407C-9D2C-1DB01E6F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314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6E55D-49FD-482A-8807-83218E91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EE5F2-39A2-421C-8411-313B4BE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学生最该记住的点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72E19-808A-40FF-8839-5AFC7561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971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1. 深度缓冲首先服务于深度测试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2. 它在渲染过程中持续被更新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3. 更近的片元更容易留下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4. 它解决的是遮挡关系，不是光照公式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8D57B-9956-4360-8C45-E8C2A922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0861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6502A-264A-4D63-8FCA-E3BBBED8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086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8CAF0-6136-4971-BFEE-538A6D7E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常见误区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3EDF1-4284-4648-852D-512EA05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2743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很多同学会把前后遮挡问题误以为是材质问题。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实际上，不透明物体稳定的前后关系，首先来自深度缓冲，而不是来自 PBR 公式本身。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BFA20-BF98-43CD-AE50-0E2B747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6004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F58E4-645F-4ABB-B561-A97A7A6C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3BBCF-F5E5-453B-942C-E0E10CF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为什么要先讲这一页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5DA89-A765-4AA1-A4A9-E674880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3257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如果连深度缓冲都没理解，后面看到深度纹理时就很容易误会成“相机额外截图了一张灰度图”。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其实它的底层仍然来自场景深度数据。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03DA9-2849-4C39-94C5-E002A08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240179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85276-6195-4423-9D6D-BF95B50D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0ECD7-E195-45D4-A99D-8887648D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53B50-E437-4DE7-AB89-67B50C6E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BD9C6-4A53-4CA1-A0C7-F1F0F00E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E4F85-1ABA-4D3E-917B-7AFC7C7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0204D-2033-4029-9205-B9387B7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A1F35-8B88-4027-8001-F7145E59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5DE1B-8C9A-4154-8A99-9870B279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671E8-FFD1-4A26-B5DC-E5CB7314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04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7C2D7-7C5C-4B0D-A1DA-CE40E01B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为什么原始深度不是线性的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98EA7-0ACD-4248-B940-56D5ED6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投影变换会让靠近相机的深度更密集、远处深度更压缩，所以原始深度值不能直接当真实距离使用。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B3345-EDF7-41B0-B3D1-4A5E9A46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429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F6261-FEB5-4510-96E8-D3B6FBA1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B8AE3-5EA4-4E74-9E7D-39EDCB67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深度分布示意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55F79-9938-407B-99AE-926D761A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1242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38b12f7a840cc"/>
          <a:stretch xmlns:a="http://schemas.openxmlformats.org/drawingml/2006/main"/>
        </p:blipFill>
        <p:spPr>
          <a:xfrm xmlns:a="http://schemas.openxmlformats.org/drawingml/2006/main">
            <a:off x="1121653" y="3181350"/>
            <a:ext cx="2862094" cy="1695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D9546-F4B4-45DB-9CB6-D631EDAA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近处精度高，远处分布被压缩，这是深度线性化的前提。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F99BA-9176-4D88-844A-05D12149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3429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23107-ADF7-4AF1-84E8-64A39B8C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5FF05-E805-45CB-8984-008A0EF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视锥体到裁剪空间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5CBAC-E894-4CF5-A3C1-A1F09E1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31242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54b3984bc4fb9"/>
          <a:stretch xmlns:a="http://schemas.openxmlformats.org/drawingml/2006/main"/>
        </p:blipFill>
        <p:spPr>
          <a:xfrm xmlns:a="http://schemas.openxmlformats.org/drawingml/2006/main">
            <a:off x="4724400" y="3449651"/>
            <a:ext cx="2971800" cy="1158847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416DF-5756-478E-9C1D-C467AD75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投影并不是平移，而是把视锥体重新映射到规则空间。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A6735-04FB-43F8-BAE7-B5075B00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2575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A1A0A-3702-41A0-9481-850D28F5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492F9-0C3A-4C1B-B7E9-9A1AF05E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工程意义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6286E7-E8CF-43F5-B7C4-32165509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29146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1. Near 不宜设置过小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2. 远处更容易发生 Z-Fighting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3. Shader 采样到的原始深度，通常要先线性化后再参与计算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53AEC-990C-4E8B-9EAF-11B4D38B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9972202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054DB-A0DB-4464-8EF1-5F7F5AA0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636EC-08E4-4F04-BD07-3646831A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DCC99-0B4D-46C2-B568-C47E2591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55D06-7F28-4E36-B1A3-D6F43F90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A3B3F-BE81-42E7-8D50-00793FB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4D3DC-A9D2-4BF5-823C-35842647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0BAD0-8153-45B5-BA23-2FF193B9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LINEARIZATION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CF908-42BD-4984-8D0F-3CA5AF90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95562-8140-432E-8D62-F32CA7EC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05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C191B-D424-405A-8331-35CCD8EE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为什么要做深度线性化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FD142-2101-4395-92E4-6AA67D65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只有把设备深度还原成更适合比较的线性眼空间深度，深度差值才真正具备稳定的物理意义。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A3513-8CB1-468E-B544-D4AD675E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095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5F99D-CEEB-40B8-B9A1-E258B01E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5FD92-AC81-41AA-B4DB-0A906906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线性化链路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A6EC8-E800-4558-B608-8D0A12EC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3752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屏幕 UV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→ SampleSceneDepth 读取原始场景深度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→ LinearEyeDepth 还原线性深度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→ 才能与当前物体深度做比较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38574-254D-4DD9-B8BC-21D81257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61150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6AA65-6B3D-4A87-B381-3458A448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611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EB73E-9369-4355-A236-3BDABC12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9FDFD-DAD2-4A3A-957C-9AB57F49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54A51-B16A-4D0E-8C21-6F11D4FB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B86D4-B1FD-40D3-8708-E885AF22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52725"/>
            <a:ext cx="523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关键代码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354CA-8BB7-42D7-AE3A-C924EAA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5772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// sceneEyeDepth 才更接近可比较的线性距离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1C391-840E-464B-A753-C904F36C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注意：SampleSceneDepth 读取到的是原始深度值，只有经过线性化后，才更适合参与距离比较。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73511-9238-4142-97CE-318D0B3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235460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A4401-5545-4B6B-BA6C-9CAD2F2A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D9A7B-E630-457F-B66C-CF1ED399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710EE-AAA8-40F5-B405-E353999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E927C-E536-448E-BC5A-2BFB67F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35538-085D-4576-8F03-4076AB9F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89BF3-7A70-425D-9647-CCFCB3C8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35D1C-D3A2-40EB-8460-2BBC8100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SCREEN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9F72E-6E2F-40C1-B852-6870CB86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8B6C6-13C8-4302-86BF-EA1327A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06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9A67A-FAD1-4D61-8497-C493CD82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屏幕坐标如何采样深度纹理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C8EC7-3A0A-45D2-B908-2B5B2892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先找到当前片元在屏幕上的位置，再去对应位置读取场景深度，这就是 ComputeScreenPos 与 screenUV 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4F3F2-AF5A-4F5C-A869-EA5FFE0E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A9031-27FD-4869-9D30-0C2F894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21161-F37A-4DD7-BC93-92C62C2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62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1E9B7-DF74-42A8-91A9-27D382C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ComputeScreenPos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B873E-BAF9-49FD-A90C-556571E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把当前片元整理到可换算屏幕 UV 的数据格式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AC2DE-987C-473E-A20F-6E234D39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D9511-96AA-42E0-96A1-D9089889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E05FD-366D-4791-A3F8-077BEB00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5459A-01D2-40B3-846A-C18810FD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D0E3D-2FD0-433B-A6E3-A43C765E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796E7-4CB6-4DD2-A8A5-0699ABA7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SampleSceneDepth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45E8F-4C0B-447D-AFC4-7E10171E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读取该屏幕位置后方最近场景表面的深度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EBAC4-A40F-4C72-93D7-FE796E68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100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87490-EFC6-4C09-A34E-983CDA4F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766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6C8AC-EE63-49E5-A08C-B0F095E5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B6BF6-F0C8-4161-8A00-004E4992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5EF05-D110-4FA1-8377-E0A402FA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EA01A-90DE-45A7-92E4-ECA76C8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LinearEyeDepth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775794-B37B-40CD-ACA2-01EDC805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把原始深度转成更适合比较的线性深度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2D2F4-D305-46AA-B361-72FF70E9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482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C36785-0FBE-456C-AD5F-E7A5E9F8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148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AF5692-0971-4264-A74D-97B7E4B8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4A7948-4156-4C2F-A491-6F6109EB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B4210E-D9D6-43C2-B8A0-BE96F868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768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55678F-AAD5-4047-B38D-F938B56F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Depth Difference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E5E63F-E201-4751-AC41-B9AE4653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场景深度减去当前表面深度，得到空间厚度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3F7EF5-526F-4E51-9C32-7D9D5A98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864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DD10EC-8BE1-4D7F-9C74-53E138A5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530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5FC1D6-24AA-4CA8-9C32-D868894A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9A1B3C-3076-493B-9577-6448D034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4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1932B-3116-4CB6-BD80-E764A86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150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CECA2C-9D12-4469-B4DE-307A21F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Drive Result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3C1E95-E244-463D-BD0B-F5E7A48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驱动护盾交界高亮、水体厚度、泡沫和软粒子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8AC8C4-1DE8-4C82-A4BE-A5A95326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429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7CD5CF-7DCB-4DEF-8303-16FD034D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744E51-C464-44B2-B1A0-8C3F2B4A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22EE22-DE15-4840-B3C1-F0E68B8E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7689A7-2FFA-4E33-A120-7F2415C2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8E9626-00C8-4BD0-A0B1-D12884A5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81275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采样路径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C0AA78-AD31-44D4-91DE-27104BEE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30861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output.screenPos = ComputeScreenPos(positionCS);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5B35C4-C718-4E71-804C-33788FD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3276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F6231F-7526-4F9E-B2E9-76396E80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04B144-9522-43F9-9378-EB715021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理解方式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A9EFE8-617B-405E-9234-75FB5EC2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9337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可以把它理解成：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先找到当前片元在屏幕上的位置，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再去深度纹理查询“这个位置后方最近的场景表面有多远”。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屏幕采样这一步，是后续护盾和水体效果的共同基础。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D72B28-3BAD-4AF8-9447-356E6EE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918352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D46DC-64F8-4B44-A1B7-2BAACD70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D74E2-825B-4718-A809-0B68A256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B8AC9-9F13-47CF-A7D0-4EAB3A61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9F340-32DE-4528-A274-DC31802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D3116-5139-49D9-A461-665B2926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EBAE5-01BD-48D8-BCC0-1C84D8B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6464D-AC24-466C-9812-F2053054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DIFFERENCE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698D9-9168-4DC5-89D4-B1520C06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F8FE4-7748-445B-8821-85939756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07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49520-866A-4EB9-9DBF-4A3A506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深度差值为什么能驱动特效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5B27C-8F52-4C94-87BD-20470902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场景深度减去当前表面深度，得到的就是当前表面与后方场景之间还能容纳多少空间。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0218A-5BAA-4C5E-81F3-42837508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295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4C617-1C17-4464-A631-C8E43D48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295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449B1-09B8-4DFE-B19F-A0DED71B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公式本质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CDE0F-8131-463E-B3A1-A1C6CDAA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9527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Depth Difference = Scene Depth - Surface 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差值小：说明表面贴近后方几何体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差值大：说明后方还有更大的空间厚度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C103A-12E9-4965-A4E9-77ADE2E9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295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D0BE7-FC5A-4749-B2A8-9A63F6C8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295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18A6B-AB91-4848-B4B2-40046E19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直接能做什么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22C34-3194-44EB-BD4A-B16EB44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29527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1. 水体厚度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2. 浅水到深水颜色过渡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3. 岸边或碰撞边缘泡沫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4. 护盾贴墙发光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5. 软粒子与地面融合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7DF59-0B9F-42D5-8A71-046B76C6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4480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D1F26-B33E-4C9C-BB42-DB27117C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448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19622-B9DF-41DA-B9EC-65F0C3D7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对学生要强调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29DB6-3E62-40CD-A0A9-ACAEE59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3105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深度纹理不是把颜色变灰后再拿来用。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它记录的是空间前后关系，我们只是把这种关系翻译成美术能感知的视觉结果。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ED12F-D909-48AE-A0BB-1FE3F303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260742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21400-F1A9-45CF-A3C4-B84CEC64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7D126-820D-439E-A88C-3A43B4A5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FAC92-F9CF-44BA-9B3B-EB960434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2B517-B461-45C7-BAD4-63EEA01E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0E293-971F-4B59-B396-066180D7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A7E26-BE7E-4170-AB58-929C101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4B0BF-C9FE-4061-820F-A83E6F5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SHIELD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591AB-FC08-40B6-A528-88FB8DA2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7AA64-EDC3-4209-AE7D-68E6F674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08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DFBDA-1AEF-4F27-90BC-ACE08B0C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本节主案例：护盾深度纹理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EB748-B731-44B9-BF04-E93A1E1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本节对应案例脚本是 ScreenDepthTexture_Debug.shader，水体只作为下一节的应用迁移。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D167E-134B-44E1-B78B-D48650DE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6709E-9F20-4AB2-B9FB-5B10D7AD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418B4-A696-4480-881F-1A9BCC33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为什么主案例选护盾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F2522-E06D-4BD4-B978-5ADF00CC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181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护盾比水面更纯粹。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它不会先把学生注意力带去波浪、法线、反射这些附加表现，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而是能让学生先看懂深度纹理到底做了什么。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030B6-C532-4CA1-BF15-E9AFC9BC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5FCD7-89A8-43D0-8F8E-44435018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F5EBE-AA7C-46B5-812B-28DDBA88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脚本对应关系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1B40A-250A-4624-ADDD-440D5A4E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主案例脚本：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Assets/ShaderCourse/Example/DepthTestURP/Shaders/ScreenDepthTexture_Debug.shader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它用护盾效果把“采样场景深度、计算自身深度、比较两者差值”三步完整可视化出来。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53DCE-A789-4268-A73D-351B4119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B1769-3DF0-423B-89DA-4137A1C3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D8ABEF-C8B1-4D2C-816F-6F08427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如何过渡到 PoolWater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341D9-6941-4367-B663-F3E708B7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66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当学生已经理解“深度差值可以驱动交界效果”之后，迁移到水面只需要再走一步：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把护盾交界高亮改写成水体厚度、浅深水颜色和泡沫边缘。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50A61-D30A-47D0-B783-11B8D4C0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护盾案例先把“采样场景深度、计算自身深度、比较深度差值”三步讲清，再迁移到 PoolWater 就会更自然。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FD851-D5BD-45AD-AD8C-EFEBA132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927315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A65C6-2DC2-4880-8CFB-1B14D709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02B23-8B24-419E-96D5-A3EFA06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0B692-3DF0-4843-9A6C-B3D0E8EA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9E3B6-6ECD-4228-8FD8-B7E6012F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C8D54-F4F3-44EF-94B9-95D655D8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4F0CB-7A4A-4920-B6D1-6483BE27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FE4A5-6381-4AEE-8325-C864148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29129-A4D2-4853-800F-7CB26B1F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3E8C6-B33B-4A64-AAED-2B5ADA40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09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FC3BC-4DD4-4752-AAA3-98626C3B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护盾案例脚本中的深度纹理重点代码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067BF-1449-422D-B324-3F5493EB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这一页对应本节主案例，而不是水体脚本。代码逻辑可以概括为：采样、线性化、比较、驱动效果。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319CF-4055-4481-B5E2-F036EADA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66C6F-F0BD-4AFC-BB80-73F7623D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FA4D0-49A0-4A6A-A906-C3F992EF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4FE60-3462-4D99-9A51-3FC0DD21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38D59-8E76-48F4-AD2D-5582D353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06637-1A12-4794-8F79-EF501C91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ScreenDepthTexture_Debug.shader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1E44C-CC83-42DE-8814-F3F6676E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5124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rawSceneDepth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sceneEyeDepth = LinearEyeDepth(rawSceneDepth,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objectEyeDepth = input.objectEyeDepth;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gapDepth = max(sceneEyeDepth - objectEyeDepth, 0.0h);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intersectionMask =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saturate(1.0h - gapDepth / max(_IntersectionWidth, 0.0001h))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* _IntersectionStrength;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CB275-E48F-407E-BD5A-BC7D3EDB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EC2B1-DCDB-4EBF-A8EA-32D36D5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73346-B00D-4DD4-801C-DD4E547E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代码逻辑拆解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A9DC2-13AC-46F3-99C3-11C5F959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4457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1. screenUV：找到当前片元在屏幕上的采样坐标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2. SampleSceneDepth：读取护盾后方的场景深度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3. LinearEyeDepth：把设备深度还原成线性深度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4. objectEyeDepth：当前护盾片元自身深度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5. gapDepth：深度差值，决定交界发光和内部染色强弱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ABE57-0CAF-41EC-AF49-0A74BA8F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5F3"/>
                </a:solidFill>
              </a:defRPr>
            </a:pPr>
            <a:r>
              <a:rPr sz="1200" b="0">
                <a:solidFill>
                  <a:srgbClr val="D8E5F3"/>
                </a:solidFill>
              </a:rPr>
              <a:t>前面讲过的菲涅尔与边缘光在这里负责“好看”，而深度差值负责“为什么靠近墙时会亮起来”。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AC012-D8EF-4FC1-A195-7E115B2C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975266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9BD81A-CF78-40FA-B622-CE6E6EFEB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1B33C-87BF-4EE9-A0BC-79E7881A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28DDA-F673-4B25-BBAA-694047E4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8E6D8-D7C4-4FAC-923F-8757399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7672A-CAA5-4CC7-8EF5-E9F0FABB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9901D-42F0-4990-A4B9-3E13F68D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22D5E-9EDD-425F-AC13-3CB492A8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F65C8-31C0-4292-9B82-4E69004E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WRAP-UP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750D9-A9D7-4ADD-9546-353881E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283C2-68C1-49EA-89C4-1C9984BA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10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2F879-B4ED-4393-8307-763B836E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小结与练习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F6063-FEC9-44D4-9331-D36CDFE0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把“深度缓冲、深度纹理、线性化、屏幕采样、护盾案例”真正串成一条完整知识链。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5F149-062E-4C85-8BA0-974F5A4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C51B6-9447-44D3-BECB-0B900464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57700-F779-4143-A6EA-7A2E54F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49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本章三句话总结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4169C-963F-4880-A493-C1E04E0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4495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1. 深度缓冲负责遮挡裁决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2. 深度纹理让 Shader 能主动读取场景深度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3. 深度差值把空间关系翻译成可视化参数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701C5-DB8D-47CA-AF39-F869F3E1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B310F-B110-478A-8371-AD82CF9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F5D84-6D6A-41A6-BAD3-DB8778E1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510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142F7-56F5-444D-85C3-C380502D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5105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A：修改 Near / Far，观察护盾交界是否更稳定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B：调整 _IntersectionWidth，观察贴墙高亮范围变化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C：调整 _RimPower，观察边缘高亮如何与深度差值共同塑形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18192-1A00-4F3E-880B-62AC425B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下一节进入 PoolWater 时，只需要再完成一次“应用迁移”：把护盾里的交界高亮思路，改写成水体厚度、泡沫和浅深水过渡。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A14FAA-7C7A-4DE2-AE18-BEE2753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465064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2026-04-20T04:39:08.4460000Z</dcterms:created>
  <dcterms:modified xsi:type="dcterms:W3CDTF">2026-04-20T04:39:08.4460000Z</dcterms:modified>
</coreProperties>
</file>
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fc475850847ff" /><Relationship Type="http://schemas.openxmlformats.org/officeDocument/2006/relationships/extended-properties" Target="/docProps/app.xml" Id="Rb541dc5954dc45d5" /><Relationship Type="http://schemas.openxmlformats.org/officeDocument/2006/relationships/officeDocument" Target="/ppt/presentation.xml" Id="Rc81913cd58f9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d8c59b408a4a75"/>
  </p:sldMasterIdLst>
  <p:notesMasterIdLst>
    <p:notesMasterId xmlns:r="http://schemas.openxmlformats.org/officeDocument/2006/relationships" r:id="R58d337abc768422a"/>
  </p:notesMasterIdLst>
  <p:sldIdLst>
    <p:sldId xmlns:r="http://schemas.openxmlformats.org/officeDocument/2006/relationships" id="256" r:id="R9e768f5d3b814125"/>
    <p:sldId xmlns:r="http://schemas.openxmlformats.org/officeDocument/2006/relationships" id="257" r:id="Rc4ebc3017f1a4f03"/>
    <p:sldId xmlns:r="http://schemas.openxmlformats.org/officeDocument/2006/relationships" id="258" r:id="R1cef96ed487f4449"/>
    <p:sldId xmlns:r="http://schemas.openxmlformats.org/officeDocument/2006/relationships" id="259" r:id="Ra451daf768be49b4"/>
    <p:sldId xmlns:r="http://schemas.openxmlformats.org/officeDocument/2006/relationships" id="260" r:id="R2d3c0811adcd4519"/>
    <p:sldId xmlns:r="http://schemas.openxmlformats.org/officeDocument/2006/relationships" id="261" r:id="R7891ea7b6ff84f8a"/>
    <p:sldId xmlns:r="http://schemas.openxmlformats.org/officeDocument/2006/relationships" id="262" r:id="R87cb9e51af7048a9"/>
    <p:sldId xmlns:r="http://schemas.openxmlformats.org/officeDocument/2006/relationships" id="263" r:id="Ref0605355f58418d"/>
    <p:sldId xmlns:r="http://schemas.openxmlformats.org/officeDocument/2006/relationships" id="264" r:id="R6d9b0f60b0854bef"/>
    <p:sldId xmlns:r="http://schemas.openxmlformats.org/officeDocument/2006/relationships" id="265" r:id="R1dba5fb2999d4d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8c59b408a4a75" /><Relationship Type="http://schemas.openxmlformats.org/officeDocument/2006/relationships/theme" Target="/ppt/theme/theme1.xml" Id="Rbe49b80c4dd14409" /><Relationship Type="http://schemas.openxmlformats.org/officeDocument/2006/relationships/notesMaster" Target="/ppt/notesMasters/notesMaster1.xml" Id="R58d337abc768422a" /><Relationship Type="http://schemas.openxmlformats.org/officeDocument/2006/relationships/presProps" Target="/ppt/presProps.xml" Id="Ref2781cd7df346c4" /><Relationship Type="http://schemas.openxmlformats.org/officeDocument/2006/relationships/viewProps" Target="/ppt/viewProps.xml" Id="R231679f3146e4a85" /><Relationship Type="http://schemas.openxmlformats.org/officeDocument/2006/relationships/tableStyles" Target="/ppt/tableStyles.xml" Id="R28f0276f81714b46" /><Relationship Type="http://schemas.openxmlformats.org/officeDocument/2006/relationships/slide" Target="/ppt/slides/slide1.xml" Id="R9e768f5d3b814125" /><Relationship Type="http://schemas.openxmlformats.org/officeDocument/2006/relationships/slide" Target="/ppt/slides/slide2.xml" Id="Rc4ebc3017f1a4f03" /><Relationship Type="http://schemas.openxmlformats.org/officeDocument/2006/relationships/slide" Target="/ppt/slides/slide3.xml" Id="R1cef96ed487f4449" /><Relationship Type="http://schemas.openxmlformats.org/officeDocument/2006/relationships/slide" Target="/ppt/slides/slide4.xml" Id="Ra451daf768be49b4" /><Relationship Type="http://schemas.openxmlformats.org/officeDocument/2006/relationships/slide" Target="/ppt/slides/slide5.xml" Id="R2d3c0811adcd4519" /><Relationship Type="http://schemas.openxmlformats.org/officeDocument/2006/relationships/slide" Target="/ppt/slides/slide6.xml" Id="R7891ea7b6ff84f8a" /><Relationship Type="http://schemas.openxmlformats.org/officeDocument/2006/relationships/slide" Target="/ppt/slides/slide7.xml" Id="R87cb9e51af7048a9" /><Relationship Type="http://schemas.openxmlformats.org/officeDocument/2006/relationships/slide" Target="/ppt/slides/slide8.xml" Id="Ref0605355f58418d" /><Relationship Type="http://schemas.openxmlformats.org/officeDocument/2006/relationships/slide" Target="/ppt/slides/slide9.xml" Id="R6d9b0f60b0854bef" /><Relationship Type="http://schemas.openxmlformats.org/officeDocument/2006/relationships/slide" Target="/ppt/slides/slide10.xml" Id="R1dba5fb2999d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ba546b5568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26b7591a14c3f" /><Relationship Type="http://schemas.openxmlformats.org/officeDocument/2006/relationships/notesMaster" Target="/ppt/notesMasters/notesMaster1.xml" Id="R7840a40adb66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e0212d556243b2" /><Relationship Type="http://schemas.openxmlformats.org/officeDocument/2006/relationships/notesMaster" Target="/ppt/notesMasters/notesMaster1.xml" Id="R44f1249d45894a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a8dd1a2914dc5" /><Relationship Type="http://schemas.openxmlformats.org/officeDocument/2006/relationships/notesMaster" Target="/ppt/notesMasters/notesMaster1.xml" Id="R4899cd4c07e2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b1ac30be384509" /><Relationship Type="http://schemas.openxmlformats.org/officeDocument/2006/relationships/notesMaster" Target="/ppt/notesMasters/notesMaster1.xml" Id="R802c8500587c40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0ae633a53440a7" /><Relationship Type="http://schemas.openxmlformats.org/officeDocument/2006/relationships/notesMaster" Target="/ppt/notesMasters/notesMaster1.xml" Id="R021c08d551be42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11c51c4834e08" /><Relationship Type="http://schemas.openxmlformats.org/officeDocument/2006/relationships/notesMaster" Target="/ppt/notesMasters/notesMaster1.xml" Id="R1dad59d03e344e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fa84b7088419d" /><Relationship Type="http://schemas.openxmlformats.org/officeDocument/2006/relationships/notesMaster" Target="/ppt/notesMasters/notesMaster1.xml" Id="Rc19233ae61864b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cf2a7813774658" /><Relationship Type="http://schemas.openxmlformats.org/officeDocument/2006/relationships/notesMaster" Target="/ppt/notesMasters/notesMaster1.xml" Id="R249cb249379e4b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27af2e15034fd1" /><Relationship Type="http://schemas.openxmlformats.org/officeDocument/2006/relationships/notesMaster" Target="/ppt/notesMasters/notesMaster1.xml" Id="R89e731d9f5564e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4915ddd48e471e" /><Relationship Type="http://schemas.openxmlformats.org/officeDocument/2006/relationships/notesMaster" Target="/ppt/notesMasters/notesMaster1.xml" Id="Rff164f7f8ae1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73b44217f46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E85CE50-DA80-4ED4-8EF0-03B84025C78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54C8147-3D29-443F-916D-A3BF3A7C18E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5D0F84-8DA9-4304-8A38-EA85B9AD43C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206607-44F1-48BE-9E88-C5B32A3EBC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cddfb18ad14b75" /><Relationship Type="http://schemas.openxmlformats.org/officeDocument/2006/relationships/slideLayout" Target="/ppt/slideLayouts/slideLayout2.xml" Id="Rb9c177b080c7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F2B4A2-3A57-498E-88C3-B31F4A20CC8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177b080c7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03ba7b16b4aa5" /><Relationship Type="http://schemas.openxmlformats.org/officeDocument/2006/relationships/notesSlide" Target="/ppt/notesSlides/notesSlide1.xml" Id="R144c87ddaf714e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6c05be75be4aa7" /><Relationship Type="http://schemas.openxmlformats.org/officeDocument/2006/relationships/image" Target="/ppt/media/image.jpeg" Id="R6351d7fdf8ef42bb" /><Relationship Type="http://schemas.openxmlformats.org/officeDocument/2006/relationships/notesSlide" Target="/ppt/notesSlides/notesSlide2.xml" Id="R997b22b8463b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df928ef7a48cf" /><Relationship Type="http://schemas.openxmlformats.org/officeDocument/2006/relationships/image" Target="/ppt/media/image.png" Id="R1b942977b1eb46f8" /><Relationship Type="http://schemas.openxmlformats.org/officeDocument/2006/relationships/notesSlide" Target="/ppt/notesSlides/notesSlide3.xml" Id="R9cd82e8015ba4e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4d900daf8d43e9" /><Relationship Type="http://schemas.openxmlformats.org/officeDocument/2006/relationships/image" Target="/ppt/media/image2.jpeg" Id="R7c36ee38321b41ea" /><Relationship Type="http://schemas.openxmlformats.org/officeDocument/2006/relationships/image" Target="/ppt/media/image3.jpeg" Id="R5566307240234cd0" /><Relationship Type="http://schemas.openxmlformats.org/officeDocument/2006/relationships/notesSlide" Target="/ppt/notesSlides/notesSlide4.xml" Id="R9fcf5fd1a8074b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7c29c36b4a4fe4" /><Relationship Type="http://schemas.openxmlformats.org/officeDocument/2006/relationships/notesSlide" Target="/ppt/notesSlides/notesSlide5.xml" Id="Rb8fdfb7def5741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8704c1215d43af" /><Relationship Type="http://schemas.openxmlformats.org/officeDocument/2006/relationships/notesSlide" Target="/ppt/notesSlides/notesSlide6.xml" Id="Rd04a17c7f6f148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54c68df564ac1" /><Relationship Type="http://schemas.openxmlformats.org/officeDocument/2006/relationships/image" Target="/ppt/media/image4.jpeg" Id="R3d7e1e0012234fe7" /><Relationship Type="http://schemas.openxmlformats.org/officeDocument/2006/relationships/notesSlide" Target="/ppt/notesSlides/notesSlide7.xml" Id="R2975741c646242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6f69587c042c9" /><Relationship Type="http://schemas.openxmlformats.org/officeDocument/2006/relationships/image" Target="/ppt/media/image5.jpeg" Id="Rc6fda90037cb4579" /><Relationship Type="http://schemas.openxmlformats.org/officeDocument/2006/relationships/notesSlide" Target="/ppt/notesSlides/notesSlide8.xml" Id="R1c742724b22a4a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5cea5de8aa4d3d" /><Relationship Type="http://schemas.openxmlformats.org/officeDocument/2006/relationships/notesSlide" Target="/ppt/notesSlides/notesSlide9.xml" Id="Ra700d72fb7324e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35c82a1574903" /><Relationship Type="http://schemas.openxmlformats.org/officeDocument/2006/relationships/notesSlide" Target="/ppt/notesSlides/notesSlide10.xml" Id="Ra83d508c209c48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192C2-47C8-4418-8E1B-A59BBB69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17ACF-1917-4E9C-B25F-EACAAA7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B4514-FECD-4D90-BADF-0134F96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EA7F0-5424-4887-BF85-9BFF0B8F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0BE8A-BA14-4852-8C00-63D450C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F3A5-C458-482E-9E7B-8C30EBC8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E494F-8315-4F65-B5FE-E5687C62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LESSON 07A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0C2BE-662D-4BB8-93BD-94154D96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D89C0-C9D2-49BB-ACB8-791D00A0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01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32555-D317-4120-9596-F8A6A82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2968B-6854-4B0F-ACE0-358B16D8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7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5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本节是“深度测试”之后的一节独立课程。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对应案例脚本是护盾效果：ScreenDepthTexture_Debug.shader。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目标是把屏幕深度纹理的读取、线性化、比较与视觉驱动完整讲透，让学生真正理解它为什么能做出交界发光与空间厚度感。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D29DD-C350-4442-B272-C31C412E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419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82006-9CC1-4A34-837F-68602A7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41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401B2-054B-47D9-BC6C-CDA6574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本节核心问题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8DB4A-68F9-4868-A735-2608F08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4076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4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深度测试负责判断谁挡住谁，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而屏幕深度纹理让 Shader 能把这种前后关系读出来，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再转成颜色过渡、厚度感、交界发光和空间分层等视觉结果。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24051-F485-4FEB-9763-6154E352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10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40651-EC58-408B-8719-8A273EA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48CBF-E9F7-49EC-B79C-5A4A9E9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43050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主案例定位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C42A9-47A3-44D2-A08A-0C44CCD2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38671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主案例：ScreenDepthTexture_Debug.shader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它把三件事直接讲清楚：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如何采样场景深度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如何得到当前护盾自身深度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如何用深度差值驱动护盾效果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0EBD9-3D84-45FE-9B3C-8D310378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891056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1683B-481D-47A4-AF5B-EA3919E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CB4F3-7FA2-4D4C-9BB0-07A5E48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319B5-FF12-4FE1-8FA8-58AF3B0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E2D50-10AD-4F91-9E91-9FDC3A8C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F42FB-30DD-4A47-A921-87E3934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1418C-8913-4DEA-8964-D859D8B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DB703-E66B-4991-AEB6-11CEE079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0BCCC-052A-440D-82E7-E2BE2F2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04985-6D78-48B2-B5C5-B6CF3D78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02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628EB-38EA-4393-AD4C-FC002B9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从深度测试过渡到深度纹理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BC574-3069-4591-92A1-6F9693C3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深度测试解决“可见性裁决”，深度纹理解决“把这份裁决结果继续交给 Shader 利用”。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594E5-2B00-4303-8927-2ECF6CB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60DB-52CD-4359-A32B-EAEBA05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ADB93-D5F6-49AD-B5D0-40D77CA4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深度缓冲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37AFC-62AB-4FD8-A2E1-BB483145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由 GPU 在渲染中维护。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它首先负责深度测试，决定当前片元能否留下。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它本质上是一套可见性规则。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75D08-88E0-42CE-BBCC-BB0E2F5E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BD1F6-E271-433A-A8F9-C31598F5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520A4-A31E-41D6-B935-77D392A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深度纹理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4174E-98DD-47BA-A00F-B5243A5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把场景深度结果变成可采样纹理。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一旦能采样，深度就不只是规则，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还变成了可参与计算的参数。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AD5B2-26BC-4441-A7C0-DF5791A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CEFC3-857C-4F99-AF41-F061778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30406-DD31-4E71-BD7C-1AD0E2A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一句话理解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86CC3-0141-488F-97AE-754B372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Depth Buffer 决定谁被挡住，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Depth Texture 让我们知道哪里靠近、哪里有厚度。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72ED1-3907-4337-95CB-7B86199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D9FF"/>
                </a:solidFill>
              </a:defRPr>
            </a:pPr>
            <a:r>
              <a:rPr sz="1125" b="1">
                <a:solidFill>
                  <a:srgbClr val="59D9FF"/>
                </a:solidFill>
              </a:rPr>
              <a:t>示意图 1：遮挡与深度结果示意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40E5D-25E8-4D2A-B053-847B6A18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91050"/>
            <a:ext cx="6438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1d7fdf8ef42bb"/>
          <a:stretch xmlns:a="http://schemas.openxmlformats.org/drawingml/2006/main"/>
        </p:blipFill>
        <p:spPr>
          <a:xfrm xmlns:a="http://schemas.openxmlformats.org/drawingml/2006/main">
            <a:off x="4717153" y="4648200"/>
            <a:ext cx="2871995" cy="1085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2F985-906E-4A45-84F7-6EBB480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48350"/>
            <a:ext cx="718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图例补充了“最终画面表现”和“深度相关可视结果”的对照，有助于理解深度信息并不是最终颜色本身。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3C2C5-5A67-4D67-8352-6EC7EA2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361270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8EF97-98DE-444C-BEAF-FD77081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924B6-E044-40AF-ABAB-6D96A968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455EA-39B4-4583-B2D0-9BDB4BA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E92FD-F5B7-41C6-BC1A-8EEA3A5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CB0DE-4FDD-45F6-9148-035B0F2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938F5-A58B-4478-87E7-1C299BCD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69219-A31B-4E39-86B1-9E2C7A3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90EFF-AC64-4ED4-BE25-94FA0937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823CC-B8DA-4FD9-BF66-159AD57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03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64A81-D92C-44E7-8854-C6EB032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什么是深度缓冲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50069-4A20-423A-BD5B-0598BDC0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每个屏幕像素不仅存颜色，也会记录当前最近深度，它是 GPU 处理遮挡关系的基础。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61DE9-1E08-4848-83D4-8C97982F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23AE2-19A2-4247-B3D8-768BEAAC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5A2F0-C877-4AF8-9E3E-15E552F4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学生最该记住的点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312A1-ABA1-4CE1-99AB-CFAC69C4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1. 深度缓冲首先服务于深度测试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2. 它在渲染过程中持续更新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3. 更近的片元更容易留下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4. 它解决的是遮挡，而不是光照公式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78278-64EE-4D32-B22D-76D745DC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0A6C3-2584-4C7D-ABB5-0F9EF195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E22FF-B0E8-4FAC-92D6-23169EA9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常见误区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F2511-DC82-440D-9C57-F2DF998F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705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很多同学会把前后遮挡误以为是材质问题。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实际上，不透明物体稳定的前后关系，首先来自深度缓冲。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D498-664F-4D30-AE2D-41766C2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6004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A5D1E-857A-4A40-BBA5-9C3A236A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AA7ED-6B9C-4B1B-9E25-1E6383D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为什么之后能被采样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05C4A-8D2D-46E0-B034-837C6A2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3257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因为相机把深度结果整理成了深度纹理。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于是后续 Shader 可以主动读取这个屏幕位置的场景深度。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7EF5D-806A-450E-B7EC-8B79E025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E6B"/>
                </a:solidFill>
              </a:defRPr>
            </a:pPr>
            <a:r>
              <a:rPr sz="1125" b="1">
                <a:solidFill>
                  <a:srgbClr val="FFBE6B"/>
                </a:solidFill>
              </a:rPr>
              <a:t>示意图 2：场景深度图例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DA9E0-3009-49E6-A4A4-5D065A9A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6629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42977b1eb46f8"/>
          <a:stretch xmlns:a="http://schemas.openxmlformats.org/drawingml/2006/main"/>
        </p:blipFill>
        <p:spPr>
          <a:xfrm xmlns:a="http://schemas.openxmlformats.org/drawingml/2006/main">
            <a:off x="4934164" y="4152900"/>
            <a:ext cx="2323672" cy="1752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EB476-7D51-4251-93E5-7D07386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7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这张图直接展示了场景深度的视觉形态。亮暗变化对应的是距离分布，而不是物体原本的颜色信息。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A0F99-D823-44B1-B8DF-EC5A85C1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805722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7A34E-A070-478F-B075-64CE059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D6BEB-0CF8-48A2-9C86-BBE51D3E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1F1E8-36FC-4AA9-B205-2B7272AD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A712C-A53C-4D3B-BDC9-1F1B64F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7D49C-C482-4CC9-BD59-FFDA9C8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2D19B-AAE0-4146-A27D-BE3AEFAB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B486D-2A75-471A-A9CB-680D6BD8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13E88-F6DE-405F-8BD6-EF724350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84048-15B6-4F57-ABEB-7F20C985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B0225-84B2-4CDB-A2D4-E43ED542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为什么原始深度不是线性的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EE04E-D1A3-45C3-B3CA-35BE946D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投影变换会让靠近相机的深度更密集、远处深度更压缩，所以原始深度值不能直接当作真实距离。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3AC2B-D379-4A06-9C2B-F3ABAE1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79BC0-3C0A-4CDC-833F-06A8179B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FC9BC-8A8F-43FE-ABEA-5C8277F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深度分布示意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96DF9-AB78-43D6-BDA9-37E0AE55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3124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6ee38321b41ea"/>
          <a:stretch xmlns:a="http://schemas.openxmlformats.org/drawingml/2006/main"/>
        </p:blipFill>
        <p:spPr>
          <a:xfrm xmlns:a="http://schemas.openxmlformats.org/drawingml/2006/main">
            <a:off x="1105574" y="3162300"/>
            <a:ext cx="2894252" cy="1714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BB3FE-D678-45DF-888D-49C605D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近处精度更高，远处分布更密集压缩，这是线性化的前提。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D7DC2-CF28-408A-B58E-66987841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1B176-8925-4A77-A6EE-B1EDE44E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51841-2555-4950-9D28-8E4FD06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视锥体到裁剪空间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F6564-102A-4A6E-A8A2-01AE5F58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3124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6307240234cd0"/>
          <a:stretch xmlns:a="http://schemas.openxmlformats.org/drawingml/2006/main"/>
        </p:blipFill>
        <p:spPr>
          <a:xfrm xmlns:a="http://schemas.openxmlformats.org/drawingml/2006/main">
            <a:off x="4724400" y="3440126"/>
            <a:ext cx="2971800" cy="115884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5EBDB-5F53-49E7-A233-40A5498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投影不是简单平移，而是把视锥体重新映射到规则空间。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34800-A9F8-44A6-9E9B-AC1541D8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2575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76766-01FA-443B-A13A-189747A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6754A-B1DE-4EE0-859E-4CB554C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工程意义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73B775-AA4B-4D79-85A3-C376E0CA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14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Near 不宜设置过小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远处更容易出现 Z-Fighting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采样到的原始深度通常要先线性化后再比较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3D9117-0E11-452C-A81F-FD45ED83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79918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1C97-906B-4C56-8242-E15DE74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8D488-EB80-4CD2-9CF9-FB6930F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411B7-A85D-41F7-A7E9-B410443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DCEFC-ED0B-48F8-9FA8-9050947E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D7DB8-4FBC-4C27-9858-396FF231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FE804-B636-4CE2-92CE-A22617FE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8E3C8-974F-4023-B9B8-B7B4DAFF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LINEARIZATION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2B478-CE4A-46EB-9A5A-71F7D4FE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FBC2B-7572-4C20-A11B-E33F564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05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DC805-6743-4A9E-931E-91CBB16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为什么要做深度线性化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92AB4-91F3-4CE2-B1B9-7B03BEB8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只有把设备深度还原成更适合比较的线性眼空间深度，深度差值才具备稳定可控的意义。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D6A54-A3EC-42D6-AA88-0B2E0DBB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4F85B-F6A4-4795-8828-AD61FD7E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B23A1-5EE0-495F-A45E-EC22535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线性化链路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6C1CC-F096-482B-89E5-E43F7B44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086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666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屏幕 UV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SampleSceneDepth 读取原始场景深度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LinearEyeDepth 还原线性深度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才能与当前物体深度做比较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E9D78-6CA6-40E8-AF2A-AE7FA6F9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77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B3789-0932-411E-A5FC-8A439694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77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33248-969A-496A-958C-CBF4F7D1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06C77-2F86-4A71-9CA6-5AB1C1B4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66951-BDF1-48DA-B05A-FE30141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FF0E4-6099-4535-B0C7-F0C0CB1B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86025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关键代码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4F972-F705-46BA-8FE1-8A26F9A6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6534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// sceneEyeDepth 才更适合参与距离比较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E9495-56E0-4D1D-B5E1-EBC75F5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72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B6109-8BF5-4A1C-9259-F55FEDE2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737C9-807B-44D5-A2A4-C306657B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示意图 3：从原始深度到线性深度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6E272-F0AC-4C62-9C13-C51A009B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22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网络图例思路参考：深度线性化流程图与 LearnOpenGL 深度测试示意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020C1-EC8A-4106-8D7C-3CEC8A05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65A"/>
          </a:solidFill>
          <a:ln xmlns:a="http://schemas.openxmlformats.org/drawingml/2006/main" w="9525">
            <a:solidFill>
              <a:srgbClr val="5EA9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BA232-F0E4-4D29-A058-D58A77E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原始深度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E4186-7FE2-4B26-BB54-78E9FF0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F2961-AD0D-404B-8AC6-886902D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6DE52-DC2D-4E4A-89EA-730E7B5E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05B"/>
          </a:solidFill>
          <a:ln xmlns:a="http://schemas.openxmlformats.org/drawingml/2006/main" w="9525">
            <a:solidFill>
              <a:srgbClr val="8EAA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6E263-F0C5-403C-9DDA-AA68DBCF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959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4C44FB-C1AD-4725-B971-28BE6D24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E5D8F-B527-41E6-8A41-296B86EA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768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33745-EEF7-4828-8427-8EF90ECC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0540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C331B"/>
          </a:solidFill>
          <a:ln xmlns:a="http://schemas.openxmlformats.org/drawingml/2006/main" w="9525">
            <a:solidFill>
              <a:srgbClr val="E5B0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6DC45B-88D4-4953-A7D4-64D985CC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线性深度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EB5C63-F72E-45BE-93B9-FEA2519D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48350"/>
            <a:ext cx="1022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EA5BF"/>
                </a:solidFill>
              </a:defRPr>
            </a:pPr>
            <a:r>
              <a:rPr sz="975" b="0">
                <a:solidFill>
                  <a:srgbClr val="8EA5BF"/>
                </a:solidFill>
              </a:rPr>
              <a:t>把投影压缩后的深度，还原成更适合比较的距离量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79ADBD-5E67-479B-8EDE-FF51581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269512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C346F-2768-4529-B035-69BB4C6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8CFFC-7BC0-43D8-975D-8FE1E40B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B01FA-DEB9-4AFC-B410-FFA2628E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56564-D181-4F2D-9378-FFB81818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5A156-E8BC-4D60-A1BF-CABB5E3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519B-AA75-410C-BC87-4DB29F82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92DD7-5C8C-44EF-887F-B1A4180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SCREEN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3FEDF-54FD-441E-891F-52F16AF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CA389-B504-4018-8B9D-DE8FE57B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06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AACBC-381C-4DF4-9F73-6EA7E87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屏幕坐标如何采样深度纹理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3B63F-CC71-4BE1-B72A-6F89E23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先找到当前片元在屏幕上的位置，再去对应位置读取场景深度，这就是 ComputeScreenPos 与 screenUV 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9DB51-7471-47B1-8DB2-C33DB33F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0CD67-47B3-4442-9356-5ED05227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DB9AE-BD2C-49D3-B6F3-7B526284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191F0-06A1-4787-9C23-539F7541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06DA3-CB03-45F8-B072-FDAB5F64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整理出可换算屏幕 UV 的数据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96DCE-3284-4A16-9A1D-E14F6FA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16EAD-E7B7-439C-86DF-9D1E955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FD38B-FFCF-4647-A91B-D383386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39A12-02D8-4D0D-ABEC-DEDDEF62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FDF32-8DD6-4B1F-944B-2CF69E7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9C7B5-E24C-4027-AAD5-3AF81411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SampleSceneDepth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E27AD-E080-451A-9A2B-09359D92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读取该屏幕位置后方最近场景表面的深度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326E9-6A0A-4830-8370-E876EF7D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A6265-8BF0-4191-AA40-67F47A42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766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793F6-19B9-4E4F-9A16-49582FD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38EAB-2B37-411D-9434-F4084D31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0F0D6D-F268-4D98-81B0-A4B40511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702E3-AAC8-4572-B510-1B2958EB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DB8822-A431-41D8-8D3D-C9AFA5E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把原始深度转成线性深度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A8E4EA-D26D-461D-A02F-774DB92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482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244F0-4C51-48C6-8DF0-20CCD5F7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4630D8-D00A-461F-A26E-DEDC297D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DEDE0E-41AC-42BF-BAD4-034F2508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8FFFA5-7E3B-457C-9F71-996C5530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CC3634-289F-4C73-AC0D-8EAC05B7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3FA37A-0286-4A01-8D6D-6093FFD3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场景深度减去当前表面深度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49494D-98C9-48EC-88A0-DCBDB92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864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C48449-F735-48E1-A55E-9280BB01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CEA11-F03F-4DFF-95A7-E4C53F85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52F7E4-DC43-4F2F-A2A0-B6F2D174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C82DEE-E02B-4F8F-96CF-EF06FCB0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15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71FF73-93CC-488D-B582-6D428A33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Drive 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D3CE2F-31D7-49E1-9A5B-C664155F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驱动颜色、交界光与空间厚度感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47E9AD-3DE5-4B0F-957E-E7B64C58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4480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78BE13-37DF-44D2-82BC-309D5F9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679F06-CAF4-4BDE-81E5-256B011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F5A8FB-3E35-444C-B9B2-07EA24B3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903B6D-1C5F-48CE-A444-BDAEDF1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D518B4-EFB3-4360-BEEB-1D58A145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622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采样路径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31254E-DD45-4B1A-9F85-676CF37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105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output.screenPos = ComputeScreenPos(positionCS);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3A4D65-DDAA-4351-9453-B2F13FA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38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E949A3-A6FE-4240-A0BF-8D8AF22E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C52AD4-F030-4458-ACB7-C6163BC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理解方式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3BEABF-825B-432B-B892-82BF96C9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95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可以把它理解成：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先找到当前片元在屏幕上的位置，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再去查询这个位置后方最近的场景表面有多远。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594E0F-572D-4DD4-9FE1-000CDAC7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564648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BA0A8-D7E3-4B29-A2E2-049CAB14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51B69-EB5F-4E05-9332-50CEA788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CA899-5226-4FA7-B9E1-92F6C1D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57A2C-7124-44DD-AD43-78B7327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10D6B-4DD6-4DFD-B09F-8278F86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8F9B4-C0FE-4190-844F-8636A31A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028F8-FF54-4F32-BB34-5CE8A895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DIFFERENCE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D6D5C-6EB6-45EA-B111-C1B946A6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5BAC6-9DB9-4BA4-9AF0-F706878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07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4EA70-BB90-4116-ADF3-54ECB9C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深度差值为什么能驱动特效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1F442-8017-400C-836A-54EF806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场景深度减去当前表面深度，得到的就是当前表面与后方场景之间还能容纳多少空间。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B8370-CC8E-4E7E-8D4F-1C7EFB7A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CFEAB-7F2A-4391-A10B-651EC68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87E23-9369-4386-9AF9-81A7B9C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公式本质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B40C3-A619-4327-B4DD-2EA0A2A4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990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Depth Difference = Scene Depth - Surface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差值小：表面贴近后方几何体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差值大：后方还有更多空间厚度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8BED6-684D-4111-87BB-B83C3105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F7741-CF3F-4D20-82F0-6421B5B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D850B-DB8D-4FA2-B2BE-843A78E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直接能做什么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E2873-59A3-451A-A27C-095AFD5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800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护盾贴墙发光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水体厚度变化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深浅颜色过渡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4. 泡沫边缘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5. 软粒子与地面融合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708A6-A949-4652-AC63-CEDB465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6004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49AE2-FC63-40D3-AF83-454C808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CB733-6283-4A22-900F-D8DB7DBF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真正强大的地方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49EDD-B742-4AA3-9AEB-8B83EB06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257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深度纹理记录的是空间前后关系。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我们只是把这种关系翻译成学生能看懂、画面能感知的视觉结果。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A84AC-48C9-4B8A-8FA7-77F3004D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E6B"/>
                </a:solidFill>
              </a:defRPr>
            </a:pPr>
            <a:r>
              <a:rPr sz="1125" b="1">
                <a:solidFill>
                  <a:srgbClr val="FFBE6B"/>
                </a:solidFill>
              </a:rPr>
              <a:t>示意图 4：深度差值驱动水面边缘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59A32-411A-4730-8659-F1359104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4850"/>
            <a:ext cx="4705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e1e0012234fe7"/>
          <a:stretch xmlns:a="http://schemas.openxmlformats.org/drawingml/2006/main"/>
        </p:blipFill>
        <p:spPr>
          <a:xfrm xmlns:a="http://schemas.openxmlformats.org/drawingml/2006/main">
            <a:off x="5104039" y="4572000"/>
            <a:ext cx="2041071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97549F-9CCA-482C-8952-F16388C4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29300"/>
            <a:ext cx="626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水边泡沫和浅水过渡常常依赖深度差值。学生看到这张图时，会更容易理解“空间厚度”如何变成画面边缘效果。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4D8D4-95FD-4677-93FF-65D60A5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0493083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4CD26-126C-4965-A532-4A265F24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19053-8BAE-4ACB-8189-2C84E4F7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7BA46-482D-446B-BB91-EE22889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0816-8AB4-4D53-97E5-8B72617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A3CCF-339C-4EFE-BC35-FB95C3C5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2D7F4-1D1F-43F1-BEB8-E0BD98BA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3F3A9-19EE-4FEE-B454-5112241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SHIELD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ECF1B-22DC-46C2-8C05-8FDDF7F0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EA8A0-6576-4AC3-8617-645FAA3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08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29EC7-481B-407E-9104-A512848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本节主案例：护盾深度纹理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F98A3-28F7-4402-BC52-FB809BF1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本节对应案例脚本是 ScreenDepthTexture_Debug.shader，用护盾效果把深度纹理原理做成了可视化演示。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6686E-E25E-475A-9C3D-1DE140CA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BBC1E-627B-436A-90C3-0051BB5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EB9C7-D9F7-4FBD-9367-3F0BBA9A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为什么主案例选护盾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1BEBA-C56C-4E19-9DAD-A3F7887E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护盾比复杂水体更纯粹。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它不会先把注意力带去波浪、法线与反射，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而是让学生先看懂深度纹理到底在做什么。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B018D-EDF7-4018-86D7-EF9BB0AB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A326C-6C2B-4343-9384-2B960E3E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F19A0-FA88-4E1E-8DB9-9AF23350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脚本对应关系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6CE3F-4A8A-4FA9-AF9F-0B75DAEA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主案例脚本：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Assets/ShaderCourse/Example/DepthTestURP/Shaders/ScreenDepthTexture_Debug.shader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它把“采样场景深度、计算自身深度、比较两者差值”三步完整可视化出来。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A3307-1BC9-4BAC-9F30-5C1CE513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374D8-9A3E-4912-9A27-223163E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FBD23-15B1-483F-AACD-19AF935C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学生看到的效果逻辑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E16F4-BE94-4691-A41B-8496FE8C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1. 能看到背景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2. 内部根据深度差值染色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3. 靠近几何体时出现交界发光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4. 外轮廓叠加菲涅尔边缘高亮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5. 可切换到独立调试模式观察 ObjectDepth 与 IntersectionMask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369A9-C1E0-4686-962F-1B0DC863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D9FF"/>
                </a:solidFill>
              </a:defRPr>
            </a:pPr>
            <a:r>
              <a:rPr sz="1125" b="1">
                <a:solidFill>
                  <a:srgbClr val="59D9FF"/>
                </a:solidFill>
              </a:rPr>
              <a:t>案例图例：护盾交界效果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4E0E0-B0FE-4DF4-B09B-A37425B9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da90037cb4579"/>
          <a:stretch xmlns:a="http://schemas.openxmlformats.org/drawingml/2006/main"/>
        </p:blipFill>
        <p:spPr>
          <a:xfrm xmlns:a="http://schemas.openxmlformats.org/drawingml/2006/main">
            <a:off x="2197704" y="5581650"/>
            <a:ext cx="1376742" cy="7239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3560B-F415-42B1-B2AC-9B3081DC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57800"/>
            <a:ext cx="630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D1E6"/>
                </a:solidFill>
              </a:defRPr>
            </a:pPr>
            <a:r>
              <a:rPr sz="1050" b="0">
                <a:solidFill>
                  <a:srgbClr val="BDD1E6"/>
                </a:solidFill>
              </a:rPr>
              <a:t>护盾靠近几何体时出现明显交界高亮，这是深度纹理比较当前表面与后方场景深度后的直观结果。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89ED4-7CE9-46A1-98DE-EFFDC459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81650"/>
            <a:ext cx="6305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D1E6"/>
                </a:solidFill>
              </a:defRPr>
            </a:pPr>
            <a:r>
              <a:rPr sz="1050" b="0">
                <a:solidFill>
                  <a:srgbClr val="BDD1E6"/>
                </a:solidFill>
              </a:rPr>
              <a:t>现在材质里还新增了两个调试档位：</a:t>
            </a:r>
          </a:p>
          <a:p xmlns:a="http://schemas.openxmlformats.org/drawingml/2006/main">
            <a:pPr algn="l">
              <a:defRPr sz="1050" b="0">
                <a:solidFill>
                  <a:srgbClr val="BDD1E6"/>
                </a:solidFill>
              </a:defRPr>
            </a:pPr>
            <a:r>
              <a:rPr sz="1050" b="0">
                <a:solidFill>
                  <a:srgbClr val="BDD1E6"/>
                </a:solidFill>
              </a:rPr>
              <a:t>ObjectDepth 用来单独观察当前护盾片元自身深度；</a:t>
            </a:r>
          </a:p>
          <a:p xmlns:a="http://schemas.openxmlformats.org/drawingml/2006/main">
            <a:pPr algn="l">
              <a:defRPr sz="1050" b="0">
                <a:solidFill>
                  <a:srgbClr val="BDD1E6"/>
                </a:solidFill>
              </a:defRPr>
            </a:pPr>
            <a:r>
              <a:rPr sz="1050" b="0">
                <a:solidFill>
                  <a:srgbClr val="BDD1E6"/>
                </a:solidFill>
              </a:rPr>
              <a:t>IntersectionMask 用来单独观察交界发光遮罩如何从深度差值中生成。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966EBE-A6A1-44CA-BB53-9E9B051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19800"/>
            <a:ext cx="630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护盾案例把“采样、线性化、比较、驱动效果”四步串成了一个完整闭环，是本节最关键的落地案例。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D6959C-F4D7-4EB1-8391-98C6D97D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893478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B5178-84A7-4FF2-B1D8-43BEDE43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60214-768E-4124-9A22-B8FCF24E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32EFE-9B4A-4E16-BA79-1891F0B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1D9B6-D616-45AB-B9CE-668D712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7E823-B76B-45D6-B5F9-A9D78DA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11282-5081-4E77-9590-9BFE61C2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8482C-A29D-428B-9C9F-FA8D7DDB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FDE4E-7C29-4557-A7AA-B3790FE2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78250-7265-4447-B90A-1A6E468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F1376-9A04-4691-9DD5-1ABC150A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护盾案例脚本中的深度纹理重点代码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68B9C-654A-45F3-A201-9B3B3D7D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这一页对应本节主案例。代码逻辑可以概括为：采样、线性化、比较、驱动效果，并可切换到独立调试模式观察关键中间量。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BD7B1-1F47-4DA8-968E-86E6FD3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7DD41-75A8-4024-BE0F-0F3E9C49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E3EA6-0475-4F0F-BA10-012276E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01EC0-9319-467B-A861-15DE80F7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FE8CA-8CF4-4B76-BBB2-B0A2A38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5F7FD-FF96-4138-987A-4EAA634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ScreenDepthTexture_Debug.shader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0679A-FD9A-43AB-A805-101EA84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5124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rawSceneDepth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sceneEyeDepth = LinearEyeDepth(rawSceneDepth,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objectEyeDepth = input.objectEyeDepth;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gapDepth = max(sceneEyeDepth - objectEyeDepth, 0.0h);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intersectionMask =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saturate(1.0h - gapDepth / max(_IntersectionWidth, 0.0001h))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* _IntersectionStrength;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6D559-39BF-4355-AAF4-91FEAE23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15D6F-5903-4FE4-B99D-50E49A32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44FEF-9C28-4302-8267-C4D5361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代码逻辑拆解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792A9-4B0F-4AB1-9255-CD665A5D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457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1. screenUV：找到当前片元在屏幕上的采样坐标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2. SampleSceneDepth：读取护盾后方的场景深度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3. LinearEyeDepth：把设备深度还原成线性深度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4. objectEyeDepth：当前护盾片元自身深度，可在 ObjectDepth 模式单独观察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5. gapDepth：深度差值，决定交界发光和内部染色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6. intersectionMask：交界发光遮罩，可在 IntersectionMask 模式单独观察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6C426-840C-47C7-9B79-24D1153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5F3"/>
                </a:solidFill>
              </a:defRPr>
            </a:pPr>
            <a:r>
              <a:rPr sz="1125" b="0">
                <a:solidFill>
                  <a:srgbClr val="D8E5F3"/>
                </a:solidFill>
              </a:rPr>
              <a:t>这里的菲涅尔与边缘光负责“视觉层次”，而 ObjectDepth、DepthDifference、IntersectionMask 三个调试视图则负责把中间计算过程拆开给学生看。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8D4C0-4513-4101-9B91-4A47C6E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618599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0AE1FE-4E4B-4CC8-882A-33625249A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10F33-D5FA-4406-B0D8-C1E0DFA0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78611-8742-47FA-9301-CA368D17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12D0C-A5DE-45E5-BA3E-E4ACBC1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DA2DC-E1D7-4480-8FCF-EE24D390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D1583-A237-4F1C-9AA5-1E6B8138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C86CC-0C44-4106-B33D-C19C3F3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E2CE5-D50C-421F-A332-8C6EABA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WRAP-UP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3DC8E-9C66-41E0-A5DC-93311AC9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41F6A-00DF-4E4B-AD2B-203D90B1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10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BFF71-7B84-419B-9452-664E2831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小结与练习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900C9-AC6D-40D2-A04B-BE4D029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把“深度缓冲、深度纹理、线性化、屏幕采样、护盾案例”真正串成一条完整知识链。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EBA2D-8B05-4750-B81A-2E559FD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A9803-4F1C-43F3-B72E-23F07D0B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105A3-7AAC-46C9-9FE1-82E1CE1E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49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D05D5-81A9-4A60-A76C-FAA43F4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4495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深度缓冲负责遮挡裁决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深度纹理让 Shader 能主动读取场景深度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深度差值把空间关系翻译成可视化参数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121EA-AE3B-4ADA-925C-CB2D823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9EC6D-B98E-49C5-8BD0-6DACCA6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DC6AD-8A21-4951-8413-72ADC9A9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10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707DC-DC39-46A0-BDF5-6DA4196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A：修改 Near / Far，观察护盾交界是否更稳定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B：调整 _IntersectionWidth，观察贴墙高亮范围变化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C：调整 _RimPower，观察边缘高亮如何与深度差值共同塑形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A16DE-C154-44DD-AB88-8284799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独立完成本节后，学生应能分清“深度缓冲”和“深度纹理”，并能看懂屏幕深度差值如何驱动可见的视觉效果。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EA0C9-F5D0-4A56-AB2F-06F3EA14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2093249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2026-04-20T07:53:30.9750000Z</dcterms:created>
  <dcterms:modified xsi:type="dcterms:W3CDTF">2026-04-20T07:53:30.9750000Z</dcterms:modified>
</coreProperties>
</file>
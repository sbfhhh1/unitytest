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288eda54594d12" /><Relationship Type="http://schemas.openxmlformats.org/officeDocument/2006/relationships/extended-properties" Target="/docProps/app.xml" Id="R2268a4483b1b40b4" /><Relationship Type="http://schemas.openxmlformats.org/officeDocument/2006/relationships/officeDocument" Target="/ppt/presentation.xml" Id="R0fae12b9c93644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361c1c34b4152"/>
  </p:sldMasterIdLst>
  <p:notesMasterIdLst>
    <p:notesMasterId xmlns:r="http://schemas.openxmlformats.org/officeDocument/2006/relationships" r:id="Rd81406b7fda345d6"/>
  </p:notesMasterIdLst>
  <p:sldIdLst>
    <p:sldId xmlns:r="http://schemas.openxmlformats.org/officeDocument/2006/relationships" id="256" r:id="R55d74073262d4b6f"/>
    <p:sldId xmlns:r="http://schemas.openxmlformats.org/officeDocument/2006/relationships" id="257" r:id="R799c3691aab949e7"/>
    <p:sldId xmlns:r="http://schemas.openxmlformats.org/officeDocument/2006/relationships" id="258" r:id="R40c8ec8964274f3b"/>
    <p:sldId xmlns:r="http://schemas.openxmlformats.org/officeDocument/2006/relationships" id="259" r:id="Rc0fcf0ed92084bed"/>
    <p:sldId xmlns:r="http://schemas.openxmlformats.org/officeDocument/2006/relationships" id="260" r:id="Ra075db750e474bc2"/>
    <p:sldId xmlns:r="http://schemas.openxmlformats.org/officeDocument/2006/relationships" id="261" r:id="R8261bd9c4ac5475a"/>
    <p:sldId xmlns:r="http://schemas.openxmlformats.org/officeDocument/2006/relationships" id="262" r:id="R34157280ad1a48da"/>
    <p:sldId xmlns:r="http://schemas.openxmlformats.org/officeDocument/2006/relationships" id="263" r:id="R43dc9b5cfc22414f"/>
    <p:sldId xmlns:r="http://schemas.openxmlformats.org/officeDocument/2006/relationships" id="264" r:id="R8bc2c170eede4396"/>
    <p:sldId xmlns:r="http://schemas.openxmlformats.org/officeDocument/2006/relationships" id="265" r:id="R70fea0e2fa3b4d48"/>
    <p:sldId xmlns:r="http://schemas.openxmlformats.org/officeDocument/2006/relationships" id="266" r:id="R8e1195c8281945dc"/>
    <p:sldId xmlns:r="http://schemas.openxmlformats.org/officeDocument/2006/relationships" id="267" r:id="R3e80e292f63849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361c1c34b4152" /><Relationship Type="http://schemas.openxmlformats.org/officeDocument/2006/relationships/theme" Target="/ppt/theme/theme1.xml" Id="R5c5c7fd785c24664" /><Relationship Type="http://schemas.openxmlformats.org/officeDocument/2006/relationships/notesMaster" Target="/ppt/notesMasters/notesMaster1.xml" Id="Rd81406b7fda345d6" /><Relationship Type="http://schemas.openxmlformats.org/officeDocument/2006/relationships/presProps" Target="/ppt/presProps.xml" Id="R4cc711aaa32f4d0a" /><Relationship Type="http://schemas.openxmlformats.org/officeDocument/2006/relationships/viewProps" Target="/ppt/viewProps.xml" Id="Rb0fcf67f0d4f452b" /><Relationship Type="http://schemas.openxmlformats.org/officeDocument/2006/relationships/tableStyles" Target="/ppt/tableStyles.xml" Id="R94cc7448751a430b" /><Relationship Type="http://schemas.openxmlformats.org/officeDocument/2006/relationships/slide" Target="/ppt/slides/slide1.xml" Id="R55d74073262d4b6f" /><Relationship Type="http://schemas.openxmlformats.org/officeDocument/2006/relationships/slide" Target="/ppt/slides/slide2.xml" Id="R799c3691aab949e7" /><Relationship Type="http://schemas.openxmlformats.org/officeDocument/2006/relationships/slide" Target="/ppt/slides/slide3.xml" Id="R40c8ec8964274f3b" /><Relationship Type="http://schemas.openxmlformats.org/officeDocument/2006/relationships/slide" Target="/ppt/slides/slide4.xml" Id="Rc0fcf0ed92084bed" /><Relationship Type="http://schemas.openxmlformats.org/officeDocument/2006/relationships/slide" Target="/ppt/slides/slide5.xml" Id="Ra075db750e474bc2" /><Relationship Type="http://schemas.openxmlformats.org/officeDocument/2006/relationships/slide" Target="/ppt/slides/slide6.xml" Id="R8261bd9c4ac5475a" /><Relationship Type="http://schemas.openxmlformats.org/officeDocument/2006/relationships/slide" Target="/ppt/slides/slide7.xml" Id="R34157280ad1a48da" /><Relationship Type="http://schemas.openxmlformats.org/officeDocument/2006/relationships/slide" Target="/ppt/slides/slide8.xml" Id="R43dc9b5cfc22414f" /><Relationship Type="http://schemas.openxmlformats.org/officeDocument/2006/relationships/slide" Target="/ppt/slides/slide9.xml" Id="R8bc2c170eede4396" /><Relationship Type="http://schemas.openxmlformats.org/officeDocument/2006/relationships/slide" Target="/ppt/slides/slide10.xml" Id="R70fea0e2fa3b4d48" /><Relationship Type="http://schemas.openxmlformats.org/officeDocument/2006/relationships/slide" Target="/ppt/slides/slide11.xml" Id="R8e1195c8281945dc" /><Relationship Type="http://schemas.openxmlformats.org/officeDocument/2006/relationships/slide" Target="/ppt/slides/slide12.xml" Id="R3e80e292f63849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d816650be884f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ac6509403a4b5e" /><Relationship Type="http://schemas.openxmlformats.org/officeDocument/2006/relationships/notesMaster" Target="/ppt/notesMasters/notesMaster1.xml" Id="Rd939d1179a5149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85820669a24336" /><Relationship Type="http://schemas.openxmlformats.org/officeDocument/2006/relationships/notesMaster" Target="/ppt/notesMasters/notesMaster1.xml" Id="Rfb8fa55498314c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46c9f315b94329" /><Relationship Type="http://schemas.openxmlformats.org/officeDocument/2006/relationships/notesMaster" Target="/ppt/notesMasters/notesMaster1.xml" Id="R38072d8e542742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c3ab0889a04f79" /><Relationship Type="http://schemas.openxmlformats.org/officeDocument/2006/relationships/notesMaster" Target="/ppt/notesMasters/notesMaster1.xml" Id="R58d07fae48304e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ece31f1bb64ddd" /><Relationship Type="http://schemas.openxmlformats.org/officeDocument/2006/relationships/notesMaster" Target="/ppt/notesMasters/notesMaster1.xml" Id="Rc40f32bf46d741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e1ae1279bf4cdf" /><Relationship Type="http://schemas.openxmlformats.org/officeDocument/2006/relationships/notesMaster" Target="/ppt/notesMasters/notesMaster1.xml" Id="R9293d9b29c3447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a266fd3d3e414a" /><Relationship Type="http://schemas.openxmlformats.org/officeDocument/2006/relationships/notesMaster" Target="/ppt/notesMasters/notesMaster1.xml" Id="R5a2fe6ca92b048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8113d430144f2a" /><Relationship Type="http://schemas.openxmlformats.org/officeDocument/2006/relationships/notesMaster" Target="/ppt/notesMasters/notesMaster1.xml" Id="R263f235d4f7545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bd25ae2fb04ee6" /><Relationship Type="http://schemas.openxmlformats.org/officeDocument/2006/relationships/notesMaster" Target="/ppt/notesMasters/notesMaster1.xml" Id="R11217478e8c344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59ef1fe0a1466f" /><Relationship Type="http://schemas.openxmlformats.org/officeDocument/2006/relationships/notesMaster" Target="/ppt/notesMasters/notesMaster1.xml" Id="R8555c2aae5c74a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d903d29d7a4e1d" /><Relationship Type="http://schemas.openxmlformats.org/officeDocument/2006/relationships/notesMaster" Target="/ppt/notesMasters/notesMaster1.xml" Id="R0119b6ae1a6341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0f55dd815f4776" /><Relationship Type="http://schemas.openxmlformats.org/officeDocument/2006/relationships/notesMaster" Target="/ppt/notesMasters/notesMaster1.xml" Id="Rc407a6384ba440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f37d84f4c4e0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9A5865D-1540-413E-8EA0-8D29B4B6163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21429A5-A5C9-4EA3-88B6-6AE4591D4AD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42170C-B4D9-4040-BA4B-AF42730B891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4727B2-6AD6-4AE2-9375-03E8FF8EBFD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66f8b474a1548ab" /><Relationship Type="http://schemas.openxmlformats.org/officeDocument/2006/relationships/slideLayout" Target="/ppt/slideLayouts/slideLayout2.xml" Id="R5e602086482549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B42013-3987-4743-A4E0-295C7E7DC2A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602086482549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c0b3631d394eb4" /><Relationship Type="http://schemas.openxmlformats.org/officeDocument/2006/relationships/notesSlide" Target="/ppt/notesSlides/notesSlide1.xml" Id="Rd61ff779746541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f0c7d0d313428a" /><Relationship Type="http://schemas.openxmlformats.org/officeDocument/2006/relationships/notesSlide" Target="/ppt/notesSlides/notesSlide2.xml" Id="R3b0aa0ce097641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7b7c27116648cb" /><Relationship Type="http://schemas.openxmlformats.org/officeDocument/2006/relationships/notesSlide" Target="/ppt/notesSlides/notesSlide3.xml" Id="Rf8f36b6f6b464a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1ac409f3794cef" /><Relationship Type="http://schemas.openxmlformats.org/officeDocument/2006/relationships/notesSlide" Target="/ppt/notesSlides/notesSlide4.xml" Id="R7856a7bc5b9c42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e82785f881435c" /><Relationship Type="http://schemas.openxmlformats.org/officeDocument/2006/relationships/image" Target="/ppt/media/image.jpeg" Id="Rbea3b503e4594128" /><Relationship Type="http://schemas.openxmlformats.org/officeDocument/2006/relationships/image" Target="/ppt/media/image2.jpeg" Id="Racf9257c931f4bbe" /><Relationship Type="http://schemas.openxmlformats.org/officeDocument/2006/relationships/notesSlide" Target="/ppt/notesSlides/notesSlide5.xml" Id="Rbc7a30c11c4a4b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98ac9294834775" /><Relationship Type="http://schemas.openxmlformats.org/officeDocument/2006/relationships/notesSlide" Target="/ppt/notesSlides/notesSlide6.xml" Id="Rc591eb9ac27043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6c61523f8447c0" /><Relationship Type="http://schemas.openxmlformats.org/officeDocument/2006/relationships/notesSlide" Target="/ppt/notesSlides/notesSlide7.xml" Id="R4d2c71e3657148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7762dc6665495d" /><Relationship Type="http://schemas.openxmlformats.org/officeDocument/2006/relationships/image" Target="/ppt/media/image3.jpeg" Id="Rf7b7ba6648174558" /><Relationship Type="http://schemas.openxmlformats.org/officeDocument/2006/relationships/image" Target="/ppt/media/image4.jpeg" Id="R44408d21569d4dc8" /><Relationship Type="http://schemas.openxmlformats.org/officeDocument/2006/relationships/notesSlide" Target="/ppt/notesSlides/notesSlide8.xml" Id="Re0fed2fda2ea44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2318a992a84c94" /><Relationship Type="http://schemas.openxmlformats.org/officeDocument/2006/relationships/notesSlide" Target="/ppt/notesSlides/notesSlide9.xml" Id="R5d8edf41eaca4d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bfb86dae614ea6" /><Relationship Type="http://schemas.openxmlformats.org/officeDocument/2006/relationships/notesSlide" Target="/ppt/notesSlides/notesSlide10.xml" Id="R31c46fc761b949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09a00a6c43496d" /><Relationship Type="http://schemas.openxmlformats.org/officeDocument/2006/relationships/notesSlide" Target="/ppt/notesSlides/notesSlide11.xml" Id="R367cebd546b147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05039575a5467d" /><Relationship Type="http://schemas.openxmlformats.org/officeDocument/2006/relationships/notesSlide" Target="/ppt/notesSlides/notesSlide12.xml" Id="R8601a301dd324a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72154-D9F3-431F-A0DE-F4E7B6BF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7D4E1-45FB-45C4-91DF-D80B63CD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A6DF6-A84A-43BA-92F7-F16CFD2A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4DF56-D5CC-453D-8F5A-6F1D9D5C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BAF1B-228C-4A07-8EF5-CD4F12D0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AF631-D7C4-4A74-912B-3E537C7E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D7E61-557C-499B-ADC5-D5546A66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3C27C-1962-4AFA-A094-A0FBD741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D7FF"/>
                </a:solidFill>
              </a:defRPr>
            </a:pPr>
            <a:r>
              <a:rPr sz="1050" b="1">
                <a:solidFill>
                  <a:srgbClr val="57D7FF"/>
                </a:solidFill>
              </a:rPr>
              <a:t>LESSON 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53CF9-4E4D-4941-BD61-A8DA9F06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01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2DD80-1042-414F-BDBE-C768AC92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5143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</a:defRPr>
            </a:pPr>
            <a:r>
              <a:rPr sz="3600" b="1">
                <a:solidFill>
                  <a:srgbClr val="F8FAFC"/>
                </a:solidFill>
              </a:rPr>
              <a:t>Unity Shader 编程</a:t>
            </a:r>
          </a:p>
          <a:p xmlns:a="http://schemas.openxmlformats.org/drawingml/2006/main">
            <a:pPr algn="l">
              <a:defRPr sz="3600" b="1">
                <a:solidFill>
                  <a:srgbClr val="F8FAFC"/>
                </a:solidFill>
              </a:defRPr>
            </a:pPr>
            <a:r>
              <a:rPr sz="3600" b="1">
                <a:solidFill>
                  <a:srgbClr val="F8FAFC"/>
                </a:solidFill>
              </a:rPr>
              <a:t>深度测试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EFCCF-5FE7-4630-A9FB-233CFB18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69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FD9"/>
                </a:solidFill>
              </a:defRPr>
            </a:pPr>
            <a:r>
              <a:rPr sz="1575" b="0">
                <a:solidFill>
                  <a:srgbClr val="A8BFD9"/>
                </a:solidFill>
              </a:rPr>
              <a:t>从“模板决定哪里能显示”继续推进到“深度决定谁在前面”。</a:t>
            </a:r>
          </a:p>
          <a:p xmlns:a="http://schemas.openxmlformats.org/drawingml/2006/main">
            <a:pPr algn="l">
              <a:defRPr sz="1575" b="0">
                <a:solidFill>
                  <a:srgbClr val="A8BFD9"/>
                </a:solidFill>
              </a:defRPr>
            </a:pPr>
            <a:r>
              <a:rPr sz="1575" b="0">
                <a:solidFill>
                  <a:srgbClr val="A8BFD9"/>
                </a:solidFill>
              </a:rPr>
              <a:t>本节以 URP 泳池水面案例把深度缓冲、深度纹理、线性化和课堂演示串起来。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F916B-6AFC-46A2-8835-6B6F5736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229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0D51D-C5A9-4624-8B41-23310D9C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22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105CB-BA1C-4DE0-9E9E-6AEF699D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388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本节核心结论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30D6D-F9EF-4730-B3B1-82DA325A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388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572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深度测试本质上是在逐片元阶段比较“当前片元深度”和“缓冲中已有深度”。</a:t>
            </a:r>
          </a:p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当我们能读出这份深度时，它不只负责裁掉片元，还能反过来驱动水体表现。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D92C6-2D10-4337-9954-7E242B50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143000"/>
            <a:ext cx="4000500" cy="42291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1930"/>
          </a:solidFill>
          <a:ln xmlns:a="http://schemas.openxmlformats.org/drawingml/2006/main" w="15240">
            <a:solidFill>
              <a:srgbClr val="8CA6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9372B-CF18-466F-8822-F12DA433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23241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D86"/>
          </a:solidFill>
          <a:ln xmlns:a="http://schemas.openxmlformats.org/drawingml/2006/main" w="9525">
            <a:solidFill>
              <a:srgbClr val="7DA7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6B16D-E857-4168-A818-CF4E1DE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2019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136"/>
          </a:solidFill>
          <a:ln xmlns:a="http://schemas.openxmlformats.org/drawingml/2006/main" w="9525">
            <a:solidFill>
              <a:srgbClr val="D585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A9290-98FE-47CF-B50D-49B8EEEA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48100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86A"/>
          </a:solidFill>
          <a:ln xmlns:a="http://schemas.openxmlformats.org/drawingml/2006/main" w="9525">
            <a:solidFill>
              <a:srgbClr val="7DA7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1345F-660A-458D-9DDA-3B9E2B5B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719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水面 Plane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090A7E-E97F-4262-B068-7BF4091B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05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泳池墙体 / 地面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203F2-2B54-4E39-A76F-53FA3747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003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池中障碍物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71178-7495-422A-8A28-7A5E5A2D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76750"/>
            <a:ext cx="27051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DC9792-F07A-4FE6-8A6E-9FEF4598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2915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736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先用深度判断“水下有多深”，</a:t>
            </a:r>
          </a:p>
          <a:p xmlns:a="http://schemas.openxmlformats.org/drawingml/2006/main">
            <a:pPr algn="ctr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再用这个结果决定颜色和泡沫。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E60F8-9310-4217-A05E-DC1071F4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本地文章：Desktop/UnityShader-深度测试实践 - 知乎.html | Assets/ShaderCourse/Example/DepthTestURP/Shaders/DepthPool_Water_Demo.shader |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229858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00FE6-C401-4A69-AAAF-0974F678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34940-790C-4B00-9786-DE1EB9A4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07D15-64D4-40D7-8553-6E2BA823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AD1A1-2BEB-49DB-8457-72D8E98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A75E7-B522-43DE-99E9-F6A340A3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2C58C-E48F-437F-803C-A9D3CC8F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3CA54-B23F-42FD-A5F9-AFDE2AC0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6B15C-754F-4969-9517-18E06C0B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A6FF"/>
                </a:solidFill>
              </a:defRPr>
            </a:pPr>
            <a:r>
              <a:rPr sz="1050" b="1">
                <a:solidFill>
                  <a:srgbClr val="8CA6FF"/>
                </a:solidFill>
              </a:rPr>
              <a:t>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B7081-FC8C-4862-A455-61E983BB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02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52F44-852F-4E59-8DCE-9A6D732A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从模板测试过渡到深度测试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BDFBA-43A2-41CE-BBD0-5A2AAC04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上一节解决“哪些像素有资格出现”，这一节解决“出现以后谁盖住谁”。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F7BF9-D8B0-41A1-A41E-B9A4243B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480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F16B2-57F0-4235-8AD1-0B37C0E4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272CB-DA19-4BCB-A30A-866DD81E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模板测试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82BC2-8A30-4A9D-B97E-1A1652C5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2705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5F4"/>
                </a:solidFill>
              </a:defRPr>
            </a:pPr>
            <a:r>
              <a:rPr sz="1575" b="0">
                <a:solidFill>
                  <a:srgbClr val="D7E5F4"/>
                </a:solidFill>
              </a:rPr>
              <a:t>更像区域筛选。</a:t>
            </a:r>
          </a:p>
          <a:p xmlns:a="http://schemas.openxmlformats.org/drawingml/2006/main">
            <a:pPr algn="l">
              <a:defRPr sz="1575" b="0">
                <a:solidFill>
                  <a:srgbClr val="D7E5F4"/>
                </a:solidFill>
              </a:defRPr>
            </a:pPr>
            <a:r>
              <a:rPr sz="1575" b="0">
                <a:solidFill>
                  <a:srgbClr val="D7E5F4"/>
                </a:solidFill>
              </a:rPr>
              <a:t>常见于门户、描边、遮罩、局部窗口。</a:t>
            </a:r>
          </a:p>
          <a:p xmlns:a="http://schemas.openxmlformats.org/drawingml/2006/main">
            <a:pPr algn="l">
              <a:defRPr sz="1575" b="0">
                <a:solidFill>
                  <a:srgbClr val="D7E5F4"/>
                </a:solidFill>
              </a:defRPr>
            </a:pPr>
            <a:r>
              <a:rPr sz="1575" b="0">
                <a:solidFill>
                  <a:srgbClr val="D7E5F4"/>
                </a:solidFill>
              </a:rPr>
              <a:t>它回答的是：这里能不能画？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122C9-4D42-475C-8541-C04E336C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30480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AD645-1234-47F8-BF55-931742E4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CB895-3161-4C94-90DC-1325E8D7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深度测试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0D7A0-B241-4895-8475-53A6BB52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00400"/>
            <a:ext cx="2705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5F4"/>
                </a:solidFill>
              </a:defRPr>
            </a:pPr>
            <a:r>
              <a:rPr sz="1575" b="0">
                <a:solidFill>
                  <a:srgbClr val="D7E5F4"/>
                </a:solidFill>
              </a:rPr>
              <a:t>更像前后排序。</a:t>
            </a:r>
          </a:p>
          <a:p xmlns:a="http://schemas.openxmlformats.org/drawingml/2006/main">
            <a:pPr algn="l">
              <a:defRPr sz="1575" b="0">
                <a:solidFill>
                  <a:srgbClr val="D7E5F4"/>
                </a:solidFill>
              </a:defRPr>
            </a:pPr>
            <a:r>
              <a:rPr sz="1575" b="0">
                <a:solidFill>
                  <a:srgbClr val="D7E5F4"/>
                </a:solidFill>
              </a:rPr>
              <a:t>当多个物体都想写入同一个像素时，它回答的是：谁应该留下？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84894-5C20-414F-AB8B-02D09117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24150"/>
            <a:ext cx="3867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5D767-F83D-455F-90D3-01DFE687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24150"/>
            <a:ext cx="386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8504D-F1B3-42CE-AEB8-4ADA3E83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本节承上启下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E503A9-31D5-49B8-8777-7071CE95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35242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前面几节讲的光照、法线、PBR，是“通过测试后怎么好看”；</a:t>
            </a:r>
          </a:p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而深度测试负责“谁有机会进入最终画面”。</a:t>
            </a:r>
          </a:p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两者结合，才是真实项目里的完整渲染思维。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85B0A-D17E-4731-B3CC-E88C7114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572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CF909-49BF-4EEB-B9A4-9CB349C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35CD4A-2583-4543-B820-2845B983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00700"/>
            <a:ext cx="1022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一句话记忆：Stencil 决定可见区域，Depth 决定遮挡优先级，PBR 再决定通过测试后的材质表现。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EA3C61-81CF-4689-9F07-30A85B12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本地文章：Desktop/UnityShader-深度测试实践 - 知乎.html | Assets/ShaderCourse/Example/DepthTestURP/Shaders/DepthPool_Water_Demo.shader |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4674963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9D635-1FBE-4AB9-AC73-14B70AA1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C8BDE-5AD4-48C3-B6AB-B4C72A46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3DECF-0447-478E-8D87-9B4A8A7E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3F6A1-8798-4302-AB1A-64CC1043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80C54-9366-45A6-A03A-8D4C8BEE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AD99A-4BF2-40AC-B4DA-8DA18B62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E352E-79A7-4FF0-9790-ADB1E943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66637-A850-450E-B5CD-1890BB92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865"/>
                </a:solidFill>
              </a:defRPr>
            </a:pPr>
            <a:r>
              <a:rPr sz="1050" b="1">
                <a:solidFill>
                  <a:srgbClr val="FFB865"/>
                </a:solidFill>
              </a:rPr>
              <a:t>DEPTH BUFFER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EEF4F-BC90-4D00-9008-29BD14B2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03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51ED0-E120-4018-B2C0-8D5C29E3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深度缓冲是什么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FFF16-5B2E-4906-BE70-FEFDB9ED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每个屏幕像素不只存颜色，也会存一份“当前最近深度”，这就是 GPU 快速判断遮挡关系的基础。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1E302-2815-4EE3-A71C-F7664A10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289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3430F-0B8E-40C6-A4C1-94134043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4DEE7-9741-40FB-B583-03B5CAD0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一句话理解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0A7EB-29E1-4DAB-8A8B-4514A533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26860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后来到达的片元想覆盖当前像素，必须先和深度缓冲中的已有深度做比较。只有更符合规则的片元，才能留下。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CE9F9-9163-42D3-827D-A7C15606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24150"/>
            <a:ext cx="33528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980E0-04F3-47C6-AAE9-F040E0BF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24150"/>
            <a:ext cx="335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A80C0-BB2B-45BA-8085-59816483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765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课堂里最常见的现象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20EA9-F4FA-4758-BD36-09779CEB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3009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两个物体重叠时，离相机更近的那个通常能显示出来；更远的片元即使执行过着色，也可能在深度测试阶段被丢弃。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06D5B-7626-475E-8A9A-675C358D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24150"/>
            <a:ext cx="36576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1CF0EE-9B83-41D1-9E15-3B962A65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24150"/>
            <a:ext cx="3657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41D9A8-A58B-40F4-9CD2-EEB7E1BE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3314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工程意义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81F0C1-D3EA-44E9-8DF1-0DB2E67E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004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不透明物体之所以能稳定遮挡，并不是“材质公式更强”，而是因为深度缓冲让前后关系被非常高效地记录和复用。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C4D69E-E8C6-44E5-B14A-458EB12F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72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D8EA2D-E754-4A35-A54A-B9E48F5C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0026C-29F0-4991-B563-C6CB187A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38800"/>
            <a:ext cx="1022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本节后半段会进一步看到：当这份深度数据被 Shader 主动读取时，它还能驱动水体颜色渐变、泡沫边缘等视觉效果。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EFF18E-9D12-43C7-9A61-E44D51B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本地文章：Desktop/UnityShader-深度测试实践 - 知乎.html | Assets/ShaderCourse/Example/DepthTestURP/Shaders/DepthPool_Water_Demo.shader |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1560971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27BEE-7BC3-41AB-A626-33526088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8876A-E12D-4080-8F3F-4D1660D3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C14AE-F7B1-4EDD-B515-3346C89B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A37BE-6BE9-4C4F-B222-D4DED863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044B9-418F-4534-852A-42C465DF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44097-120D-4831-911C-B8347953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92DF8-8500-4D22-8791-6D021EBD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AA3ED-03CD-4DFA-A7F7-EC7A6379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E4B5"/>
                </a:solidFill>
              </a:defRPr>
            </a:pPr>
            <a:r>
              <a:rPr sz="1050" b="1">
                <a:solidFill>
                  <a:srgbClr val="76E4B5"/>
                </a:solidFill>
              </a:rPr>
              <a:t>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648FB-320C-4FA0-B77C-1FC387A1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04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08E70-ACCE-497D-A100-0C85551A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深度测试在渲染管线的哪个阶段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25DB5-FA27-49A6-A328-50AA2B6F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它属于逐片元固定功能的一部分，发生在最终颜色真正写入帧缓冲之前。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A9345-CD9E-4047-9A32-E2F86473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D7FF"/>
                </a:solidFill>
              </a:defRPr>
            </a:pPr>
            <a:r>
              <a:rPr sz="1050" b="1">
                <a:solidFill>
                  <a:srgbClr val="57D7FF"/>
                </a:solidFill>
              </a:rPr>
              <a:t>可编程阶段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DBFDA-1AFC-44C0-84B0-5206FDF1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574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865"/>
                </a:solidFill>
              </a:defRPr>
            </a:pPr>
            <a:r>
              <a:rPr sz="1050" b="1">
                <a:solidFill>
                  <a:srgbClr val="FFB865"/>
                </a:solidFill>
              </a:rPr>
              <a:t>逐片元固定功能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EB3AE-9872-41A9-B158-F17DF93A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4FF"/>
          </a:solidFill>
          <a:ln xmlns:a="http://schemas.openxmlformats.org/drawingml/2006/main" w="9525">
            <a:solidFill>
              <a:srgbClr val="7ABF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FA8C6-C3FB-4812-9819-38DC695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顶点数据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0F564-1EE7-49F4-ACEF-834E5B1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480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70E9A-5293-401C-B92C-29A0B73A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0670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699D1-2B29-42EC-A11B-B7336519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F5E8"/>
          </a:solidFill>
          <a:ln xmlns:a="http://schemas.openxmlformats.org/drawingml/2006/main" w="9525">
            <a:solidFill>
              <a:srgbClr val="79C99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8E008-C7E0-4839-A670-CFA61EA7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顶点着色器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699D3-E12B-4B32-85A1-CDC9AD4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4671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CB2AF-8C02-4FEF-AB40-D54C8A08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4861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6A50D-7944-4257-9CC0-1AE92668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B7C4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C92C0-AC77-45E1-949A-DBD70AB9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图元装配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838ED6-8FFF-4C17-89AA-056F977D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8862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96FE72-E99C-4FA6-84DD-2F252D09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9052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FD7DDC-7953-44D9-A006-D70D65E5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B7C4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16D9B9-88F8-4EDD-8076-58A19C52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481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光栅化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102CF8-8485-44EC-83A1-5F67906E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053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F9C6C6-1499-47CC-8764-959A6BF4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3243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9F4B2F-0CEF-4008-8128-297CDEEC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F5E8"/>
          </a:solidFill>
          <a:ln xmlns:a="http://schemas.openxmlformats.org/drawingml/2006/main" w="9525">
            <a:solidFill>
              <a:srgbClr val="79C99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A6421-C12B-4F06-BA75-ED2729D0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672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片元着色器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5DDCE0-6E9D-47C6-B1DF-45D0774F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338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336D8F-7E42-4A8B-806B-7F4AFEE9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57650"/>
            <a:ext cx="209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D53E84-424B-47D0-8B54-E9AC2C73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8A0BD"/>
                </a:solidFill>
              </a:defRPr>
            </a:pPr>
            <a:r>
              <a:rPr sz="900" b="0">
                <a:solidFill>
                  <a:srgbClr val="88A0BD"/>
                </a:solidFill>
              </a:rPr>
              <a:t>生成片元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60A3EE-3824-49B4-8FE5-6B5139ED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2705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B7C4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79DC83-1FD7-4215-AFAE-1AD96299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Alpha / Clip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3F84B5-54BA-4D4B-9404-513849FE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623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B38D99-720F-439C-B36D-E31055FE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1813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6D9FA1-31BD-4CE2-8689-0AE34AA2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2705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B7C4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EF05DA-0C53-4C00-80E1-6C444850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24225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模板测试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333586-D7D1-4F78-841B-FCD215D9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814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9ABD3A-502F-4672-B9F3-37FE0AE2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6004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4033DB-047F-44D0-A3DA-8434A3D2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76650"/>
            <a:ext cx="2705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E8BC"/>
          </a:solidFill>
          <a:ln xmlns:a="http://schemas.openxmlformats.org/drawingml/2006/main" w="9525">
            <a:solidFill>
              <a:srgbClr val="F6BF5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DDBCF0-8FFE-4B9E-BEF8-1B454CC3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43325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深度测试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DEE388-477D-48DA-8186-AFB7531B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005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7CEEB9-6FE5-4E27-B8B3-133D5497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0195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1763B3-DE88-452E-B5A1-A9C4778F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705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B7C4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78703F-5152-4A6D-9D69-F12F553A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62425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混合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98DA8D-D920-4456-8A40-980F32B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19600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DC5424-4F3F-4B66-982B-8DE5A87C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43865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9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832EF8-DEB7-453D-8D89-2EF8FBB8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4850"/>
            <a:ext cx="2705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4FF"/>
          </a:solidFill>
          <a:ln xmlns:a="http://schemas.openxmlformats.org/drawingml/2006/main" w="9525">
            <a:solidFill>
              <a:srgbClr val="7ABF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60F361-FBD3-49FE-A785-28065094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81525"/>
            <a:ext cx="2514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8111F"/>
                </a:solidFill>
              </a:defRPr>
            </a:pPr>
            <a:r>
              <a:rPr sz="1200" b="0">
                <a:solidFill>
                  <a:srgbClr val="08111F"/>
                </a:solidFill>
              </a:rPr>
              <a:t>帧缓冲写入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2509D8-D7FB-4C42-8A60-F483F290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2857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16E8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ACB370-5FBB-4F09-AF8A-B7E8AED4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05200"/>
            <a:ext cx="2057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C1720">
              <a:alpha val="80000"/>
            </a:srgbClr>
          </a:solidFill>
          <a:ln xmlns:a="http://schemas.openxmlformats.org/drawingml/2006/main" w="11430">
            <a:solidFill>
              <a:srgbClr val="F16E8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A1E398-22EA-446B-BF27-DEC9E6B9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8617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16E84"/>
                </a:solidFill>
              </a:defRPr>
            </a:pPr>
            <a:r>
              <a:rPr sz="1200" b="1">
                <a:solidFill>
                  <a:srgbClr val="F16E84"/>
                </a:solidFill>
              </a:rPr>
              <a:t>本节主角</a:t>
            </a:r>
          </a:p>
          <a:p xmlns:a="http://schemas.openxmlformats.org/drawingml/2006/main">
            <a:pPr algn="ctr">
              <a:defRPr sz="1200" b="1">
                <a:solidFill>
                  <a:srgbClr val="F16E84"/>
                </a:solidFill>
              </a:defRPr>
            </a:pPr>
            <a:r>
              <a:rPr sz="1200" b="1">
                <a:solidFill>
                  <a:srgbClr val="F16E84"/>
                </a:solidFill>
              </a:rPr>
              <a:t>在这里决定“谁挡住谁”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BAD91F-BFF6-4D24-A642-067103E5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5527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6EF34D-99DB-48CC-B449-86258391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552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0BABE1-1F93-4E2E-AEFC-DC79AB9F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讲解重点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140DDA-94BE-42AE-91D1-31CD4F7A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00400"/>
            <a:ext cx="2209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F4"/>
                </a:solidFill>
              </a:defRPr>
            </a:pPr>
            <a:r>
              <a:rPr sz="1275" b="0">
                <a:solidFill>
                  <a:srgbClr val="D7E5F4"/>
                </a:solidFill>
              </a:rPr>
              <a:t>1. 深度测试不在顶点阶段，而在片元生成之后。</a:t>
            </a:r>
          </a:p>
          <a:p xmlns:a="http://schemas.openxmlformats.org/drawingml/2006/main">
            <a:pPr algn="l">
              <a:defRPr sz="1275" b="0">
                <a:solidFill>
                  <a:srgbClr val="D7E5F4"/>
                </a:solidFill>
              </a:defRPr>
            </a:pPr>
            <a:r>
              <a:rPr sz="1275" b="0">
                <a:solidFill>
                  <a:srgbClr val="D7E5F4"/>
                </a:solidFill>
              </a:rPr>
              <a:t>2. 片元着色器已经算出候选颜色，但还不一定有资格留下。</a:t>
            </a:r>
          </a:p>
          <a:p xmlns:a="http://schemas.openxmlformats.org/drawingml/2006/main">
            <a:pPr algn="l">
              <a:defRPr sz="1275" b="0">
                <a:solidFill>
                  <a:srgbClr val="D7E5F4"/>
                </a:solidFill>
              </a:defRPr>
            </a:pPr>
            <a:r>
              <a:rPr sz="1275" b="0">
                <a:solidFill>
                  <a:srgbClr val="D7E5F4"/>
                </a:solidFill>
              </a:rPr>
              <a:t>3. 只有通过深度测试，像素才会进入后续混合与写入。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9FC23C-F90E-42C7-9A73-033DD7A0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7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E64EFC-743E-42F4-9862-AA8E2474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7CB7A0-4AEA-4E5A-9EF2-9313DBC3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15050"/>
            <a:ext cx="1022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结论：深度测试是“颜色写入前的遮挡关卡”，它决定的是像素覆盖权。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26EC85B-1784-409A-A239-51ADED46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本地文章：Desktop/UnityShader-深度测试实践 - 知乎.html | Assets/ShaderCourse/Example/DepthTestURP/Shaders/DepthPool_Water_Demo.shader |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197994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159CC-B816-40CD-8616-BD96FE1C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7DE05-0CA4-4D5A-87A3-3CF3810C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47371-3B9C-47F4-9F06-69096D1F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F7C55-55BF-49F4-9F86-ECFC5868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4E337-FF58-411B-A2E2-75F38090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A4666-36D2-4790-B926-261FF2FC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28A0A-5C6F-4949-9581-BFB88758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EB941-2F9F-41CD-8745-538CA62C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E4B5"/>
                </a:solidFill>
              </a:defRPr>
            </a:pPr>
            <a:r>
              <a:rPr sz="1050" b="1">
                <a:solidFill>
                  <a:srgbClr val="76E4B5"/>
                </a:solidFill>
              </a:rPr>
              <a:t>NONLINEAR DEPTH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91A68-53BB-4407-AAF9-9A49A6C2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05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78963-96CC-45F8-AA96-657429F2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深度为什么不是线性的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7C599-8182-4BFA-B30E-1FA2585E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投影变换会让深度分布在近裁面附近更密集，因此近裁面设置过小会明显浪费深度精度。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6B123-CCB7-4028-8830-E5C56C6D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2194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8465A-CC0D-4A52-9CF3-50D56845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3219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F31CC-3950-461D-9FEE-6AFC239E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参考图：深度分布曲线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AD2DC-C038-4AC5-BA48-CC837B0A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29146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FDBE7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3b503e4594128"/>
          <a:stretch xmlns:a="http://schemas.openxmlformats.org/drawingml/2006/main"/>
        </p:blipFill>
        <p:spPr>
          <a:xfrm xmlns:a="http://schemas.openxmlformats.org/drawingml/2006/main">
            <a:off x="1066800" y="3182348"/>
            <a:ext cx="2762250" cy="1636304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2DF1E-F741-40D3-8733-C1CFEF2B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1D4E8"/>
                </a:solidFill>
              </a:defRPr>
            </a:pPr>
            <a:r>
              <a:rPr sz="900" b="0">
                <a:solidFill>
                  <a:srgbClr val="C1D4E8"/>
                </a:solidFill>
              </a:rPr>
              <a:t>越靠近相机，深度精度越密；远处则更容易压缩到一起。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4F255-B0AC-49EC-8462-8A836856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32194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D8489-49DA-4223-A42B-623707BC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3219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82982-AF25-40DD-A8B1-E6D86CCA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参考图：视锥体到标准空间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BAFE2-921B-46CB-BE33-9691FC48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29146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FDBE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9257c931f4bbe"/>
          <a:stretch xmlns:a="http://schemas.openxmlformats.org/drawingml/2006/main"/>
        </p:blipFill>
        <p:spPr>
          <a:xfrm xmlns:a="http://schemas.openxmlformats.org/drawingml/2006/main">
            <a:off x="4514850" y="3461933"/>
            <a:ext cx="2762250" cy="1077134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5CFDF-9CB5-489E-9FEB-E16D765B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006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1D4E8"/>
                </a:solidFill>
              </a:defRPr>
            </a:pPr>
            <a:r>
              <a:rPr sz="900" b="0">
                <a:solidFill>
                  <a:srgbClr val="C1D4E8"/>
                </a:solidFill>
              </a:rPr>
              <a:t>投影不是简单平移，而是把视锥体映射到规则裁剪空间。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DCC2D4-19C7-421E-B19C-06566A89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36766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D77811-F6B3-46EA-ADDB-54C0ABA1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3676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8D1BBA-D887-473A-BC33-C93951F2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课堂要让学生记住什么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C2BA6-58E5-48DA-B8C1-75D4C982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33337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1. 近裁面不要随意设得太小。</a:t>
            </a:r>
          </a:p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2. 远距离更容易出现 Z-Fighting。</a:t>
            </a:r>
          </a:p>
          <a:p xmlns:a="http://schemas.openxmlformats.org/drawingml/2006/main">
            <a:pPr algn="l">
              <a:defRPr sz="1425" b="0">
                <a:solidFill>
                  <a:srgbClr val="D7E5F4"/>
                </a:solidFill>
              </a:defRPr>
            </a:pPr>
            <a:r>
              <a:rPr sz="1425" b="0">
                <a:solidFill>
                  <a:srgbClr val="D7E5F4"/>
                </a:solidFill>
              </a:rPr>
              <a:t>3. Shader 里读取到的深度通常不是线性距离，所以要做线性化。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2A3A2A-A43B-4AE4-A40E-F53EA8EA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572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A32272-41D1-466E-90C5-B575CADB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79E7BB-E3F6-4570-BC15-B8A53EA2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86450"/>
            <a:ext cx="1022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这也是为什么后面案例里不能直接拿采样到的原始深度做颜色计算，而要先经过 LinearEyeDepth。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44BCD-4DBA-44D2-94FC-DF964A1A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本地文章：Desktop/UnityShader-深度测试实践 - 知乎.html | Assets/ShaderCourse/Example/DepthTestURP/Shaders/DepthPool_Water_Demo.shader |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1173620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4FD97-6D50-4284-A20F-D8D43674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D943E-177B-4C0B-A67F-4D59CDF0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2ED13-3CE5-40C0-AE5D-9E0A56B8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F3F50-2E82-4137-8266-1F7895EF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52B6D-B80C-44E9-990B-B611A6DF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624DA-2865-4B0D-AF90-3C71B7DB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6BEBC-684D-46AD-BCF1-5CFD3E9E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F9154-F22B-417D-8B5B-95819AE4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D7FF"/>
                </a:solidFill>
              </a:defRPr>
            </a:pPr>
            <a:r>
              <a:rPr sz="1050" b="1">
                <a:solidFill>
                  <a:srgbClr val="57D7FF"/>
                </a:solidFill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01B09-216C-41AF-A38F-39DDFADF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06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BB0FD-F34A-4AB1-9435-B4428DBB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ZTest、ZWrite 与 Queue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70AE5-D876-4E3E-AC89-7F2E68D2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很多“看起来像材质错了”的问题，本质上其实是深度状态没有配对。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A1FC2-5425-4AF2-9B02-010E7B9E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1623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54589-711C-456C-97A2-2FEB23E1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162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F3E6B-CF9D-4E87-98E1-DB77982D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ZTest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6B8E2-E6B1-4767-B169-4BDB9D6E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28194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决定“当前片元的深度，和深度缓冲中的已有深度怎么比”。</a:t>
            </a:r>
          </a:p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常见：LEqual 用于普通不透明，Always 会无视遮挡，Greater 常用于观察被遮挡区域。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8BE76-1DAD-4DFD-90E3-1B8B4BA0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1623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A28A0-3D18-4DC7-8361-B223552F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162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38383-C94F-4D18-AAF7-2100CB0B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ZWrite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784A9-8337-4449-B8E9-DC244C05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00400"/>
            <a:ext cx="28194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决定“通过测试后，要不要把自己的深度写回缓冲”。</a:t>
            </a:r>
          </a:p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不透明通常 On；透明通常 Off，否则容易把后面的透明物体提前挡死。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31CCC9-0444-4BFD-B6FD-798BA18F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37147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091CA-A44F-4F5B-9E93-B514FA36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99F46-5DFA-40B3-B896-2E90DD2B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76550"/>
            <a:ext cx="3371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Queue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0CDD3-0AD6-416C-A299-D47FBD3B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0400"/>
            <a:ext cx="33718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决定大致绘制顺序。</a:t>
            </a:r>
          </a:p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Geometry 先画大多数不透明物体；Transparent 后画透明物体。</a:t>
            </a:r>
          </a:p>
          <a:p xmlns:a="http://schemas.openxmlformats.org/drawingml/2006/main">
            <a:pPr algn="l">
              <a:defRPr sz="1500" b="0">
                <a:solidFill>
                  <a:srgbClr val="D7E5F4"/>
                </a:solidFill>
              </a:defRPr>
            </a:pPr>
            <a:r>
              <a:rPr sz="1500" b="0">
                <a:solidFill>
                  <a:srgbClr val="D7E5F4"/>
                </a:solidFill>
              </a:rPr>
              <a:t>它和深度测试必须一起看。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652EAA-F7E8-4DDB-8D15-E679DA96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72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CFDA1-B923-4F78-8A71-A55F39D9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B660A1-02E0-49D3-9D06-512B06C1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05500"/>
            <a:ext cx="1022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记忆口径：Queue 决定什么时候画，ZTest 决定能不能盖住别人，ZWrite 决定自己会不会留下深度痕迹。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F7973-E9C9-4DB5-ADD1-A3A52DE9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本地文章：Desktop/UnityShader-深度测试实践 - 知乎.html | Assets/ShaderCourse/Example/DepthTestURP/Shaders/DepthPool_Water_Demo.shader |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19443485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BC7E5-0303-4006-845A-042369D8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E8B07-2C87-4854-804B-4045B859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E8E32-0525-4070-B265-56B29811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9B40D-0F12-495A-B704-EDF5C260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FC3DD-5D2E-47AC-A55E-B5ED0A06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A9FB4-1388-41CC-9741-B0474662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42BEC-C3D6-4A20-98C7-8D383EC4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AF11C-C581-42D9-AB25-2B569E46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865"/>
                </a:solidFill>
              </a:defRPr>
            </a:pPr>
            <a:r>
              <a:rPr sz="1050" b="1">
                <a:solidFill>
                  <a:srgbClr val="FFB865"/>
                </a:solidFill>
              </a:rPr>
              <a:t>DEPTH TEXTURE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7859D-9DC7-4FEA-9B46-BEB6E09E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07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48E27-AC07-4777-93E5-49593CD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知识补充：相机深度纹理与线性化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D4A42-350A-48BF-96A8-CB4C2919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这是本节最重要的扩展点。深度测试决定能否显示，深度纹理则让 Shader 有机会主动“读懂”场景深度。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24E68-1003-4D67-A342-6A7D64DD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762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BD2A1-EFE3-4A45-8EEE-CEFB5B3B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D9CE7-BE03-4743-A089-4EB12AB7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A4053-634E-40A4-82EC-0048BA76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ComputeScreenPos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DB9B8-E916-45CC-876E-7D7DE57F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8A0BD"/>
                </a:solidFill>
              </a:defRPr>
            </a:pPr>
            <a:r>
              <a:rPr sz="900" b="0">
                <a:solidFill>
                  <a:srgbClr val="88A0BD"/>
                </a:solidFill>
              </a:rPr>
              <a:t>得到当前片元在屏幕上的投影坐标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BAE04-ED27-4D13-9C04-C4C9A91F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99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3D791-EFB6-4E75-81F4-8772D3E2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08610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421BF-C5D3-4147-A535-F7F9D798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762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81A69-732C-48D4-BF69-34400ECE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DF588-BA37-461C-ABE5-1A48EFE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385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0400C-FFA8-4AAA-8A02-4C64814D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_CameraDepthTexture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1892C7-0D50-4CD0-B0B5-DC348519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8A0BD"/>
                </a:solidFill>
              </a:defRPr>
            </a:pPr>
            <a:r>
              <a:rPr sz="900" b="0">
                <a:solidFill>
                  <a:srgbClr val="88A0BD"/>
                </a:solidFill>
              </a:rPr>
              <a:t>读取场景里已经写入的深度纹理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F1C8F-BBE9-4C56-85C1-FF1A0985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481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B688D-7CE9-4F31-B822-528922C6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92430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A0EA8F-6CE1-4D7B-AB26-379D97DE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762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C559C9-B470-45BC-9CCE-D0AFA1DB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038FF5-2273-4AD9-8AC1-F58DB52D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767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7A360D-B795-4EBC-84DB-C9674134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LinearEyeDepth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97E177-A8DF-4E5D-95C0-7596CBFE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8A0BD"/>
                </a:solidFill>
              </a:defRPr>
            </a:pPr>
            <a:r>
              <a:rPr sz="900" b="0">
                <a:solidFill>
                  <a:srgbClr val="88A0BD"/>
                </a:solidFill>
              </a:rPr>
              <a:t>把非线性深度还原成眼空间深度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B474EF-11BB-4E9A-9543-88FC0A54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863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D208EC-D1E5-4B7E-93C9-69FDBFC7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6250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F66747-3D9F-4D65-ABB4-BAE26E51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2762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768F7A-DFAC-4B3F-8EDA-AF7F154C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23DFDA-B9BC-4334-8481-738A01AA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566F3A-37E9-4EAA-8E2F-73056AA9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Depth Difference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06061D-7912-4F45-9B46-377DB404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1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8A0BD"/>
                </a:solidFill>
              </a:defRPr>
            </a:pPr>
            <a:r>
              <a:rPr sz="900" b="0">
                <a:solidFill>
                  <a:srgbClr val="88A0BD"/>
                </a:solidFill>
              </a:rPr>
              <a:t>与当前水面深度做差，得到水下空间厚度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4076AE-AEAC-4742-B224-90CDF560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245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DCB9C8-BD54-4E9E-8997-8A5AA096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600700"/>
            <a:ext cx="2095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8A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E73571-A1EE-4158-B7AD-E0622CF9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2762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62D39D-EB5D-4931-B33D-38D3AB58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8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854FB4-B077-4DAD-86D5-FB3CD185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31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</a:defRPr>
            </a:pPr>
            <a:r>
              <a:rPr sz="1200" b="1">
                <a:solidFill>
                  <a:srgbClr val="08111F"/>
                </a:solidFill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B41D9C-C386-4281-94C6-22375540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Color / Foam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F1C740-374E-45EA-9992-22135DA9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579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8A0BD"/>
                </a:solidFill>
              </a:defRPr>
            </a:pPr>
            <a:r>
              <a:rPr sz="900" b="0">
                <a:solidFill>
                  <a:srgbClr val="88A0BD"/>
                </a:solidFill>
              </a:rPr>
              <a:t>驱动浅水色、深水色和泡沫边缘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52C500-DD92-4BDF-B8AF-301880E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19350"/>
            <a:ext cx="35623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E2ED98-B921-4A65-A2C4-22EA129E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1935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F6BA1D-86EA-4119-8F4E-9F42A98C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F16E8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CDA6FB-516E-4112-9C66-873F660D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FFB86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CCD7FB-9E94-456E-A353-EE33C91D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76E4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1E9943-701C-4FBE-A3AD-6791244C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24125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CCE6"/>
                </a:solidFill>
              </a:defRPr>
            </a:pPr>
            <a:r>
              <a:rPr sz="1050" b="1">
                <a:solidFill>
                  <a:srgbClr val="B7CCE6"/>
                </a:solidFill>
              </a:rPr>
              <a:t>深度纹理关键语义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46A894-3E72-40E5-A35E-F9E4AEB4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14650"/>
            <a:ext cx="32194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// 旧内置管线里常见的写法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SAMPLE_DEPTH_TEXTURE_PROJ(...)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// URP 更常见的写法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float2 screenUV = screenPos.xy / screenPos.w;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real sceneEyeDepth = LinearEyeDepth(rawDepth, _ZBufferParams);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// 与当前表面眼空间深度做差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float depthDifference = sceneEyeDepth - waterEyeDepth;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91153D-DD22-4D98-A635-2F24F4F0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5242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819DFA-E217-477A-8CD6-ED7FD73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524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0679E5-1A29-47A2-92F6-1B8B045C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3181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怎么讲得深入浅出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69F796-7A07-4C48-991A-071763BD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31813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可以把它理解成：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1. 相机已经帮我们把“这个屏幕像素后面最近的表面有多远”存进了一张纹理。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2. Shader 读出来后，再和当前水面本身的深度一比较，就知道“水下面还有多厚”。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3. 于是深度从“裁片元的规则”变成了“驱动效果的参数”。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B260B9-E235-4162-9020-CB53BD9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57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D86720-82F5-4348-B56D-42171D0F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68D99F-53EB-4731-B0FB-1085D9D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62650"/>
            <a:ext cx="1022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课堂点一句即可：顶点动画和菲涅尔前面已经讲过，本节重点是“屏幕空间深度如何参与材质表现”。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4C761A-6A7E-4F29-AB3C-04212638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本地文章：Desktop/UnityShader-深度测试实践 - 知乎.html | Assets/ShaderCourse/Example/DepthTestURP/Shaders/DepthPool_Water_Demo.shader |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103164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25673-98B6-4E7B-9843-AA76EF50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7C5F5-29A2-49C5-9678-B4DDF79B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F0592-A0D6-4834-878C-19272AC1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D69F0-E837-47EA-B609-AFEC31E0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2D132-DEDF-4A1B-8922-48C67B97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A3637-92AA-40D8-A060-E1B03108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6067F-2CEB-4667-BB5D-2ED75A77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2C47A-DFAE-4FBA-9574-AB502859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A6FF"/>
                </a:solidFill>
              </a:defRPr>
            </a:pPr>
            <a:r>
              <a:rPr sz="1050" b="1">
                <a:solidFill>
                  <a:srgbClr val="8CA6FF"/>
                </a:solidFill>
              </a:rPr>
              <a:t>POOL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29ACB-2613-4DCF-8EC7-0E34B588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08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CAC2E-B060-4994-A9F7-3FF4FA91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课堂案例：URP 泳池水面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599BB-B325-47EF-9755-A98B9224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场景里放一个泳池，池底与池壁使用普通不透明材质，水面材质挂到一个 Plane 上，重点观察深度驱动的视觉变化。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A1DD6-925E-4424-B3E0-46997AA1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5910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EB483-BEB9-4A97-A95E-BA0B47A1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59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5502E-641B-4C50-BFD7-86FB686D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424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参考图：水体深度颜色变化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4EC9B-23BB-43F3-8024-7E64A45A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42862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FDBE7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7ba6648174558"/>
          <a:stretch xmlns:a="http://schemas.openxmlformats.org/drawingml/2006/main"/>
        </p:blipFill>
        <p:spPr>
          <a:xfrm xmlns:a="http://schemas.openxmlformats.org/drawingml/2006/main">
            <a:off x="1516706" y="3162300"/>
            <a:ext cx="3234038" cy="16954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3DADB-0161-45A3-AF49-F3C513EB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81600"/>
            <a:ext cx="424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1D4E8"/>
                </a:solidFill>
              </a:defRPr>
            </a:pPr>
            <a:r>
              <a:rPr sz="900" b="0">
                <a:solidFill>
                  <a:srgbClr val="C1D4E8"/>
                </a:solidFill>
              </a:rPr>
              <a:t>来自本地文章配图。用于帮助学生先建立“深度差可以驱动水色变化”的直观印象。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7F53D-AF20-48CA-A570-25DF7EFB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67000"/>
            <a:ext cx="2362200" cy="2876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29C87-AF12-4FA0-B3EE-88B2934C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6700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7364B-39DA-48C3-90E8-791D5CD0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1940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参考图：案例层级示意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0CDC0-94C8-4F23-AD55-0C321B6F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86100"/>
            <a:ext cx="2057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FDBE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08d21569d4dc8"/>
          <a:stretch xmlns:a="http://schemas.openxmlformats.org/drawingml/2006/main"/>
        </p:blipFill>
        <p:spPr>
          <a:xfrm xmlns:a="http://schemas.openxmlformats.org/drawingml/2006/main">
            <a:off x="5924550" y="3279506"/>
            <a:ext cx="1905000" cy="1461038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ABA49-134A-4E42-BDA6-81CF6249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816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1D4E8"/>
                </a:solidFill>
              </a:defRPr>
            </a:pPr>
            <a:r>
              <a:rPr sz="900" b="0">
                <a:solidFill>
                  <a:srgbClr val="C1D4E8"/>
                </a:solidFill>
              </a:rPr>
              <a:t>场景中至少要有相机、光源、泳池地形或池壁，以及一块作为水面的 Plane。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20F4D-AA53-4E1E-A575-D7072EE9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31051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D0ACA-CAFB-4627-8794-BA0089B5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0988F-31FA-4A5E-B78D-5ED55E30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课堂搭建建议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0E198-7FA7-4D00-AA56-94FF9D3A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762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1. 开启 URP 的 Depth Texture。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2. 泳池底部和池壁用普通 Opaque 材质。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3. 新建一个 Plane，铺在池口位置，挂上 `DepthPool_Water_Demo.mat`。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4. 可在池中放一块石头或台阶，让学生观察深度差、泡沫边缘和深浅色过渡。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80A8E-DA3D-41E0-8E54-409A175A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72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756932-DDAC-4158-A35B-F22C8225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AF8839-EAFB-421B-8A93-1C807137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05500"/>
            <a:ext cx="1022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教学提示：这个案例的“写实感”来自三层叠加，分别是深度差驱动的水色、顶点波动带来的表面起伏，以及菲涅尔/环境反射带来的边缘高光。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DA8587-5C23-4023-A6FD-C1E71E8C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本地文章：Desktop/UnityShader-深度测试实践 - 知乎.html | Assets/ShaderCourse/Example/DepthTestURP/Shaders/DepthPool_Water_Demo.shader |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580451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C100A-A3E9-4BA2-806C-FCCEAEE3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224E1-6DDA-4187-B30E-AF172A81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A43EE-9730-4A3C-9EEB-7EC23B9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1EA63-B189-48CA-819C-CD283D1C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68819-6DAC-4435-9987-3701FF05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CF901-D7E5-4889-AB97-A3BEB776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2C144-84B6-4BA8-AD82-D0157BE7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1A67C-8DBD-4164-91A9-590F140E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D7FF"/>
                </a:solidFill>
              </a:defRPr>
            </a:pPr>
            <a:r>
              <a:rPr sz="1050" b="1">
                <a:solidFill>
                  <a:srgbClr val="57D7FF"/>
                </a:solidFill>
              </a:rPr>
              <a:t>SHADER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CFA45-1E1F-47C9-A70F-F9504345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09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AFEAC-47A5-4FEE-9F74-FEEEA681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案例脚本结构与主逻辑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EFDF7-DB00-4349-B3C0-5805D6EE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Shader 沿用前面 PBR 章节的思路，但把本节主角切换成“相机深度纹理 + 当前水面深度比较”。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E865D-4EDA-4A2A-977B-597045BF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5048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0A3DC-A6CE-43A2-8BA1-94ED66D7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504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7AB77-38CA-4591-A86D-DA3B6E71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F16E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DE817-9FCD-43B6-8608-5B5D89B8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FFB8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42973-2FBA-449A-9C29-87CABCB3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76E4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25136-2574-4ECB-A421-6EE96C25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28925"/>
            <a:ext cx="413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CCE6"/>
                </a:solidFill>
              </a:defRPr>
            </a:pPr>
            <a:r>
              <a:rPr sz="1050" b="1">
                <a:solidFill>
                  <a:srgbClr val="B7CCE6"/>
                </a:solidFill>
              </a:rPr>
              <a:t>DepthPool_Water_Demo.shader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408641-839D-4AA1-AC47-7044357B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47053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Blend SrcAlpha OneMinusSrcAlpha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ZWrite Off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ZTest  LEqual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// 顶点阶段：Plane 做轻微波浪位移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ApplyWave(positionOS, waveNormalOS);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// 片元阶段：读取深度纹理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float2 screenUV = input.screenPos.xy / input.screenPos.w;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real rawDepth = SampleSceneDepth(screenUV);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real sceneEyeDepth = LinearEyeDepth(rawDepth, _ZBufferParams);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float depthDifference = sceneEyeDepth - input.waterEyeDepth;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4A292-E8B8-4102-80AA-5EE744BD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3DB30-8164-4569-858E-EAEC4BFF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F08DF-318E-428F-BC02-F6316271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承接旧知识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5E55A-9610-403F-A2DE-E44E7034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2038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F4"/>
                </a:solidFill>
              </a:defRPr>
            </a:pPr>
            <a:r>
              <a:rPr sz="1275" b="0">
                <a:solidFill>
                  <a:srgbClr val="D7E5F4"/>
                </a:solidFill>
              </a:rPr>
              <a:t>顶点动画和菲涅尔不再展开重讲，只提示学生：这里是把前面学过的内容重新装配到一个深度驱动案例里。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B7609-10C4-4F7F-9652-E8B1E974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647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28BBD9-250D-4245-A89F-0F204AAF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647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9FA2A9-F225-445F-AFB4-DF0A22FF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76550"/>
            <a:ext cx="2305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本节新增重点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833575-2F28-439C-9606-72705EE1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0400"/>
            <a:ext cx="2305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5F4"/>
                </a:solidFill>
              </a:defRPr>
            </a:pPr>
            <a:r>
              <a:rPr sz="1275" b="0">
                <a:solidFill>
                  <a:srgbClr val="D7E5F4"/>
                </a:solidFill>
              </a:rPr>
              <a:t>真正新增的是“如何获得场景深度”“如何线性化”“如何把深度差变成颜色与泡沫参数”。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E61C53-2F6A-453A-B08D-E8408820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43400"/>
            <a:ext cx="523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1E3B60-AAB3-49C8-A7C9-F41E5DE0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43400"/>
            <a:ext cx="523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4BE3D0-C616-490F-872F-01C4BE47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489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为什么这个案例适合作为课堂演示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150F1E-858F-4997-A1C5-8176290C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19650"/>
            <a:ext cx="4895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学生能同时看到三件事：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1. 深度测试保证泳池内外遮挡关系正常；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2. 深度纹理让水体知道“下面有多深”；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3. PBR / 菲涅尔负责把结果表现得更像水。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FD4069-7D0D-4F5B-831F-B63EDA02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本地文章：Desktop/UnityShader-深度测试实践 - 知乎.html | Assets/ShaderCourse/Example/DepthTestURP/Shaders/DepthPool_Water_Demo.shader |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610876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68816-43B8-44D9-ADBC-1289011C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FA5DC-C9E2-4482-B0D4-E27257E6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C09D0-8923-49D0-AD7A-7EFEA05F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0678F-5CC9-4CD6-BEF2-0CBD1E5D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6988C-23CE-4709-8AED-7F609AEC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2B7B6-57DB-4CD8-891A-44607291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97077-9039-413C-963C-830A0CB4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5BD78-535B-47A6-81D7-B2C1B2F7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6E84"/>
                </a:solidFill>
              </a:defRPr>
            </a:pPr>
            <a:r>
              <a:rPr sz="1050" b="1">
                <a:solidFill>
                  <a:srgbClr val="F16E84"/>
                </a:solidFill>
              </a:rPr>
              <a:t>CODE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55E34-9BA2-43F4-95E0-83C309B9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10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D61D6-A476-42B6-B31F-A38AE5DA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代码重点截图页：深度差如何驱动水体表现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B1C95-5E77-4C33-BFDF-86A49AA9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这页建议课堂里停留更久，把每一行和画面结果对应起来。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87BCF-9E71-476F-B238-AF08B8B7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53340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B172A"/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553D0-6292-4388-9FCA-1D5DB49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E197B-2857-4D9A-8617-9FAB21C1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F16E8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259D4-1A12-4CC3-BE75-DA6F2A00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FFB8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1E34A-DE28-43EC-B34B-38D6321A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76E4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95EDC-478F-46F0-8853-419455AC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76525"/>
            <a:ext cx="441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CCE6"/>
                </a:solidFill>
              </a:defRPr>
            </a:pPr>
            <a:r>
              <a:rPr sz="1050" b="1">
                <a:solidFill>
                  <a:srgbClr val="B7CCE6"/>
                </a:solidFill>
              </a:rPr>
              <a:t>片元主逻辑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145BF-4C55-44D7-933F-A98E873C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4991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 depthLerp;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 foamMask;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 sceneEyeDepth;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EvaluateDepthWater(input, depthLerp, foamMask, sceneEyeDepth);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half3 waterBodyColor = lerp(_ShallowColor.rgb, _DeepColor.rgb, depthLerp);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 fresnelMask = pow(1.0h - NdotV, _FresnelPower) * _FresnelStrength;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half3 foamColor = _FoamColor.rgb * foamMask;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half3 finalColor = bodyContribution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                 + directLighting * 0.28h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                 + fresnelReflection</a:t>
            </a:r>
          </a:p>
          <a:p xmlns:a="http://schemas.openxmlformats.org/drawingml/2006/main">
            <a:pPr algn="l">
              <a:defRPr sz="1050" b="0">
                <a:solidFill>
                  <a:srgbClr val="DCEBFF"/>
                </a:solidFill>
              </a:defRPr>
            </a:pPr>
            <a:r>
              <a:rPr sz="1050" b="0">
                <a:solidFill>
                  <a:srgbClr val="DCEBFF"/>
                </a:solidFill>
              </a:rPr>
              <a:t>                 + foamColor;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5C870-88E8-4796-8914-1DF0A9D6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9339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C0E11-02BE-4F0D-AFA7-0E50D4D2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93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BCCFA-A7EC-4DD3-B85D-70924E8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459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逐行讲解建议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8432F-5A2E-4220-A7FA-4D6985D1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0"/>
            <a:ext cx="45910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1. `EvaluateDepthWater` 把“读深度纹理、线性化、求深度差”封装起来。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2. `depthLerp` 决定浅水色和深水色的插值。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3. `foamMask` 让泡沫只出现在接触边缘或浅水过渡区。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4. `fresnelMask` 负责边缘更亮、更有反射感。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5. 最终颜色是“水体主体 + 光照 + 反射 + 泡沫”的叠加。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93B06-46BF-4890-9CCA-29ADD3E6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10572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E3AED1-7402-419F-AE68-99F8FA51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10B8E-5DFE-440D-BF19-C3CD1F0A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91250"/>
            <a:ext cx="10229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369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课堂一句话总结这段代码：深度差负责“水有多深”，菲涅尔负责“边缘多亮”，波浪负责“表面会动”。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C3372F-24C3-4BEF-942D-F705E755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本地文章：Desktop/UnityShader-深度测试实践 - 知乎.html | Assets/ShaderCourse/Example/DepthTestURP/Shaders/DepthPool_Water_Demo.shader |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14592050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EB28F-6592-4BAE-B4B2-37F4AA8F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B1B50-71C9-46A0-807E-AC52D2F3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35C32-C6A4-46BA-A801-06766B99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EC740-57EB-48E8-9A10-C1AE9C8F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51BA9-39F2-4ECA-94C5-7CA3BE76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361F5-CD6D-4EBE-802C-09B4C270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B49F4-F016-4074-8C2E-7E9B065A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6B5EC-8C4B-4DD0-93A8-69B5F4BB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6E4B5"/>
                </a:solidFill>
              </a:defRPr>
            </a:pPr>
            <a:r>
              <a:rPr sz="1050" b="1">
                <a:solidFill>
                  <a:srgbClr val="76E4B5"/>
                </a:solidFill>
              </a:rPr>
              <a:t>CHECKLIST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77B93-B673-474D-9A71-2D964A26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11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C00AA-9D10-4563-9641-B689E269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调试要点与课堂演示清单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0D291-DDA5-4CB3-90E6-0E88907A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深度纹理案例最怕“场景没配好”，所以这页要帮学生建立最小排查路径。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43047-79DA-4A6B-90A0-3352A6B8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34422-56F8-428C-B29D-7EFB812D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EF5C1-1CEA-4139-A4CA-64A0BF28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先检查项目设置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81EA8-2CEB-468C-8A77-1F6FAE3A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确认 URP 渲染器或相机开启了 Depth Texture。没有这一步，Shader 采样到的深度纹理就不成立。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74866-7C48-477E-99BA-907BA121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C6222-7599-42A9-89B6-C4441FAE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A2D96-C430-4CB3-BDAC-A692A7C6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765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再检查材质状态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D7839-C8C6-49D2-BD62-587FEDA5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水面材质应使用透明混合，且通常 `ZWrite Off`。如果错误写深度，常会让后面的透明画面表现异常。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E01558-CDA1-47D5-99FC-436D71BB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371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ADEA8-57D2-42D6-8922-37DCE376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371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16C94-2229-4C27-99A9-2B535E09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765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最后看场景搭建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3970C6-0875-4F58-AFE7-8AB212E6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0400"/>
            <a:ext cx="3028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Plane 必须悬在池口上方，池底和障碍物要位于水面之下，否则就不会形成有意义的深度差。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BAD12-6802-433D-A546-89F6E25B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6A3EA-142E-49F4-8004-441E3E75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C8B7C-15A5-4E4E-83C3-34A7ED02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演示步骤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3921B-FDE2-4B0B-BB0F-8530357E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先只看静态水色过渡，让学生理解“深度差决定深浅色”。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7AD437-2C9D-4398-BC21-A6636A05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76750"/>
            <a:ext cx="3333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C428DA-2A23-4EA4-A214-F7CF7DE8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7675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055399-36D5-4839-8D39-509D9677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291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演示步骤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82AD7D-976F-4C2A-8002-B4F5E8F9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5300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再打开波动和菲涅尔，让学生观察这两部分只是增强真实感，不改变深度核心逻辑。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AD45F4-DA1C-4C42-928C-F90A1492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3371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23B6F6-9C02-4833-856A-EFE97DAF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3371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6E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26B5C1-0996-4013-8170-7E660EA3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3028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演示步骤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47CDFB-DE77-4569-88DD-979AE977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53000"/>
            <a:ext cx="3028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移动障碍物或调整水面高度，观察泡沫边缘与浅水区如何随深度差重新分布。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4698CB-3431-4CE3-9801-31D4962A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本地文章：Desktop/UnityShader-深度测试实践 - 知乎.html | Assets/ShaderCourse/Example/DepthTestURP/Shaders/DepthPool_Water_Demo.shader |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18643899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C1CB99-0CA2-4806-9EE8-65F5EF8DE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CEF4C-D092-41F3-89B9-1AD7BE94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666750"/>
            <a:ext cx="40005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56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B9104-8EA3-4C18-A270-9A55A5CA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9525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6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8FEA4-F15A-4A9A-9A7D-4CA51649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335F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D1E2A-A8AB-45E5-94B1-093304B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E540B-37DE-4AC4-B09E-1ED90D1D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D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763E0-3B4B-424E-86E7-78C5F9D6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D9230-1641-4976-8978-93C9A0B9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948"/>
          </a:solidFill>
          <a:ln xmlns:a="http://schemas.openxmlformats.org/drawingml/2006/main" w="9525">
            <a:solidFill>
              <a:srgbClr val="2649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78430-55B9-4BC7-A6E8-9AC17E53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7D7FF"/>
                </a:solidFill>
              </a:defRPr>
            </a:pPr>
            <a:r>
              <a:rPr sz="1050" b="1">
                <a:solidFill>
                  <a:srgbClr val="57D7FF"/>
                </a:solidFill>
              </a:rPr>
              <a:t>WRAP-UP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FB518-72D2-45D8-BD9E-F0E7FBD2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</a:defRPr>
            </a:pPr>
            <a:r>
              <a:rPr sz="1050" b="1">
                <a:solidFill>
                  <a:srgbClr val="F8FAFC"/>
                </a:solidFill>
              </a:rPr>
              <a:t>12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45DAD-9931-437C-9A99-6E2200A3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</a:defRPr>
            </a:pPr>
            <a:r>
              <a:rPr sz="2550" b="1">
                <a:solidFill>
                  <a:srgbClr val="F8FAFC"/>
                </a:solidFill>
              </a:rPr>
              <a:t>小结与课后练习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7A4AD-75D3-4814-A92A-991B0261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A0BD"/>
                </a:solidFill>
              </a:defRPr>
            </a:pPr>
            <a:r>
              <a:rPr sz="1350" b="0">
                <a:solidFill>
                  <a:srgbClr val="88A0BD"/>
                </a:solidFill>
              </a:rPr>
              <a:t>把“深度缓冲、深度纹理、状态设置、案例落地”真正串成可解释、可实现、可调试的一章。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1DF79-2671-4A4B-B5E8-FEE4BCD9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5775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4EB51-E737-4C3D-A23C-4A0FF922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5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F1D4D-AF6F-45B8-8828-760144C8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51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本章三句话总结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188F7-770D-4CF0-AEA0-3C7C9C98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0400"/>
            <a:ext cx="45148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1. 深度测试决定的是像素遮挡优先级。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2. 深度纹理让 Shader 能主动读取场景深度，并把它变成视觉参数。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3. 在 URP 项目里，深度逻辑和 PBR 表现不是对立关系，而是先后分层关系。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F7C2E-B296-4376-A640-D629E56F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542925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1430">
            <a:solidFill>
              <a:srgbClr val="2649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225D3-8C53-4C2A-8B38-12CBBA5A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4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D3CC5-5FC6-4302-BDD3-06FDC5EA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76550"/>
            <a:ext cx="508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课后练习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C6EFC-967E-4B19-8779-3CB3DC38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50863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练习 A：把 `_DepthDistance` 调大和调小，观察深浅过渡范围变化。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练习 B：把 `_FoamDistance` 改大，观察岸边泡沫范围如何扩散。</a:t>
            </a:r>
          </a:p>
          <a:p xmlns:a="http://schemas.openxmlformats.org/drawingml/2006/main">
            <a:pPr algn="l">
              <a:defRPr sz="1350" b="0">
                <a:solidFill>
                  <a:srgbClr val="D7E5F4"/>
                </a:solidFill>
              </a:defRPr>
            </a:pPr>
            <a:r>
              <a:rPr sz="1350" b="0">
                <a:solidFill>
                  <a:srgbClr val="D7E5F4"/>
                </a:solidFill>
              </a:rPr>
              <a:t>练习 C：尝试给水面加法线贴图，体会它如何增强反射细节，但不改变深度差的核心逻辑。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3E94B-3F3F-4892-9A41-5336576D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72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243F">
              <a:alpha val="80000"/>
            </a:srgbClr>
          </a:solidFill>
          <a:ln xmlns:a="http://schemas.openxmlformats.org/drawingml/2006/main" w="10478">
            <a:solidFill>
              <a:srgbClr val="264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A9267-1A91-417D-998F-9A1AF407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7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E69742-8AAA-4BAF-B5E4-1A275A30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53100"/>
            <a:ext cx="10229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交付物已配套：PPT、URP 水面案例脚本、对应材质都放在 `Assets/ShaderCourse/Example/DepthTestURP/`，可以直接用于课堂演示。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49FF5-EF88-4D21-975F-59A4DD8B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7700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E9E"/>
                </a:solidFill>
              </a:defRPr>
            </a:pPr>
            <a:r>
              <a:rPr sz="675" b="0">
                <a:solidFill>
                  <a:srgbClr val="667E9E"/>
                </a:solidFill>
              </a:rPr>
              <a:t>Sources: 本地文章：Desktop/UnityShader-深度测试实践 - 知乎.html | Assets/ShaderCourse/Example/DepthTestURP/Shaders/DepthPool_Water_Demo.shader | Assets/ShaderCourse/Example/Stentil/Shaders/Stentil_Geometry.shader</a:t>
            </a:r>
          </a:p>
        </p:txBody>
      </p:sp>
    </p:spTree>
    <p:extLst>
      <p:ext uri="{BB962C8B-B14F-4D97-AF65-F5344CB8AC3E}">
        <p14:creationId xmlns:p14="http://schemas.microsoft.com/office/powerpoint/2010/main" val="137131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2026-04-19T04:17:30.2030000Z</dcterms:created>
  <dcterms:modified xsi:type="dcterms:W3CDTF">2026-04-19T04:17:30.2030000Z</dcterms:modified>
</coreProperties>
</file>
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919fe17f3e4e95" /><Relationship Type="http://schemas.openxmlformats.org/officeDocument/2006/relationships/extended-properties" Target="/docProps/app.xml" Id="R63aedf5a34224582" /><Relationship Type="http://schemas.openxmlformats.org/officeDocument/2006/relationships/officeDocument" Target="/ppt/presentation.xml" Id="R136ab43a0eb441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fd94d992ed484e"/>
  </p:sldMasterIdLst>
  <p:notesMasterIdLst>
    <p:notesMasterId xmlns:r="http://schemas.openxmlformats.org/officeDocument/2006/relationships" r:id="R26483fc8561d4c64"/>
  </p:notesMasterIdLst>
  <p:sldIdLst>
    <p:sldId xmlns:r="http://schemas.openxmlformats.org/officeDocument/2006/relationships" id="256" r:id="R4c32aef7ef494abb"/>
    <p:sldId xmlns:r="http://schemas.openxmlformats.org/officeDocument/2006/relationships" id="257" r:id="Rf9bc89c893ca4b85"/>
    <p:sldId xmlns:r="http://schemas.openxmlformats.org/officeDocument/2006/relationships" id="258" r:id="Rd5776be855b84359"/>
    <p:sldId xmlns:r="http://schemas.openxmlformats.org/officeDocument/2006/relationships" id="259" r:id="R9a4a1b93d8fc44bd"/>
    <p:sldId xmlns:r="http://schemas.openxmlformats.org/officeDocument/2006/relationships" id="260" r:id="Rba71a2f70c2b48c9"/>
    <p:sldId xmlns:r="http://schemas.openxmlformats.org/officeDocument/2006/relationships" id="261" r:id="R92e4be006c4145ee"/>
    <p:sldId xmlns:r="http://schemas.openxmlformats.org/officeDocument/2006/relationships" id="262" r:id="Rd6c160ed9e2d4078"/>
    <p:sldId xmlns:r="http://schemas.openxmlformats.org/officeDocument/2006/relationships" id="263" r:id="R46280ec297484fde"/>
    <p:sldId xmlns:r="http://schemas.openxmlformats.org/officeDocument/2006/relationships" id="264" r:id="R3aa387edb2434468"/>
    <p:sldId xmlns:r="http://schemas.openxmlformats.org/officeDocument/2006/relationships" id="265" r:id="Rebe2d6ff75c74a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d94d992ed484e" /><Relationship Type="http://schemas.openxmlformats.org/officeDocument/2006/relationships/theme" Target="/ppt/theme/theme1.xml" Id="Re8107d5963104800" /><Relationship Type="http://schemas.openxmlformats.org/officeDocument/2006/relationships/notesMaster" Target="/ppt/notesMasters/notesMaster1.xml" Id="R26483fc8561d4c64" /><Relationship Type="http://schemas.openxmlformats.org/officeDocument/2006/relationships/presProps" Target="/ppt/presProps.xml" Id="Raca66fdcc8bc4d8f" /><Relationship Type="http://schemas.openxmlformats.org/officeDocument/2006/relationships/viewProps" Target="/ppt/viewProps.xml" Id="Ra815663763f4481b" /><Relationship Type="http://schemas.openxmlformats.org/officeDocument/2006/relationships/tableStyles" Target="/ppt/tableStyles.xml" Id="R2e8dcfc533494403" /><Relationship Type="http://schemas.openxmlformats.org/officeDocument/2006/relationships/slide" Target="/ppt/slides/slide1.xml" Id="R4c32aef7ef494abb" /><Relationship Type="http://schemas.openxmlformats.org/officeDocument/2006/relationships/slide" Target="/ppt/slides/slide2.xml" Id="Rf9bc89c893ca4b85" /><Relationship Type="http://schemas.openxmlformats.org/officeDocument/2006/relationships/slide" Target="/ppt/slides/slide3.xml" Id="Rd5776be855b84359" /><Relationship Type="http://schemas.openxmlformats.org/officeDocument/2006/relationships/slide" Target="/ppt/slides/slide4.xml" Id="R9a4a1b93d8fc44bd" /><Relationship Type="http://schemas.openxmlformats.org/officeDocument/2006/relationships/slide" Target="/ppt/slides/slide5.xml" Id="Rba71a2f70c2b48c9" /><Relationship Type="http://schemas.openxmlformats.org/officeDocument/2006/relationships/slide" Target="/ppt/slides/slide6.xml" Id="R92e4be006c4145ee" /><Relationship Type="http://schemas.openxmlformats.org/officeDocument/2006/relationships/slide" Target="/ppt/slides/slide7.xml" Id="Rd6c160ed9e2d4078" /><Relationship Type="http://schemas.openxmlformats.org/officeDocument/2006/relationships/slide" Target="/ppt/slides/slide8.xml" Id="R46280ec297484fde" /><Relationship Type="http://schemas.openxmlformats.org/officeDocument/2006/relationships/slide" Target="/ppt/slides/slide9.xml" Id="R3aa387edb2434468" /><Relationship Type="http://schemas.openxmlformats.org/officeDocument/2006/relationships/slide" Target="/ppt/slides/slide10.xml" Id="Rebe2d6ff75c74a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f73bd02b6bf41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7d9bdffe554b1d" /><Relationship Type="http://schemas.openxmlformats.org/officeDocument/2006/relationships/notesMaster" Target="/ppt/notesMasters/notesMaster1.xml" Id="R6ffa3c2c05304c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fc160990e64382" /><Relationship Type="http://schemas.openxmlformats.org/officeDocument/2006/relationships/notesMaster" Target="/ppt/notesMasters/notesMaster1.xml" Id="Rc6875322a23f4c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5b7b25f43f4c81" /><Relationship Type="http://schemas.openxmlformats.org/officeDocument/2006/relationships/notesMaster" Target="/ppt/notesMasters/notesMaster1.xml" Id="R5a057aa54ee941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21512a1c65420d" /><Relationship Type="http://schemas.openxmlformats.org/officeDocument/2006/relationships/notesMaster" Target="/ppt/notesMasters/notesMaster1.xml" Id="R6851df545fb44d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91a12a8d8b4f7e" /><Relationship Type="http://schemas.openxmlformats.org/officeDocument/2006/relationships/notesMaster" Target="/ppt/notesMasters/notesMaster1.xml" Id="R708c2528f3ff41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84afacdf4b438e" /><Relationship Type="http://schemas.openxmlformats.org/officeDocument/2006/relationships/notesMaster" Target="/ppt/notesMasters/notesMaster1.xml" Id="Rd48b39a6cb944c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70b4dd793943fd" /><Relationship Type="http://schemas.openxmlformats.org/officeDocument/2006/relationships/notesMaster" Target="/ppt/notesMasters/notesMaster1.xml" Id="R1f80a1e3689442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c277a743b84043" /><Relationship Type="http://schemas.openxmlformats.org/officeDocument/2006/relationships/notesMaster" Target="/ppt/notesMasters/notesMaster1.xml" Id="R4c999b62e8e44f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43f9c399904e01" /><Relationship Type="http://schemas.openxmlformats.org/officeDocument/2006/relationships/notesMaster" Target="/ppt/notesMasters/notesMaster1.xml" Id="Rbd7eb84b21ce46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7c0bd081904f77" /><Relationship Type="http://schemas.openxmlformats.org/officeDocument/2006/relationships/notesMaster" Target="/ppt/notesMasters/notesMaster1.xml" Id="Rbc115e1d728f4f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33c93060f422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F294E75D-6BFF-4961-909C-815415A8EAA8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61F0B92-399C-4EC2-83C4-71B96E876F86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C52968-28D2-4C41-9572-0805EB706B9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A679C2-2B56-4CB9-AC12-CD862569E10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30A1A5-07CB-4AE5-A341-21AA5516287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25630e1530d4dcb" /><Relationship Type="http://schemas.openxmlformats.org/officeDocument/2006/relationships/slideLayout" Target="/ppt/slideLayouts/slideLayout2.xml" Id="R380e2a4199e646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E744C3-C192-4495-BC24-4564AF865ED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0e2a4199e646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c5f1a269b642d9" /><Relationship Type="http://schemas.openxmlformats.org/officeDocument/2006/relationships/notesSlide" Target="/ppt/notesSlides/notesSlide1.xml" Id="Rd7d41b10a9fb42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e9358fb51d4451" /><Relationship Type="http://schemas.openxmlformats.org/officeDocument/2006/relationships/image" Target="/ppt/media/image.jpeg" Id="Rc2cfa4dbc4454e25" /><Relationship Type="http://schemas.openxmlformats.org/officeDocument/2006/relationships/notesSlide" Target="/ppt/notesSlides/notesSlide2.xml" Id="R2894b0893d244d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2fab513f7e499e" /><Relationship Type="http://schemas.openxmlformats.org/officeDocument/2006/relationships/image" Target="/ppt/media/image.png" Id="R23ebd0d4c8d24b17" /><Relationship Type="http://schemas.openxmlformats.org/officeDocument/2006/relationships/notesSlide" Target="/ppt/notesSlides/notesSlide3.xml" Id="Rcb504169767843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fda0858683490c" /><Relationship Type="http://schemas.openxmlformats.org/officeDocument/2006/relationships/image" Target="/ppt/media/image2.jpeg" Id="R44cbff871347437c" /><Relationship Type="http://schemas.openxmlformats.org/officeDocument/2006/relationships/image" Target="/ppt/media/image3.jpeg" Id="R1f339382d718405a" /><Relationship Type="http://schemas.openxmlformats.org/officeDocument/2006/relationships/notesSlide" Target="/ppt/notesSlides/notesSlide4.xml" Id="R0ab789f4f9db44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97c5b72c1b450c" /><Relationship Type="http://schemas.openxmlformats.org/officeDocument/2006/relationships/notesSlide" Target="/ppt/notesSlides/notesSlide5.xml" Id="R0db74ff923bd4f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3587f994c74a0b" /><Relationship Type="http://schemas.openxmlformats.org/officeDocument/2006/relationships/notesSlide" Target="/ppt/notesSlides/notesSlide6.xml" Id="R34e10cbc186b4c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18e734f1e946c1" /><Relationship Type="http://schemas.openxmlformats.org/officeDocument/2006/relationships/image" Target="/ppt/media/image4.jpeg" Id="R65cd8c1e2e834e53" /><Relationship Type="http://schemas.openxmlformats.org/officeDocument/2006/relationships/notesSlide" Target="/ppt/notesSlides/notesSlide7.xml" Id="Rcf5b26f997eb4e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22ca3e02fc4b23" /><Relationship Type="http://schemas.openxmlformats.org/officeDocument/2006/relationships/image" Target="/ppt/media/image5.jpeg" Id="R8723bd4505584c76" /><Relationship Type="http://schemas.openxmlformats.org/officeDocument/2006/relationships/notesSlide" Target="/ppt/notesSlides/notesSlide8.xml" Id="R2f9193bea9884f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c50c9dce2f4f35" /><Relationship Type="http://schemas.openxmlformats.org/officeDocument/2006/relationships/notesSlide" Target="/ppt/notesSlides/notesSlide9.xml" Id="R47d1f8179a7143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f891b7495f438e" /><Relationship Type="http://schemas.openxmlformats.org/officeDocument/2006/relationships/notesSlide" Target="/ppt/notesSlides/notesSlide10.xml" Id="R68627068d14147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30A1A5-07CB-4AE5-A341-21AA551628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DC05B-9637-4D9D-B841-0FCD7845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9CF49-471A-4B26-876B-1C2EA063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E0706-67E7-403E-B740-616DFBDC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E9301-B381-43EC-902E-C4512DDF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F5592-1680-4B1B-AF11-545AEA63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86854-193C-4E56-B1AA-69141675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13272-DC07-4928-A4DE-BF464782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LESSON 07A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E98FE-D21A-4080-B977-24C16847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40551-0B92-4198-948E-AAA15F78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01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4C470-A918-49E7-A3B9-87464655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AFF"/>
                </a:solidFill>
              </a:defRPr>
            </a:pPr>
            <a:r>
              <a:rPr sz="3600" b="1">
                <a:solidFill>
                  <a:srgbClr val="F5FAFF"/>
                </a:solidFill>
              </a:rPr>
              <a:t>Unity Shader 编程</a:t>
            </a:r>
          </a:p>
          <a:p xmlns:a="http://schemas.openxmlformats.org/drawingml/2006/main">
            <a:pPr algn="l">
              <a:defRPr sz="3600" b="1">
                <a:solidFill>
                  <a:srgbClr val="F5FAFF"/>
                </a:solidFill>
              </a:defRPr>
            </a:pPr>
            <a:r>
              <a:rPr sz="3600" b="1">
                <a:solidFill>
                  <a:srgbClr val="F5FAFF"/>
                </a:solidFill>
              </a:rPr>
              <a:t>屏幕深度纹理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37A1C-EE98-4376-993E-6B859A23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372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55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C4DD"/>
                </a:solidFill>
              </a:defRPr>
            </a:pPr>
            <a:r>
              <a:rPr sz="1650" b="0">
                <a:solidFill>
                  <a:srgbClr val="AEC4DD"/>
                </a:solidFill>
              </a:rPr>
              <a:t>本节是“深度测试”之后的一节独立课程。</a:t>
            </a:r>
          </a:p>
          <a:p xmlns:a="http://schemas.openxmlformats.org/drawingml/2006/main">
            <a:pPr algn="l">
              <a:defRPr sz="1650" b="0">
                <a:solidFill>
                  <a:srgbClr val="AEC4DD"/>
                </a:solidFill>
              </a:defRPr>
            </a:pPr>
            <a:r>
              <a:rPr sz="1650" b="0">
                <a:solidFill>
                  <a:srgbClr val="AEC4DD"/>
                </a:solidFill>
              </a:rPr>
              <a:t>对应案例脚本是护盾效果：ScreenDepthTexture_Debug.shader。</a:t>
            </a:r>
          </a:p>
          <a:p xmlns:a="http://schemas.openxmlformats.org/drawingml/2006/main">
            <a:pPr algn="l">
              <a:defRPr sz="1650" b="0">
                <a:solidFill>
                  <a:srgbClr val="AEC4DD"/>
                </a:solidFill>
              </a:defRPr>
            </a:pPr>
            <a:r>
              <a:rPr sz="1650" b="0">
                <a:solidFill>
                  <a:srgbClr val="AEC4DD"/>
                </a:solidFill>
              </a:rPr>
              <a:t>目标是把屏幕深度纹理的读取、线性化、比较与视觉驱动完整讲透，让学生真正理解它为什么能做出交界发光与空间厚度感。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CA1CF-D8D9-4C65-957A-54167C85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419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0B99E-0E04-414A-8AD3-365F7EE6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41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8AF8D-5608-4E65-9854-921A7049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07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本节核心问题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87AE2-BCEF-4F95-BBB4-27012D4B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4076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46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深度测试负责判断谁挡住谁，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而屏幕深度纹理让 Shader 能把这种前后关系读出来，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再转成颜色过渡、厚度感、交界发光和空间分层等视觉结果。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9D10E-CA52-4B02-811F-72FD6002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09700"/>
            <a:ext cx="42100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B5536-B345-46BF-B060-FEE0D45D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09700"/>
            <a:ext cx="421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29FF6-E8B7-4CBD-AEF7-FB64BB12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43050"/>
            <a:ext cx="386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主案例定位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04A36-D37C-476C-B3BE-101084AA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47850"/>
            <a:ext cx="38671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主案例：ScreenDepthTexture_Debug.shader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它把三件事直接讲清楚：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1. 如何采样场景深度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2. 如何得到当前护盾自身深度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3. 如何用深度差值驱动护盾效果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49C64-EB95-404A-A010-825B5FF7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8316492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30A1A5-07CB-4AE5-A341-21AA551628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48ADA-AAAD-4EBA-8E55-C1250A8F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302B8-E7ED-45B6-BBC0-A2CA3D49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7F706-A57A-4DF6-9FBB-DBEAA14B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B90C9-1013-4554-A4EB-564402F1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A8BC6-DC43-4288-BF85-4E3BA044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A63B7-4F7C-402E-948C-687AB7FD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55D2E-E869-43D6-9F6B-C2E76FAE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BRIDGE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37356-E3DD-4071-9AD2-42BB7F02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41E54-ED7B-45A8-98B3-1BF44E28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02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E6288-DFA0-4CB2-9035-C8624D27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从深度测试过渡到深度纹理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717D6-167E-44D8-B50A-01F86D65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深度测试解决“可见性裁决”，深度纹理解决“把这份裁决结果继续交给 Shader 利用”。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AD307-DD58-4BE9-ADD2-70FFCF2A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571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BF5BD-D573-4114-8E2C-F4DCC80F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AF17A-D490-4D76-8174-9F7860BD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深度缓冲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9EFC2-023B-4F1F-9EF9-E9376365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2228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由 GPU 在渲染中维护。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它首先负责深度测试，决定当前片元能否留下。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它本质上是一套可见性规则。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00457-754F-4E2E-BD48-EAEC0730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00300"/>
            <a:ext cx="2571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F49E1-9718-4AC3-B8B6-E38A2BAA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003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4637F-EEEC-4C89-B2AA-2078418A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深度纹理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FD1C0-C099-493F-ACCF-BB9F210A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38450"/>
            <a:ext cx="2228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把场景深度结果变成可采样纹理。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一旦能采样，深度就不只是规则，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还变成了可参与计算的参数。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A47CD-D1EA-43DE-A46C-F130ABD8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2571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A1EADF-3953-4806-9037-B1F315E8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2E533-0E46-4649-ACFF-DDE260BC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3365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一句话理解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FD1D06-8109-40E6-8079-2F91F2C2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38450"/>
            <a:ext cx="2228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Depth Buffer 决定谁被挡住，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Depth Texture 让我们知道哪里靠近、哪里有厚度。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6C1A51-29F6-4769-A307-6EAB66E4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D9FF"/>
                </a:solidFill>
              </a:defRPr>
            </a:pPr>
            <a:r>
              <a:rPr sz="1125" b="1">
                <a:solidFill>
                  <a:srgbClr val="59D9FF"/>
                </a:solidFill>
              </a:rPr>
              <a:t>示意图 1：遮挡与深度结果示意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950850-8DC4-4EC0-8675-D8E78755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91050"/>
            <a:ext cx="6438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fa4dbc4454e25"/>
          <a:stretch xmlns:a="http://schemas.openxmlformats.org/drawingml/2006/main"/>
        </p:blipFill>
        <p:spPr>
          <a:xfrm xmlns:a="http://schemas.openxmlformats.org/drawingml/2006/main">
            <a:off x="4717153" y="4648200"/>
            <a:ext cx="2871995" cy="10858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6A7420-0689-4D8E-B0C8-244B99EA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48350"/>
            <a:ext cx="718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图例补充了“最终画面表现”和“深度相关可视结果”的对照，有助于理解深度信息并不是最终颜色本身。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4A442F-A3B8-41F4-A33B-7AE12BA8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544182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30A1A5-07CB-4AE5-A341-21AA551628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CD826-A676-451F-B91B-6AAC10B2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90D24-C447-4094-B675-4208C24B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ED481-8E1D-4DA9-BF40-0839A19E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1EECB-395F-470C-A141-84039FA3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C9DAB-CFF0-40FE-A2B7-A73D29E5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C9024-8FAB-40C3-840E-A4CFD130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D88FD-C6BB-4F52-A850-E574E2A1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DEPTH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02C4B-C1D4-4AE9-A1F1-499D3A45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3C390-A84A-4C00-97ED-67B4FFFE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03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46FCA-09A6-418A-A31D-28499481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什么是深度缓冲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E0F80-759F-4B3F-847A-99E92801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每个屏幕像素不仅存颜色，也会记录当前最近深度，它是 GPU 处理遮挡关系的基础。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BFDDA-C5C6-4592-9208-84D8F1C3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429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F55C3-BDD3-40DB-9D3C-8DB9468F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C174E-AE1F-4A15-A7F0-333AED73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学生最该记住的点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E5B35-B6B6-424F-B8BD-DD8D0FD6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3086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1. 深度缓冲首先服务于深度测试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2. 它在渲染过程中持续更新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3. 更近的片元更容易留下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4. 它解决的是遮挡，而不是光照公式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DC027-0A8A-431A-9AD6-4D081010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3048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B30A2-CD9F-4174-8CD9-68E9F1D3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E10CE-01BB-46D0-836E-502DFCAB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33650"/>
            <a:ext cx="2705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常见误区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FECDE-0F9B-4B18-BBF8-F4CDD6C8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8450"/>
            <a:ext cx="2705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很多同学会把前后遮挡误以为是材质问题。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实际上，不透明物体稳定的前后关系，首先来自深度缓冲。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C1DC96-48A0-4CA8-BF89-6F504258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36004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F12E0-3A94-4263-B487-7DE00582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3600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274B11-8217-47B8-ADDF-E10F107E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3257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为什么之后能被采样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830E3-9C88-4DE6-9C42-6513151B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38450"/>
            <a:ext cx="3257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因为相机把深度结果整理成了深度纹理。</a:t>
            </a:r>
          </a:p>
          <a:p xmlns:a="http://schemas.openxmlformats.org/drawingml/2006/main">
            <a:pPr algn="l">
              <a:defRPr sz="1350" b="0">
                <a:solidFill>
                  <a:srgbClr val="D8E5F3"/>
                </a:solidFill>
              </a:defRPr>
            </a:pPr>
            <a:r>
              <a:rPr sz="1350" b="0">
                <a:solidFill>
                  <a:srgbClr val="D8E5F3"/>
                </a:solidFill>
              </a:rPr>
              <a:t>于是后续 Shader 可以主动读取这个屏幕位置的场景深度。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820FC-8054-4B94-A805-D3D2CD64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E6B"/>
                </a:solidFill>
              </a:defRPr>
            </a:pPr>
            <a:r>
              <a:rPr sz="1125" b="1">
                <a:solidFill>
                  <a:srgbClr val="FFBE6B"/>
                </a:solidFill>
              </a:rPr>
              <a:t>示意图 2：场景深度图例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4EC9DE-A774-4942-95B1-7979D8A5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95750"/>
            <a:ext cx="6629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bd0d4c8d24b17"/>
          <a:stretch xmlns:a="http://schemas.openxmlformats.org/drawingml/2006/main"/>
        </p:blipFill>
        <p:spPr>
          <a:xfrm xmlns:a="http://schemas.openxmlformats.org/drawingml/2006/main">
            <a:off x="4934164" y="4152900"/>
            <a:ext cx="2323672" cy="1752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1B4746-18C5-4185-AC8B-0DE29B32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1057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这张图直接展示了场景深度的视觉形态。亮暗变化对应的是距离分布，而不是物体原本的颜色信息。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843D14-159E-4ED9-AE82-49501C33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1991339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30A1A5-07CB-4AE5-A341-21AA551628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D7E12-FEB1-4D06-8A49-3EB02FFF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BA0F9-E990-4F57-A97B-EFC68608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C83C9-EEE0-4E83-9278-50B0563B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9D7E0-57AC-4608-9C84-CB81274E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E4C66-F693-4061-92B3-75CF47C9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E938F-F728-4CB1-B7C1-2788C7E5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4B697-558F-4264-9A40-A2400FD9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DEPTH DISTRIBUTION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9736B-863B-4E67-BAEC-73FCD83A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FD0B0-DFE0-4AB4-A577-20451549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04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EC205-49AC-4FE8-9043-62F6EA39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为什么原始深度不是线性的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4F66F-15F8-4D83-BB99-42294DE0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投影变换会让靠近相机的深度更密集、远处深度更压缩，所以原始深度值不能直接当作真实距离。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4477A-A852-4AC0-A30E-82E205D5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4290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BFA76-8D08-4DF0-9824-125B4A07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937CD-4CAD-4C35-B8C7-890979CA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深度分布示意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FBC21-1C6E-49F0-B5A8-D42E60F6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3124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bff871347437c"/>
          <a:stretch xmlns:a="http://schemas.openxmlformats.org/drawingml/2006/main"/>
        </p:blipFill>
        <p:spPr>
          <a:xfrm xmlns:a="http://schemas.openxmlformats.org/drawingml/2006/main">
            <a:off x="1105574" y="3162300"/>
            <a:ext cx="2894252" cy="1714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97FBF-8193-4845-B2D3-8EF4B841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00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近处精度更高，远处分布更密集压缩，这是线性化的前提。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F0E26-6A7C-414F-9D09-E9B4B04F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34290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F18BF9-1AEA-4BA3-86A7-8C370BC7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4FBAA-F3EC-4797-9691-53CEC203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视锥体到裁剪空间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BBCBA5-2C55-4F7F-BFA1-7EACE673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86100"/>
            <a:ext cx="31242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39382d718405a"/>
          <a:stretch xmlns:a="http://schemas.openxmlformats.org/drawingml/2006/main"/>
        </p:blipFill>
        <p:spPr>
          <a:xfrm xmlns:a="http://schemas.openxmlformats.org/drawingml/2006/main">
            <a:off x="4724400" y="3440126"/>
            <a:ext cx="2971800" cy="1158847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7B9A7C-8B53-41BC-B6E9-95C4D446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00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投影不是简单平移，而是把视锥体重新映射到规则空间。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F7554F-2D1D-4DD1-8678-1C0D5131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2575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0392FD-278E-4E23-9969-59B12A56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74F351-F1FC-4B9A-AF15-DCAF971D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035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工程意义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72B8A7-D7DC-4561-BCC8-69FC1F8C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29146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1. Near 不宜设置过小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2. 远处更容易出现 Z-Fighting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3. 采样到的原始深度通常要先线性化后再比较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AC00E4-7C22-41D6-AB3B-BBDF7737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7714595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30A1A5-07CB-4AE5-A341-21AA551628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105C1-AD70-4B65-A022-ADEE27E8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9D3A3-E792-4844-B8D7-EDA96BB2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2AB43-FC86-4AA8-8AB2-54557452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284E1-56D0-4C74-AE7E-60D0D545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685FE-168E-4698-B602-46F51C9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5E513-AA02-4AD5-9394-E5289C3B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4756F-8BA3-4993-9DA5-A144F8A9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LINEARIZATION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117A4-B0BA-4AE5-A2A8-D803C6F1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26E39-6BEB-4EC9-ABFC-7EF1A5E5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05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881C1-D2F9-462F-9A9D-E10D2096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为什么要做深度线性化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26A6C-C8F5-48F1-B57C-206D3AC5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只有把设备深度还原成更适合比较的线性眼空间深度，深度差值才具备稳定可控的意义。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EF5A2-062C-433F-B1BF-8E384796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429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9689A-5C99-4B9C-A903-A9A453E4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6E1DD-B292-443D-905D-956D6CB2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线性化链路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F6DFF-A81B-4FE2-90B7-6B9D3C63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3086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666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屏幕 UV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→ SampleSceneDepth 读取原始场景深度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→ LinearEyeDepth 还原线性深度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→ 才能与当前物体深度做比较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5D02B-596B-4302-8ABE-2D19BE93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68770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0B1524"/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93547F-4288-40C1-9C1C-C455C7DC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6877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9A2F4-CA5E-40E3-B80B-0DC0E13C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FC1E9-AB80-4533-A8AE-B7E49141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A28CA-D04E-40F0-BC60-E8D41DA2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23B91-143F-4AC0-B4D1-F74D2AB3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86025"/>
            <a:ext cx="600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3EB"/>
                </a:solidFill>
              </a:defRPr>
            </a:pPr>
            <a:r>
              <a:rPr sz="1050" b="1">
                <a:solidFill>
                  <a:srgbClr val="BFD3EB"/>
                </a:solidFill>
              </a:rPr>
              <a:t>关键代码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26D26-32F6-42F6-B81D-5D2E5B7F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76550"/>
            <a:ext cx="6534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rawDepth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sceneEyeDepth = LinearEyeDepth(rawDepth, _ZBufferParams);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// sceneEyeDepth 才更适合参与距离比较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3BCACB-B529-42C0-AEAA-F2A85E89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10572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889D16-360E-4919-8C83-8E8964C7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ACA887-F741-43B9-9367-62C3B54A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1022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AFF"/>
                </a:solidFill>
              </a:defRPr>
            </a:pPr>
            <a:r>
              <a:rPr sz="1125" b="1">
                <a:solidFill>
                  <a:srgbClr val="F5FAFF"/>
                </a:solidFill>
              </a:rPr>
              <a:t>示意图 3：从原始深度到线性深度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CC28AC-9A21-42C7-B6F2-02DC29DF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24500"/>
            <a:ext cx="1022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网络图例思路参考：深度线性化流程图与 LearnOpenGL 深度测试示意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83474E-AAD6-47E6-AC3E-16CC0D47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123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65A"/>
          </a:solidFill>
          <a:ln xmlns:a="http://schemas.openxmlformats.org/drawingml/2006/main" w="9525">
            <a:solidFill>
              <a:srgbClr val="5EA9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C162C1-8052-48CB-B4A8-2D0F0C0A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原始深度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7112ED-7672-44EE-A69F-44E0CBA3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530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266504-2527-4D3B-B3C0-26870D7B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768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3B63EE-AA30-4015-A484-923E7940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054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05B"/>
          </a:solidFill>
          <a:ln xmlns:a="http://schemas.openxmlformats.org/drawingml/2006/main" w="9525">
            <a:solidFill>
              <a:srgbClr val="8EAA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9C602A-75B4-4CD0-84AA-400EF560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959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LinearEyeDepth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B72BF-3C19-4B0E-AC0B-A2D1A68E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47974B-5CA9-42F3-87CD-1A2A11BE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768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A3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FF5254-8906-4BE0-97C5-9343620C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05400"/>
            <a:ext cx="1123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4C331B"/>
          </a:solidFill>
          <a:ln xmlns:a="http://schemas.openxmlformats.org/drawingml/2006/main" w="9525">
            <a:solidFill>
              <a:srgbClr val="E5B0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6CC416-3243-44C1-B907-CDD425FE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959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线性深度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4C02B4-1872-4440-A679-19AE3295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48350"/>
            <a:ext cx="1022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EA5BF"/>
                </a:solidFill>
              </a:defRPr>
            </a:pPr>
            <a:r>
              <a:rPr sz="975" b="0">
                <a:solidFill>
                  <a:srgbClr val="8EA5BF"/>
                </a:solidFill>
              </a:rPr>
              <a:t>把投影压缩后的深度，还原成更适合比较的距离量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EFAC36-C4D8-4B9C-B776-468CD74A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370541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30A1A5-07CB-4AE5-A341-21AA551628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BCC21-2CB9-470F-9E56-C710128B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CE702-929A-4685-A246-0EA39D39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F73CE-E69F-44AB-BCC3-B84AB77E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A4DC3-2706-46B3-87B8-92E56D76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1FBE6-066F-4263-81F5-C08115A1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04AED-376E-48FD-89DF-A4CD042B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4FF14-2A6B-4F22-A59C-03898971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SCREEN UV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410F9-EE8F-4782-8B8F-4BD845E1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1A43C-835B-4192-92EF-19B87566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06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92183-3FC0-4C83-9A91-57148596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屏幕坐标如何采样深度纹理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054B1-1C6F-49AE-A076-A26E8FA8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先找到当前片元在屏幕上的位置，再去对应位置读取场景深度，这就是 ComputeScreenPos 与 screenUV 的意义。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F52F0-65F3-4BB5-AD3C-CDA4DD09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10790F-7A58-49BF-89D0-0EF7F106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A5A1C-1596-45B5-90E2-2429BBAB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622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00708-7ED4-4426-9BF2-6052F2E5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ComputeScreenPos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32421-C08B-44FA-AB4E-EE29CFB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整理出可换算屏幕 UV 的数据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6C791-BBE2-4918-A028-EA2C67E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718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B1D0F-BE76-4E1A-996E-EA307960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384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C95DF-9083-4C76-BF03-83AD3C5E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40F61-D5F5-44E4-BE3C-4511D086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8A16C-F599-4E35-96D9-AE55F70A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C6E8E-BAF0-4858-8BFA-9FD409BC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SampleSceneDepth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EC898-C395-47D4-B5AF-FCBEC5BA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读取该屏幕位置后方最近场景表面的深度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6C69C-70E6-4A96-825D-69B5027B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8100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2BDFFA-364B-4364-A2F3-C6B0FFF0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766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856A26-A15F-4FC0-B7DC-9C61F65E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256BF0-AAFD-4723-A59A-B7FACDAD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763ED2-5430-46E8-A434-4B9BCEFE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A781E6-2002-4B74-BA95-C0BA0381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LinearEyeDepth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8CA5C2-F614-4B63-B0A1-B910B209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把原始深度转成线性深度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EFA3D3-3D3E-4B34-8F12-9A8F9CE1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482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FB7D1F-3702-4424-ABE2-69C986E3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148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AC0BDC-6C66-4275-A409-43294919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C4E671-8B65-4CA4-8506-9EF119ED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FB7A6E-AA3C-4F16-B994-A1591D32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768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EFF28A-BDDC-46F0-922E-C2F2F4F0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Depth Difference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685CB1-FE6A-4C2F-B9FD-525FA249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场景深度减去当前表面深度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699D56-7230-404E-83D5-C4D5AF68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4864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D3882F-E144-428A-B40C-28EFDE41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53075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8A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36E251-E34F-4B00-8C67-88B583C4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0478">
            <a:solidFill>
              <a:srgbClr val="27476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55FD66-E5D5-499C-9D2B-02E00F8F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4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8FA8BD-20DE-492E-94FA-22F28361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150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7914DA-44E9-404F-827A-6CB4CBD3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Drive Result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7968E8-0332-44D7-9D25-23E9F372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9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5BF"/>
                </a:solidFill>
              </a:defRPr>
            </a:pPr>
            <a:r>
              <a:rPr sz="900" b="0">
                <a:solidFill>
                  <a:srgbClr val="8EA5BF"/>
                </a:solidFill>
              </a:rPr>
              <a:t>驱动颜色、交界光与空间厚度感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C8F2CB-B1F6-45B3-9F2C-8103A6E8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344805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B1524"/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E169F8-F93C-40F3-98A6-51A6B93F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D7F702-F578-4BC6-9C0E-B60357F7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6E58DE-A7D2-44F7-8BEC-A9A15E56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F79A04-B889-4E96-AD5B-D5043998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B9BDA8-F082-427F-8F7E-67F911B4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622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3EB"/>
                </a:solidFill>
              </a:defRPr>
            </a:pPr>
            <a:r>
              <a:rPr sz="1050" b="1">
                <a:solidFill>
                  <a:srgbClr val="BFD3EB"/>
                </a:solidFill>
              </a:rPr>
              <a:t>采样路径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EF3F5A-04CE-4804-A10D-2B4B37C6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31051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output.screenPos = ComputeScreenPos(positionCS);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rawDepth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sceneEyeDepth = LinearEyeDepth(rawDepth, _ZBufferParams);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D391F4-7AF4-4029-9D46-04F06B0F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32385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32FF17-1EFF-4514-A5F2-EB0071DB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DA04AE-79B2-4AF2-A710-4FFC62AF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理解方式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B75252-6299-4292-A6F2-15946C7B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28956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可以把它理解成：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先找到当前片元在屏幕上的位置，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再去查询这个位置后方最近的场景表面有多远。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6EF35E-A0B0-462F-A0CF-DE27AF21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7607191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30A1A5-07CB-4AE5-A341-21AA551628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7FF71-59DE-4F79-B059-1B5D947E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E7947-B581-43B4-B567-814BF4D6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92EF7-C6A0-4233-A565-DF22B480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C0B18-4BF4-4293-8F22-539BF3A7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595BB-EFBD-4A2A-BFEF-4F21F84C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5C3BF-725B-42A9-90D9-E1175074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B7AA0-AE35-4B37-B2CC-17C45AEA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DEPTH DIFFERENCE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21F6E-B9EF-46A4-BFA0-FA2B3B95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DFA26-5AFB-4F95-86B9-0F097351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07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4C1CF-0FEC-40F9-AD0B-C2C1C6D6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深度差值为什么能驱动特效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38ADD-12DB-4BC1-A28D-7706C0CA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场景深度减去当前表面深度，得到的就是当前表面与后方场景之间还能容纳多少空间。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F8A55-EB71-4A08-9B42-9709EB61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2FD60-18FD-4118-9788-0F16B0FD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9644D-8352-4A51-AF75-CF1BF32B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公式本质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A9EB3-4706-493C-867E-48341EF2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29908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0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Depth Difference = Scene Depth - Surface 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差值小：表面贴近后方几何体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差值大：后方还有更多空间厚度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C6921-73B8-42D9-B2C6-2726D707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143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B413F-7301-486A-ABC4-165A5334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EB2AF-C38A-475D-B1EE-9A2ABD55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直接能做什么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477A1-CCDE-44C0-B895-D020FF21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2800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0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1. 护盾贴墙发光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2. 水体厚度变化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3. 深浅颜色过渡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4. 泡沫边缘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5. 软粒子与地面融合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1954D-E80F-4FAE-B687-3113AC93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6004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FDD55B-4B29-42DD-9F2A-9F76EB72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600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0060C5-C96D-49C8-8DC4-511E827D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14600"/>
            <a:ext cx="3257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真正强大的地方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1086A-D298-47C7-A69A-D0073688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19400"/>
            <a:ext cx="3257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深度纹理记录的是空间前后关系。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我们只是把这种关系翻译成学生能看懂、画面能感知的视觉结果。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F963CC-973F-4BBF-87CF-90DAE037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9100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E6B"/>
                </a:solidFill>
              </a:defRPr>
            </a:pPr>
            <a:r>
              <a:rPr sz="1125" b="1">
                <a:solidFill>
                  <a:srgbClr val="FFBE6B"/>
                </a:solidFill>
              </a:rPr>
              <a:t>示意图 4：深度差值驱动水面边缘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69494D-A8CB-4F94-8627-C9570E72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14850"/>
            <a:ext cx="4705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d8c1e2e834e53"/>
          <a:stretch xmlns:a="http://schemas.openxmlformats.org/drawingml/2006/main"/>
        </p:blipFill>
        <p:spPr>
          <a:xfrm xmlns:a="http://schemas.openxmlformats.org/drawingml/2006/main">
            <a:off x="5104039" y="4572000"/>
            <a:ext cx="2041071" cy="11430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8ED774-3FD8-4F9C-BD42-A583F554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829300"/>
            <a:ext cx="626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D1E6"/>
                </a:solidFill>
              </a:defRPr>
            </a:pPr>
            <a:r>
              <a:rPr sz="900" b="0">
                <a:solidFill>
                  <a:srgbClr val="BDD1E6"/>
                </a:solidFill>
              </a:rPr>
              <a:t>水边泡沫和浅水过渡常常依赖深度差值。学生看到这张图时，会更容易理解“空间厚度”如何变成画面边缘效果。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8066C5-AE1A-4172-B0C6-336CCC62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2764270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30A1A5-07CB-4AE5-A341-21AA551628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E7F98-9C0B-489C-A861-0C0E8BEB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173C0-90DF-41CF-90E3-D45404C8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D67A2-8405-47B6-93DE-D7B2A54A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6494F-FF3D-496B-B43A-B25CD8D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2A30C-5556-4DF4-9C3F-AEFBA7B4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EDDCE-539A-47C2-BE08-F608FFDA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DB8E4-A222-4BA4-8B27-BEF9141C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SHIELD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67355-6FD4-4D1C-9F6D-2BD593A6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E7371-C6C1-4E9A-80A2-EE52C4BC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08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2595B-4C37-4B05-8BFF-BA4B07D8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本节主案例：护盾深度纹理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1A7B4-9A4F-40C3-93D3-B1B17A2B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本节对应案例脚本是 ScreenDepthTexture_Debug.shader，用护盾效果把深度纹理原理做成了可视化演示。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D7825-42EB-4A41-9214-1BD1B8A6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3524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47432-CC86-4B42-BFB2-79C1D1E3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3524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DA260-C2ED-4726-94F2-EB0265A8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为什么主案例选护盾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D872B-B1FA-42C6-A745-AE0CEAFB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31813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护盾比复杂水体更纯粹。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它不会先把注意力带去波浪、法线与反射，</a:t>
            </a:r>
          </a:p>
          <a:p xmlns:a="http://schemas.openxmlformats.org/drawingml/2006/main">
            <a:pPr algn="l">
              <a:defRPr sz="1575" b="0">
                <a:solidFill>
                  <a:srgbClr val="D8E5F3"/>
                </a:solidFill>
              </a:defRPr>
            </a:pPr>
            <a:r>
              <a:rPr sz="1575" b="0">
                <a:solidFill>
                  <a:srgbClr val="D8E5F3"/>
                </a:solidFill>
              </a:rPr>
              <a:t>而是让学生先看懂深度纹理到底在做什么。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9667A-F866-4618-AB3B-021BEB57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35052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7C093-E0CE-4E1B-894D-74F5669C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16466-6A18-49BC-8410-928F4719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62250"/>
            <a:ext cx="3162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脚本对应关系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9A1CF-BD99-445A-9205-CBD0EAF5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主案例脚本：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Assets/ShaderCourse/Example/DepthTestURP/Shaders/ScreenDepthTexture_Debug.shader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它把“采样场景深度、计算自身深度、比较两者差值”三步完整可视化出来。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711D3-CE4C-4569-AF52-9571C3C1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30099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C771D-920E-4AA4-9AE2-ED6BA56D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3009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19B879-B5C5-439D-A6BF-98C8D27D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学生看到的效果逻辑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AA1821-110A-44FA-AD65-1AC5D43E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66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1. 能看到背景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2. 内部根据深度差值染色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3. 靠近几何体时出现交界发光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4. 外轮廓叠加菲涅尔边缘高亮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A2C44A-2B18-43E4-9AAC-F922B55A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D9FF"/>
                </a:solidFill>
              </a:defRPr>
            </a:pPr>
            <a:r>
              <a:rPr sz="1125" b="1">
                <a:solidFill>
                  <a:srgbClr val="59D9FF"/>
                </a:solidFill>
              </a:rPr>
              <a:t>案例图例：护盾交界效果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7D06E7-4430-4E4F-82E0-7598D294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0D9E3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3bd4505584c76"/>
          <a:stretch xmlns:a="http://schemas.openxmlformats.org/drawingml/2006/main"/>
        </p:blipFill>
        <p:spPr>
          <a:xfrm xmlns:a="http://schemas.openxmlformats.org/drawingml/2006/main">
            <a:off x="2197704" y="5581650"/>
            <a:ext cx="1376742" cy="7239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3C8033-BB98-44D2-9611-01074530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95900"/>
            <a:ext cx="630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DD1E6"/>
                </a:solidFill>
              </a:defRPr>
            </a:pPr>
            <a:r>
              <a:rPr sz="1050" b="0">
                <a:solidFill>
                  <a:srgbClr val="BDD1E6"/>
                </a:solidFill>
              </a:rPr>
              <a:t>护盾靠近几何体时出现明显交界高亮，这是深度纹理比较当前表面与后方场景深度后的直观结果。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402EE3-20B9-411D-8F6E-7AA8AA1B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57850"/>
            <a:ext cx="6305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护盾案例把“采样、线性化、比较、驱动效果”四步串成了一个完整闭环，是本节最关键的落地案例。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D292FA-8753-4FC1-9CB5-2E45369D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6705367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30A1A5-07CB-4AE5-A341-21AA551628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2D386-56B0-4607-ACF2-51C11954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45010-2C9F-4ACD-8B12-6F0F7A3C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4BFDA-1284-40C1-AC47-16CADBFB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8DCC7-F252-45AC-BB69-EDA8D86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8DDD0-F6C3-4050-8DB3-72E350F0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94A75-BA54-4D6A-A8FE-7A9EDBC9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CD825-E3A9-42AF-8724-FE3DB08E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8FB3F-890E-4CB7-AAFB-EDD46DFF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DCF0A-7CAF-4145-A700-4265C552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09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B1B62-18F4-402F-AC10-88C8BE5C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护盾案例脚本中的深度纹理重点代码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A1A51-49C1-4FEA-AEC5-B9BC9D14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这一页对应本节主案例。代码逻辑可以概括为：采样、线性化、比较、驱动效果。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31BA4-D3DE-477C-839E-EBF81D92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54673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0B1524"/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7451C-CB78-416B-A82C-76D62D9B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546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FCB22-52B7-4DA3-AF94-5C9B62A4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714BE-3BC1-4002-A655-42EF84D7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A6826-989D-4A4A-BBED-EB7BE4CD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FB8A3-1559-421F-A42A-8BACED1A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57475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3EB"/>
                </a:solidFill>
              </a:defRPr>
            </a:pPr>
            <a:r>
              <a:rPr sz="1050" b="1">
                <a:solidFill>
                  <a:srgbClr val="BFD3EB"/>
                </a:solidFill>
              </a:rPr>
              <a:t>ScreenDepthTexture_Debug.shader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710476-7DB3-46B9-891B-C1154066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51244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real rawSceneDepth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sceneEyeDepth = LinearEyeDepth(rawSceneDepth, _ZBufferParams);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objectEyeDepth = input.objectEyeDepth;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gapDepth = max(sceneEyeDepth - objectEyeDepth, 0.0h);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half intersectionMask =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    saturate(1.0h - gapDepth / max(_IntersectionWidth, 0.0001h))</a:t>
            </a:r>
          </a:p>
          <a:p xmlns:a="http://schemas.openxmlformats.org/drawingml/2006/main">
            <a:pPr algn="l">
              <a:defRPr sz="1050" b="0">
                <a:solidFill>
                  <a:srgbClr val="E4F0FF"/>
                </a:solidFill>
              </a:defRPr>
            </a:pPr>
            <a:r>
              <a:rPr sz="1050" b="0">
                <a:solidFill>
                  <a:srgbClr val="E4F0FF"/>
                </a:solidFill>
              </a:rPr>
              <a:t>    * _IntersectionStrength;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6248B-2268-407C-9904-316E5161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48006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DD7F0-76EC-4C2E-B437-B081AFF0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480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6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4E8A5-689E-4206-AC0B-64F12DC7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445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代码逻辑拆解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80867E-E33C-489E-BB88-68D9C2AD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90850"/>
            <a:ext cx="44577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1. screenUV：找到当前片元在屏幕上的采样坐标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2. SampleSceneDepth：读取护盾后方的场景深度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3. LinearEyeDepth：把设备深度还原成线性深度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4. objectEyeDepth：当前护盾片元自身深度</a:t>
            </a:r>
          </a:p>
          <a:p xmlns:a="http://schemas.openxmlformats.org/drawingml/2006/main">
            <a:pPr algn="l">
              <a:defRPr sz="1425" b="0">
                <a:solidFill>
                  <a:srgbClr val="D8E5F3"/>
                </a:solidFill>
              </a:defRPr>
            </a:pPr>
            <a:r>
              <a:rPr sz="1425" b="0">
                <a:solidFill>
                  <a:srgbClr val="D8E5F3"/>
                </a:solidFill>
              </a:rPr>
              <a:t>5. gapDepth：深度差值，决定交界发光和内部染色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F131D-4DA1-4A5B-9865-ACD01EE5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5F3"/>
                </a:solidFill>
              </a:defRPr>
            </a:pPr>
            <a:r>
              <a:rPr sz="1200" b="0">
                <a:solidFill>
                  <a:srgbClr val="D8E5F3"/>
                </a:solidFill>
              </a:rPr>
              <a:t>这里的菲涅尔与边缘光负责“视觉层次”，深度差值负责“为什么靠近墙体时会亮起来”。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100893-7273-4691-9866-CE9E329D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1236956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30A1A5-07CB-4AE5-A341-21AA551628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80D05-85CF-4B76-9F85-961A813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C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0D039-804E-4CCA-9FFE-DAE3C3DD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762000"/>
            <a:ext cx="2952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A53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0F0BD-649B-4D63-88CD-E379F940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3361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388D9-CC30-46C8-8C1E-826020D7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2A2D1-64D0-4295-BCF7-4D0C60CE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6270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C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254BB-17B4-4F28-B05F-CDB6965F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5FE81-14D4-40BD-9030-25E710DA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D9FF"/>
                </a:solidFill>
              </a:defRPr>
            </a:pPr>
            <a:r>
              <a:rPr sz="1050" b="1">
                <a:solidFill>
                  <a:srgbClr val="59D9FF"/>
                </a:solidFill>
              </a:rPr>
              <a:t>WRAP-UP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07AF0-BBDA-4E34-8F99-21D8A9D4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714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845"/>
          </a:solidFill>
          <a:ln xmlns:a="http://schemas.openxmlformats.org/drawingml/2006/main" w="9525">
            <a:solidFill>
              <a:srgbClr val="2747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7F8A0-2747-4CAF-82D2-69C8C675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860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FAFF"/>
                </a:solidFill>
              </a:defRPr>
            </a:pPr>
            <a:r>
              <a:rPr sz="975" b="1">
                <a:solidFill>
                  <a:srgbClr val="F5FAFF"/>
                </a:solidFill>
              </a:rPr>
              <a:t>10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6C995-D708-41A0-9168-43C192E7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AFF"/>
                </a:solidFill>
              </a:defRPr>
            </a:pPr>
            <a:r>
              <a:rPr sz="2550" b="1">
                <a:solidFill>
                  <a:srgbClr val="F5FAFF"/>
                </a:solidFill>
              </a:rPr>
              <a:t>小结与练习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5EE63-F496-4EA9-9669-275788C1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5BF"/>
                </a:solidFill>
              </a:defRPr>
            </a:pPr>
            <a:r>
              <a:rPr sz="1350" b="0">
                <a:solidFill>
                  <a:srgbClr val="8EA5BF"/>
                </a:solidFill>
              </a:rPr>
              <a:t>把“深度缓冲、深度纹理、线性化、屏幕采样、护盾案例”真正串成一条完整知识链。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E75E5-5DC8-49DA-B0ED-E8257FD2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387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74EA6-0CEA-4608-A599-558F3C45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3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08498-1C6E-48C0-ADE6-73BEE2AB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449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本章三句话总结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6F77B-452D-4037-B746-9283696E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4495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1. 深度缓冲负责遮挡裁决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2. 深度纹理让 Shader 能主动读取场景深度</a:t>
            </a:r>
          </a:p>
          <a:p xmlns:a="http://schemas.openxmlformats.org/drawingml/2006/main">
            <a:pPr algn="l">
              <a:defRPr sz="1650" b="0">
                <a:solidFill>
                  <a:srgbClr val="D8E5F3"/>
                </a:solidFill>
              </a:defRPr>
            </a:pPr>
            <a:r>
              <a:rPr sz="1650" b="0">
                <a:solidFill>
                  <a:srgbClr val="D8E5F3"/>
                </a:solidFill>
              </a:rPr>
              <a:t>3. 深度差值把空间关系翻译成可视化参数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0ABBD-6B9F-44C5-82E7-7FF9133B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24150"/>
            <a:ext cx="54483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14253F">
              <a:alpha val="80000"/>
            </a:srgbClr>
          </a:solidFill>
          <a:ln xmlns:a="http://schemas.openxmlformats.org/drawingml/2006/main" w="11430">
            <a:solidFill>
              <a:srgbClr val="274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CB959E-BA37-48CE-9F7A-60F44440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24150"/>
            <a:ext cx="5448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E3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65F0E-DA39-4AB7-B20A-BA4EAC6E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510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F"/>
                </a:solidFill>
              </a:defRPr>
            </a:pPr>
            <a:r>
              <a:rPr sz="1200" b="1">
                <a:solidFill>
                  <a:srgbClr val="F5FAFF"/>
                </a:solidFill>
              </a:rPr>
              <a:t>课后练习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F53D7-3FAC-4E5A-A9CF-D923579A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51054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练习 A：修改 Near / Far，观察护盾交界是否更稳定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练习 B：调整 _IntersectionWidth，观察贴墙高亮范围变化</a:t>
            </a:r>
          </a:p>
          <a:p xmlns:a="http://schemas.openxmlformats.org/drawingml/2006/main">
            <a:pPr algn="l">
              <a:defRPr sz="1500" b="0">
                <a:solidFill>
                  <a:srgbClr val="D8E5F3"/>
                </a:solidFill>
              </a:defRPr>
            </a:pPr>
            <a:r>
              <a:rPr sz="1500" b="0">
                <a:solidFill>
                  <a:srgbClr val="D8E5F3"/>
                </a:solidFill>
              </a:rPr>
              <a:t>练习 C：调整 _RimPower，观察边缘高亮如何与深度差值共同塑形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10465-21FA-4735-87EE-AA8265AB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1057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AFF"/>
                </a:solidFill>
              </a:defRPr>
            </a:pPr>
            <a:r>
              <a:rPr sz="1275" b="1">
                <a:solidFill>
                  <a:srgbClr val="F5FAFF"/>
                </a:solidFill>
              </a:rPr>
              <a:t>独立完成本节后，学生应能分清“深度缓冲”和“深度纹理”，并能看懂屏幕深度差值如何驱动可见的视觉效果。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8D246-EFD5-4442-8B82-F8AF31AF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86525"/>
            <a:ext cx="1059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F9C"/>
                </a:solidFill>
              </a:defRPr>
            </a:pPr>
            <a:r>
              <a:rPr sz="675" b="0">
                <a:solidFill>
                  <a:srgbClr val="667F9C"/>
                </a:solidFill>
              </a:rPr>
              <a:t>参考：Unity Manual Camera's Depth Texture｜LearnOpenGL Depth Testing｜屏幕空间深度相关原理图例整理｜ScreenDepthTexture_Debug.shader</a:t>
            </a:r>
          </a:p>
        </p:txBody>
      </p:sp>
    </p:spTree>
    <p:extLst>
      <p:ext uri="{BB962C8B-B14F-4D97-AF65-F5344CB8AC3E}">
        <p14:creationId xmlns:p14="http://schemas.microsoft.com/office/powerpoint/2010/main" val="1124053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2026-04-20T07:00:34.9660000Z</dcterms:created>
  <dcterms:modified xsi:type="dcterms:W3CDTF">2026-04-20T07:00:34.9660000Z</dcterms:modified>
</coreProperties>
</file>
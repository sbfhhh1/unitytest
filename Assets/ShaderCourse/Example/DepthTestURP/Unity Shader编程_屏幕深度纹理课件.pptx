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69ce13b404a4f" /><Relationship Type="http://schemas.openxmlformats.org/officeDocument/2006/relationships/extended-properties" Target="/docProps/app.xml" Id="R286c81df4d8e400c" /><Relationship Type="http://schemas.openxmlformats.org/officeDocument/2006/relationships/officeDocument" Target="/ppt/presentation.xml" Id="R78d7ded6148346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cfef1b5114a50"/>
  </p:sldMasterIdLst>
  <p:notesMasterIdLst>
    <p:notesMasterId xmlns:r="http://schemas.openxmlformats.org/officeDocument/2006/relationships" r:id="Ra86f782562a54de0"/>
  </p:notesMasterIdLst>
  <p:sldIdLst>
    <p:sldId xmlns:r="http://schemas.openxmlformats.org/officeDocument/2006/relationships" id="256" r:id="R1677656178814d65"/>
    <p:sldId xmlns:r="http://schemas.openxmlformats.org/officeDocument/2006/relationships" id="257" r:id="Re32014e1e25c4a5e"/>
    <p:sldId xmlns:r="http://schemas.openxmlformats.org/officeDocument/2006/relationships" id="258" r:id="Rbc9e846f9fb84821"/>
    <p:sldId xmlns:r="http://schemas.openxmlformats.org/officeDocument/2006/relationships" id="259" r:id="Rf36fb76138354141"/>
    <p:sldId xmlns:r="http://schemas.openxmlformats.org/officeDocument/2006/relationships" id="260" r:id="Rbe6ef333733f40bf"/>
    <p:sldId xmlns:r="http://schemas.openxmlformats.org/officeDocument/2006/relationships" id="261" r:id="Rebed92b17a9d4e89"/>
    <p:sldId xmlns:r="http://schemas.openxmlformats.org/officeDocument/2006/relationships" id="262" r:id="Ra326135ea01d4e96"/>
    <p:sldId xmlns:r="http://schemas.openxmlformats.org/officeDocument/2006/relationships" id="263" r:id="Rdca85466e3274edc"/>
    <p:sldId xmlns:r="http://schemas.openxmlformats.org/officeDocument/2006/relationships" id="264" r:id="R9514aa7de9e8498f"/>
    <p:sldId xmlns:r="http://schemas.openxmlformats.org/officeDocument/2006/relationships" id="265" r:id="R7adf97a8ff1c49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cfef1b5114a50" /><Relationship Type="http://schemas.openxmlformats.org/officeDocument/2006/relationships/theme" Target="/ppt/theme/theme1.xml" Id="Rf39b0b5e8be44af8" /><Relationship Type="http://schemas.openxmlformats.org/officeDocument/2006/relationships/notesMaster" Target="/ppt/notesMasters/notesMaster1.xml" Id="Ra86f782562a54de0" /><Relationship Type="http://schemas.openxmlformats.org/officeDocument/2006/relationships/presProps" Target="/ppt/presProps.xml" Id="R0099b2fd44244139" /><Relationship Type="http://schemas.openxmlformats.org/officeDocument/2006/relationships/viewProps" Target="/ppt/viewProps.xml" Id="Rb7bc65f49e5644f0" /><Relationship Type="http://schemas.openxmlformats.org/officeDocument/2006/relationships/tableStyles" Target="/ppt/tableStyles.xml" Id="R1eb13c42dad44d93" /><Relationship Type="http://schemas.openxmlformats.org/officeDocument/2006/relationships/slide" Target="/ppt/slides/slide1.xml" Id="R1677656178814d65" /><Relationship Type="http://schemas.openxmlformats.org/officeDocument/2006/relationships/slide" Target="/ppt/slides/slide2.xml" Id="Re32014e1e25c4a5e" /><Relationship Type="http://schemas.openxmlformats.org/officeDocument/2006/relationships/slide" Target="/ppt/slides/slide3.xml" Id="Rbc9e846f9fb84821" /><Relationship Type="http://schemas.openxmlformats.org/officeDocument/2006/relationships/slide" Target="/ppt/slides/slide4.xml" Id="Rf36fb76138354141" /><Relationship Type="http://schemas.openxmlformats.org/officeDocument/2006/relationships/slide" Target="/ppt/slides/slide5.xml" Id="Rbe6ef333733f40bf" /><Relationship Type="http://schemas.openxmlformats.org/officeDocument/2006/relationships/slide" Target="/ppt/slides/slide6.xml" Id="Rebed92b17a9d4e89" /><Relationship Type="http://schemas.openxmlformats.org/officeDocument/2006/relationships/slide" Target="/ppt/slides/slide7.xml" Id="Ra326135ea01d4e96" /><Relationship Type="http://schemas.openxmlformats.org/officeDocument/2006/relationships/slide" Target="/ppt/slides/slide8.xml" Id="Rdca85466e3274edc" /><Relationship Type="http://schemas.openxmlformats.org/officeDocument/2006/relationships/slide" Target="/ppt/slides/slide9.xml" Id="R9514aa7de9e8498f" /><Relationship Type="http://schemas.openxmlformats.org/officeDocument/2006/relationships/slide" Target="/ppt/slides/slide10.xml" Id="R7adf97a8ff1c49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bd4de0167241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f63f8720784874" /><Relationship Type="http://schemas.openxmlformats.org/officeDocument/2006/relationships/notesMaster" Target="/ppt/notesMasters/notesMaster1.xml" Id="Rad0cce56e2eb49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b917d8f8c421f" /><Relationship Type="http://schemas.openxmlformats.org/officeDocument/2006/relationships/notesMaster" Target="/ppt/notesMasters/notesMaster1.xml" Id="Ra4384e443bdf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a5cc42e6974fd3" /><Relationship Type="http://schemas.openxmlformats.org/officeDocument/2006/relationships/notesMaster" Target="/ppt/notesMasters/notesMaster1.xml" Id="Re51368f08e124a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a2f930b175445e" /><Relationship Type="http://schemas.openxmlformats.org/officeDocument/2006/relationships/notesMaster" Target="/ppt/notesMasters/notesMaster1.xml" Id="Rf2cd00cc074b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73211912984d4a" /><Relationship Type="http://schemas.openxmlformats.org/officeDocument/2006/relationships/notesMaster" Target="/ppt/notesMasters/notesMaster1.xml" Id="Rea0135cdd7bc40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3aa65546c147a0" /><Relationship Type="http://schemas.openxmlformats.org/officeDocument/2006/relationships/notesMaster" Target="/ppt/notesMasters/notesMaster1.xml" Id="R445e3dded50b43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553307e9094363" /><Relationship Type="http://schemas.openxmlformats.org/officeDocument/2006/relationships/notesMaster" Target="/ppt/notesMasters/notesMaster1.xml" Id="R5e93d1f13b844e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c6c0006d2c40f5" /><Relationship Type="http://schemas.openxmlformats.org/officeDocument/2006/relationships/notesMaster" Target="/ppt/notesMasters/notesMaster1.xml" Id="Rc34ce45c107c4a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cd6f079d174eff" /><Relationship Type="http://schemas.openxmlformats.org/officeDocument/2006/relationships/notesMaster" Target="/ppt/notesMasters/notesMaster1.xml" Id="Re38479d197e44a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f706096cb44f57" /><Relationship Type="http://schemas.openxmlformats.org/officeDocument/2006/relationships/notesMaster" Target="/ppt/notesMasters/notesMaster1.xml" Id="Rb753b2ea05264d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4b521a51c41c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B506691-CF72-49A1-A636-DE11DEE7D73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D4B4183-80F0-4033-B8BE-27026665192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0DB11D-F195-4D23-A988-D41E1063D95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E97ABA-142B-47CA-A8DB-0FC67F4BCBD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538cb51daa40fb" /><Relationship Type="http://schemas.openxmlformats.org/officeDocument/2006/relationships/slideLayout" Target="/ppt/slideLayouts/slideLayout2.xml" Id="R3acfcaf62ba947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B9A249-28E2-43B6-9F6A-25C8F11B268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cfcaf62ba947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6287640d2f4f51" /><Relationship Type="http://schemas.openxmlformats.org/officeDocument/2006/relationships/notesSlide" Target="/ppt/notesSlides/notesSlide1.xml" Id="R1905f2ca9b334c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4aabbe5f3d4c28" /><Relationship Type="http://schemas.openxmlformats.org/officeDocument/2006/relationships/notesSlide" Target="/ppt/notesSlides/notesSlide2.xml" Id="R4bbe6639e5db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98076723ff47c6" /><Relationship Type="http://schemas.openxmlformats.org/officeDocument/2006/relationships/notesSlide" Target="/ppt/notesSlides/notesSlide3.xml" Id="Rfa0532cd956345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6fab535e214ea9" /><Relationship Type="http://schemas.openxmlformats.org/officeDocument/2006/relationships/image" Target="/ppt/media/image.jpeg" Id="R51238edfa0ba4fb5" /><Relationship Type="http://schemas.openxmlformats.org/officeDocument/2006/relationships/image" Target="/ppt/media/image2.jpeg" Id="R2d993f4f85f64318" /><Relationship Type="http://schemas.openxmlformats.org/officeDocument/2006/relationships/notesSlide" Target="/ppt/notesSlides/notesSlide4.xml" Id="R50bba385e60346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abceed13174009" /><Relationship Type="http://schemas.openxmlformats.org/officeDocument/2006/relationships/notesSlide" Target="/ppt/notesSlides/notesSlide5.xml" Id="R146d0a0a1f8b4a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3c66156ba743a0" /><Relationship Type="http://schemas.openxmlformats.org/officeDocument/2006/relationships/notesSlide" Target="/ppt/notesSlides/notesSlide6.xml" Id="R8cfc5e69ef194b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7990276a646da" /><Relationship Type="http://schemas.openxmlformats.org/officeDocument/2006/relationships/notesSlide" Target="/ppt/notesSlides/notesSlide7.xml" Id="R284f3bd6e2aa40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17c468a6e54600" /><Relationship Type="http://schemas.openxmlformats.org/officeDocument/2006/relationships/image" Target="/ppt/media/image3.jpeg" Id="Rd1b57bd5e6ed4ac2" /><Relationship Type="http://schemas.openxmlformats.org/officeDocument/2006/relationships/notesSlide" Target="/ppt/notesSlides/notesSlide8.xml" Id="Rccff00b415b549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1594b29484435f" /><Relationship Type="http://schemas.openxmlformats.org/officeDocument/2006/relationships/notesSlide" Target="/ppt/notesSlides/notesSlide9.xml" Id="R15a1fa21e7d34c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7e562b90ee47e0" /><Relationship Type="http://schemas.openxmlformats.org/officeDocument/2006/relationships/notesSlide" Target="/ppt/notesSlides/notesSlide10.xml" Id="Rc6222133214545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2BDBC-3E35-49B4-9024-6C621824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945C7-9555-4F2E-AC00-22816F74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AEE75-97E8-4864-9B48-E758D362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009B8-1468-4D7B-BCE4-F33D3382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F90E2-B1AD-4ACA-8BFC-5783D2E4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6ED55-32D1-4090-BB67-AFAEE31D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0044E-9E98-42EC-87D5-DF3441C7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B071B-ED2C-4AA6-9C17-D9EC605C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LESSON 07A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415FE-EC66-40FB-A6D4-ADE6417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01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8CA59-F616-4B44-80CC-06B97E23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Unity Shader 编程</a:t>
            </a:r>
          </a:p>
          <a:p xmlns:a="http://schemas.openxmlformats.org/drawingml/2006/main">
            <a:pPr algn="l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屏幕深度纹理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3A92E-7C14-42D3-A899-BD714FB9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533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FD9"/>
                </a:solidFill>
              </a:defRPr>
            </a:pPr>
            <a:r>
              <a:rPr sz="1650" b="0">
                <a:solidFill>
                  <a:srgbClr val="A8BFD9"/>
                </a:solidFill>
              </a:rPr>
              <a:t>这节课位于“深度测试”与 PoolWater 水面案例之间。</a:t>
            </a:r>
          </a:p>
          <a:p xmlns:a="http://schemas.openxmlformats.org/drawingml/2006/main">
            <a:pPr algn="l">
              <a:defRPr sz="1650" b="0">
                <a:solidFill>
                  <a:srgbClr val="A8BFD9"/>
                </a:solidFill>
              </a:defRPr>
            </a:pPr>
            <a:r>
              <a:rPr sz="1650" b="0">
                <a:solidFill>
                  <a:srgbClr val="A8BFD9"/>
                </a:solidFill>
              </a:rPr>
              <a:t>目标不是直接上水面，而是先把屏幕深度纹理讲透：它从哪里来、为什么要线性化、又是如何驱动实际特效的。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020D1-8464-4771-9C40-FE74B12B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24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E310F-373B-401E-9731-90C26CB0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2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6A1B4-2F0E-49A2-AD3B-449F4412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398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本节核心问题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8E767-D4D8-4295-A2AC-41EEC483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398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48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深度测试告诉我们“谁挡住谁”，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屏幕深度纹理则进一步让 Shader 读到这种前后关系，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并把它转化为颜色、泡沫、厚度与交界发光等视觉结果。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E1D98-5C25-4040-8211-D8A3843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71600"/>
            <a:ext cx="40957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4061D-8365-4FC0-8735-01EAE9BF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716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E3A11-AE6D-43C6-9AC1-695C576B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与 PoolWater 的关系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FF76E-1952-47E3-84C3-CFD12429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7528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PoolWater 不是凭空出现的。</a:t>
            </a:r>
          </a:p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它依赖三步过渡：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1. 先理解深度测试负责遮挡裁决</a:t>
            </a:r>
          </a:p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2. 再理解深度纹理如何被 Shader 读取</a:t>
            </a:r>
          </a:p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3. 最后才把深度差值转化为浅水色、深水色和泡沫边缘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所以本节是案例前最关键的铺垫课。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9B88F-85A8-4954-A904-C2DC38CD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2139396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818D6-4517-4A00-97DD-EE9C8DA1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C228B-A88D-4492-B2F3-B4A3AE91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8D997-CA33-4393-9EB3-3F458ABE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A629E-B34D-4617-B565-0879588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B5C04-50FF-4FBD-92C9-F6212DDC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B2D31-2624-4A56-AF5B-8B962AC4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5208E-8B02-4DC7-9ABB-2FF5FB0D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D26C5-1494-49EF-A770-55557ABE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A8FF"/>
                </a:solidFill>
              </a:defRPr>
            </a:pPr>
            <a:r>
              <a:rPr sz="1050" b="1">
                <a:solidFill>
                  <a:srgbClr val="8BA8FF"/>
                </a:solidFill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1D888-84AC-4D3F-9D3F-DF320F82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02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B9586-7C27-4286-93FA-DEFFE851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从深度测试过渡到深度纹理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921AD-E837-4F04-A6FB-FCFC19A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深度测试解决的是“可见性裁决”，深度纹理解决的是“把这份裁决结果读出来并继续利用”。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F6E13-8177-4F4D-8B3B-4701528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333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6888C-60B7-4F7A-A6D7-79DB38C6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B5AA6-9C79-497C-A849-2CE09BA5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深度缓冲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E0848-4496-4384-AAE2-62DA4785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9908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由 GPU 在渲染过程中维护。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主要职责是做深度测试，决定当前片元能不能留下来。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95E40-65A5-4EB1-AF9C-1E664BD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333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A7DAA-1F53-4C0A-B091-8EBD6AEB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6EEBB-1A44-4B7A-9DDC-50E9940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深度纹理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3A3E5-0E51-4646-9D8A-ED025864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9908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把场景深度结果提供成 Shader 可采样纹理。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一旦能采样，它就能从“规则”变成“参数”。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0F330-63E0-459D-A643-0B50FDE3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143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D8DFD-45B9-4363-B62B-D27B40E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47CCC-D4ED-4B41-B278-049B2C0A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教学结论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35075-A466-4DB7-8666-B6F07DCB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8003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深度缓冲负责遮挡裁决。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深度纹理负责把遮挡信息转化为可驱动效果的输入。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1C591-3C04-4314-B238-ECA316DB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243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3D13A-2C79-4B2E-92E1-5BDD32B8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475F8-4009-4CD3-BCFF-85DBDC0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243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345C4-B23D-4A16-864C-6B0F833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7FB55-D56A-4DFA-96F4-125DBEDB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7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8F9016-007E-4D2F-BEEB-21516F84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3923DE-EEC8-4801-B795-629C1EC0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1022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一句话记忆：Depth Buffer 负责决定谁能留下，Depth Texture 负责让 Shader 知道留下来的空间关系。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609E9E-5195-48A6-B8D2-399924A6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766579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3AC70-B289-4885-B065-0C0A0C8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ED612-44F9-4CDA-82DE-A1EA9570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F4D23-47F8-43D2-A0B1-803C310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09105-9C53-470E-A69D-7BB34841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2A28B-FED2-4482-BF2D-9C9F34B6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7F97C-D7F3-43A1-AEE6-A7C346B0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A59E4-4E23-4245-8E74-EC0093C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CBB15-9F00-4E64-BAFA-CB287C13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E1B5"/>
                </a:solidFill>
              </a:defRPr>
            </a:pPr>
            <a:r>
              <a:rPr sz="1050" b="1">
                <a:solidFill>
                  <a:srgbClr val="74E1B5"/>
                </a:solidFill>
              </a:rPr>
              <a:t>DEPTH BUFFER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D481B-51B9-4389-B5E1-190C8200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03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451D8-9561-4D55-B6E2-4D496956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什么是深度缓冲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19DCB-9EE4-4304-B4C3-4EBE94E5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每个屏幕像素不只存颜色，也会记录一个“当前最近深度”，它是 GPU 进行遮挡判断的基础。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816FE-0780-45C3-A183-AACF1011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32956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811A1-053D-4082-A72A-80C52E22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3295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0E12F-8C3E-44BD-92B4-0D5475DE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学生最该记住的点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4C4BE-47CD-4399-9617-F4396FC6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952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1. 深度缓冲主要服务于深度测试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2. 它在渲染时持续被更新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3. 更近的片元更容易把更远的片元挡住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4. 它首先是“规则系统”，不是“美术贴图”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0D807-F1C0-4DF2-89DB-FE247671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3048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715B7-39CA-47FD-8801-1079A515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24563-C430-472E-B6EB-E0E0A77C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典型误区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05B9C-0C73-4FCA-8346-47AE406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2705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很多同学会把深度问题误认为材质问题。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实际上，不透明物体的稳定前后关系首先来自深度缓冲，而不是来自 PBR 公式本身。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FBEF0-BA31-4280-B5E2-64393D40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6957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B8F5C-E32A-4774-95D2-AD75E0B1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69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9269F-F5B4-4405-A947-A4F8FD75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5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为什么这一步必须先懂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71731-9F74-4AFC-9B02-8C0BBCA7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33528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如果连深度缓冲都没理解，后面看到深度纹理时就很容易误会：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“是不是相机额外拍了一张灰度图？”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其实不是，它本质上仍然来自场景深度数据。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88A53-7E6B-42CB-A53A-49451047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2016064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0ABE2-691E-4C10-AD3F-3E5F03FF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DF170-59F3-4F31-86A3-ED0C9397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6B7C4-D598-40BC-8590-EC4B7C41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AFA49-4C35-4A61-943E-ECFFFD08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1E2EA-A59D-4643-880B-B89ECFE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9A10F-CB35-471F-B2C2-7B68C249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CA207-D154-4198-999D-21438816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D47A5-068A-4D68-88D7-FEF905D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F6A"/>
                </a:solidFill>
              </a:defRPr>
            </a:pPr>
            <a:r>
              <a:rPr sz="1050" b="1">
                <a:solidFill>
                  <a:srgbClr val="FFBF6A"/>
                </a:solidFill>
              </a:rPr>
              <a:t>DEPTH DISTRIBUTION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2DF83-B687-48E6-9935-9F3EB12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04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2AAF7-000F-41F3-9C72-53C684F8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为什么深度不是线性的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5F6BA-A0D4-44E1-BD14-C1CC073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投影变换会让近处深度分布更密集，远处深度分布更压缩，所以原始深度值并不等于“真实距离”。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BEBE4-8A83-41D3-8FBD-2D7B8362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4671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4FD44-B26B-444D-90BB-809279DA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4BD45-0ABE-4939-AAD0-B574BED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深度分布示意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7F47A-29E7-4735-8D60-8E58599C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31623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38edfa0ba4fb5"/>
          <a:stretch xmlns:a="http://schemas.openxmlformats.org/drawingml/2006/main"/>
        </p:blipFill>
        <p:spPr>
          <a:xfrm xmlns:a="http://schemas.openxmlformats.org/drawingml/2006/main">
            <a:off x="1092465" y="3162300"/>
            <a:ext cx="2958569" cy="1752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E3EEA-43F8-4BDC-9707-BBCDCE1A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3875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1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图例展示了深度精度在近裁面附近更密集，远处则压缩得更明显。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05802-849B-41B1-B101-144BF65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34671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F004D-C83B-4CAD-AEA4-D1C8250C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7B54C-4D46-444B-8453-F78F44A2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视锥体到裁剪空间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DFDD7-A624-4E89-BD43-04A435C4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31623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93f4f85f64318"/>
          <a:stretch xmlns:a="http://schemas.openxmlformats.org/drawingml/2006/main"/>
        </p:blipFill>
        <p:spPr>
          <a:xfrm xmlns:a="http://schemas.openxmlformats.org/drawingml/2006/main">
            <a:off x="4762500" y="3451748"/>
            <a:ext cx="3009900" cy="117370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012E2-AEAA-4512-9464-ED147C3E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3875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投影过程不是简单平移，而是把视锥体重新映射到规则空间。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BDD65-A07A-485E-A43E-34466B79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31813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7A38D-6D8D-415C-932A-00A7250D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3181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7E922-0554-4A61-A7A6-1BDF5257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194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工程意义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E890A5-DB6A-4073-AB5D-BF2601C1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8384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1. Near 不能随便设得过小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2. 远处更容易出现 Z-Fighting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3. Shader 中采样到的原始深度，通常要先线性化后再拿来做视觉运算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8A3C0-B3BF-45F6-9EB9-C5CABE75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2085056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1D899-0F81-4ED4-A775-CCEDAE21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55723-EAF3-440E-9666-FC6A7F41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A36F3-3A2C-4747-8D30-10C539C2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533BA-C38F-4AFC-BCB3-4025C6CE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6D151-D2E8-4E2F-A82F-4C6A2CE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71993-C55C-4038-A713-99BECC39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075E0-B009-4924-A3A7-A36614AD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BC870-44D8-41FE-AB2C-058412E1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F6A"/>
                </a:solidFill>
              </a:defRPr>
            </a:pPr>
            <a:r>
              <a:rPr sz="1050" b="1">
                <a:solidFill>
                  <a:srgbClr val="FFBF6A"/>
                </a:solidFill>
              </a:rPr>
              <a:t>LINEARIZATION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105D6-C1DE-4066-86D5-02C60037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05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2C7B6-ADFA-46CF-9DFF-F44073B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为什么要做线性化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1A956-5D2A-4911-B208-89C845FF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只有把原始深度恢复成更接近真实距离的线性深度，深度差值才更适合驱动颜色过渡和交界判断。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61A4F-AF59-42E9-988D-302104D7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5E00A-80EC-4F8A-9F2E-3AEFF73E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从非线性深度到线性深度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1721D-0255-484E-AD49-91156EB9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65A"/>
          </a:solidFill>
          <a:ln xmlns:a="http://schemas.openxmlformats.org/drawingml/2006/main" w="10478">
            <a:solidFill>
              <a:srgbClr val="5EA9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7A5CC-AB53-4A53-A5D0-8EEA332C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80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SampleSceneDepth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6426F-A103-4203-9C29-1CBBB234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052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100F5-3ED6-4B4B-961B-465708F9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6AEF6-08F3-4BB1-B12D-1658A11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004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3405B"/>
          </a:solidFill>
          <a:ln xmlns:a="http://schemas.openxmlformats.org/drawingml/2006/main" w="10478">
            <a:solidFill>
              <a:srgbClr val="8EAA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43A28-9C73-4A7D-B7B4-3A95B0B6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99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raw 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F93B2-9627-41B3-AC7F-8B820540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052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31F3A-23D2-4D77-AA25-E3B38D7C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98A94-A487-4885-BEB8-A8DC1DD3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04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4C331B"/>
          </a:solidFill>
          <a:ln xmlns:a="http://schemas.openxmlformats.org/drawingml/2006/main" w="10478">
            <a:solidFill>
              <a:srgbClr val="E5B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5025F-63AA-4D05-9B05-5490552C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LinearEyeDepth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D6F71-06FD-46EC-9DF9-8F659348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52006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ACFEC-409C-4BA5-B0F3-83359BB5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520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39E729-72AC-4B0E-B6D5-15ED0DCE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为什么必须线性化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5BF6D-549E-4048-820C-37DD9BC0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371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4F4"/>
                </a:solidFill>
              </a:defRPr>
            </a:pPr>
            <a:r>
              <a:rPr sz="1350" b="0">
                <a:solidFill>
                  <a:srgbClr val="D6E4F4"/>
                </a:solidFill>
              </a:rPr>
              <a:t>原始深度不是“真实距离”，而是经过投影压缩后的结果。</a:t>
            </a:r>
          </a:p>
          <a:p xmlns:a="http://schemas.openxmlformats.org/drawingml/2006/main">
            <a:pPr algn="l">
              <a:defRPr sz="1350" b="0">
                <a:solidFill>
                  <a:srgbClr val="D6E4F4"/>
                </a:solidFill>
              </a:defRPr>
            </a:pPr>
            <a:r>
              <a:rPr sz="1350" b="0">
                <a:solidFill>
                  <a:srgbClr val="D6E4F4"/>
                </a:solidFill>
              </a:rPr>
              <a:t>只有线性化之后，深度差值才更适合用来驱动颜色、泡沫和交界发光。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C9A2E-63E6-46C7-8B48-3D066CA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5372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A1527"/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CC71D8-AE00-48FB-920B-1ACEC8C9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537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4C1F8-3E42-4ACE-B8DF-DD100F1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E84"/>
          </a:solidFill>
          <a:ln xmlns:a="http://schemas.openxmlformats.org/drawingml/2006/main" w="0">
            <a:solidFill>
              <a:srgbClr val="F06E8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41918-21D3-4C0A-88F6-5176F523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FFBF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4C6400-1889-40CE-89C7-3C575C9F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74E1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21B1F-79EC-4187-B4B6-DCD791E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33675"/>
            <a:ext cx="445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CCE6"/>
                </a:solidFill>
              </a:defRPr>
            </a:pPr>
            <a:r>
              <a:rPr sz="1050" b="1">
                <a:solidFill>
                  <a:srgbClr val="B7CCE6"/>
                </a:solidFill>
              </a:rPr>
              <a:t>线性化关键代码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4EE78D-CDDA-4716-B9C0-CDC5B166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5029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float2 screenUV = screenPos.xy / screenPos.w;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sceneEyeDepth = LinearEyeDepth(rawDepth,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// sceneEyeDepth 才更接近真实可比较的距离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51C383-B805-4828-91F5-8747BF6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572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35CB0A-1E84-4536-817C-736418BC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830F18-D382-424A-8102-1447A205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95950"/>
            <a:ext cx="1022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课堂提示：不要把 SampleSceneDepth 读到的结果直接当成“真实距离”，这是本节最容易跳错的一步。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44F347-C31E-4798-8672-72ED513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86929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289B2-2C39-4FAF-B037-FC7FCBFC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8E33F-2084-4893-BACB-2265553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93598-CDB0-4FF3-8661-3A693D50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709CB-B8D6-4848-8C9C-334546E5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39A74-06DE-4D3B-8300-EF6D1B8B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A051A-9DEF-4D15-8090-126C0B90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1BC80-7B2D-4DF2-A6CC-5C9706FB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A816D-6B1E-49F5-A89C-F7DB3A4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SCREEN UV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2F0C8-2577-4340-8EFD-795B2A4A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06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3DD20-ABC6-4B0A-AEF6-BFBF7A4C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屏幕坐标如何采样深度纹理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0095F-5106-4B0F-AF16-421DF1E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要读深度纹理，先要知道当前片元在屏幕上的位置，这就是 ComputeScreenPos 和 screenUV 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08FF3-396E-4036-9BF2-B3937FA3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E0C6C-AB93-4E4E-AD5D-E0D426CA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39704-D987-4825-AE10-9A269994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87ABC-9735-4E93-A698-F12BB6C8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1. ComputeScreenPos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EAACD-28B4-4F93-9705-69076D2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A4C0"/>
                </a:solidFill>
              </a:defRPr>
            </a:pPr>
            <a:r>
              <a:rPr sz="900" b="0">
                <a:solidFill>
                  <a:srgbClr val="8CA4C0"/>
                </a:solidFill>
              </a:rPr>
              <a:t>把当前片元投影到屏幕坐标系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783CC-B66A-4E1A-9DD7-1A50F31B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119E3-AC7C-45A9-994F-C8CA7423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051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221C8-1FFD-428B-AFC9-09E2D0D5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20D2A-8AD6-4C04-AF92-283364FA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44A54-7C76-47EC-8FB6-D8E048DA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309E1-21D2-4C02-BECE-07F0AD90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2. SampleSceneDepth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D82C4-965B-437B-97AE-6D77F1DC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A4C0"/>
                </a:solidFill>
              </a:defRPr>
            </a:pPr>
            <a:r>
              <a:rPr sz="900" b="0">
                <a:solidFill>
                  <a:srgbClr val="8CA4C0"/>
                </a:solidFill>
              </a:rPr>
              <a:t>从相机深度纹理读取后方场景深度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4BCA79-A7F0-40C7-B1EF-5A8AD107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671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EBDD46-74D1-4BC6-85AF-A50DFAEC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F5FD4-1206-4923-B08C-B39D8F7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E6294-DDDB-44CE-952C-3818FE71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E64CC-E3BF-4F67-A568-6E6BE399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02971-4B7B-486E-8BBA-ED00EC5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3. LinearEyeDepth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80F26-459F-4F2E-A8EA-60C4EB4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A4C0"/>
                </a:solidFill>
              </a:defRPr>
            </a:pPr>
            <a:r>
              <a:rPr sz="900" b="0">
                <a:solidFill>
                  <a:srgbClr val="8CA4C0"/>
                </a:solidFill>
              </a:rPr>
              <a:t>把原始深度转换成线性距离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69B4DF-63E9-4F9D-81CA-DE63B8F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053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CCDCA-C074-4BA8-B3FA-5322F97A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815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D7021C-C3B4-4537-A633-C85DDC3C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2F4863-51FB-4B8C-BDD0-F27423E0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E8F1E9-430F-48FE-AB0E-E2DF1628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39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118C78-D460-4690-BD20-A72DF89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4. Depth Difference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A51A3B-269B-4B7D-B428-741FB759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A4C0"/>
                </a:solidFill>
              </a:defRPr>
            </a:pPr>
            <a:r>
              <a:rPr sz="900" b="0">
                <a:solidFill>
                  <a:srgbClr val="8CA4C0"/>
                </a:solidFill>
              </a:rPr>
              <a:t>场景深度减去当前表面深度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E3CCDB-33B1-44DE-9FB2-7DAF2E7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435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54E7E0-CDD6-47F0-9845-27F7979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8599E8-036B-4A59-82AE-BD5460E9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30C1D5-156B-45BB-BB8E-E261FBEE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1BF71E-0DFF-40C1-B31D-0C36E9D8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721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D23D62-393B-4D46-B97D-1E3D9E9D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5. Drive Result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5C8981-DD54-4123-90DD-907AE5C7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769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A4C0"/>
                </a:solidFill>
              </a:defRPr>
            </a:pPr>
            <a:r>
              <a:rPr sz="900" b="0">
                <a:solidFill>
                  <a:srgbClr val="8CA4C0"/>
                </a:solidFill>
              </a:rPr>
              <a:t>驱动浅水色、泡沫和交界发光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365065-3811-4623-A5B0-AA1602CB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34861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0A1527"/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1750F9-CA3B-42CF-B668-A50C1E79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3486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203A05-2818-4D13-A127-4D11ED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E84"/>
          </a:solidFill>
          <a:ln xmlns:a="http://schemas.openxmlformats.org/drawingml/2006/main" w="0">
            <a:solidFill>
              <a:srgbClr val="F06E8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9D009D-1A9D-494D-A04B-CF8C5CCB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FFBF6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039543-CA9C-47FC-A3CC-DF14918A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74E1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064F17-F3F5-46FD-9192-DA975B4A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622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CCE6"/>
                </a:solidFill>
              </a:defRPr>
            </a:pPr>
            <a:r>
              <a:rPr sz="1050" b="1">
                <a:solidFill>
                  <a:srgbClr val="B7CCE6"/>
                </a:solidFill>
              </a:rPr>
              <a:t>屏幕采样路径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B07C69-8850-439A-9C73-46AAE54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3143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output.screenPos = ComputeScreenPos(positionCS);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sceneEyeDepth = LinearEyeDepth(rawDepth, _ZBufferParams);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1ED104-49BF-43A7-9BD0-4785CAC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2575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A067DF-ECCE-4BD5-B0E3-4D6B378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9A7584-EDA7-4CF4-8003-58654B8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怎么讲得深入浅出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822C17-CE2F-4E38-9801-1FA57FE0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9146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可以把它理解为：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先找到“当前片元投影到屏幕上的坐标”，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再去深度纹理中查询“这个屏幕位置后面最近的场景表面有多远”。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9D6871-C38E-40FD-87D3-AEBC3826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213112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A59BD-CF88-485A-91DF-078228F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7C140-3016-45BD-8454-03708DC9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19174-C144-4AB2-94BC-288AEDE1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75208-8056-420D-BA9C-65099088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24335-238C-485F-883F-E3529894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D998E-FB9B-450E-9996-6DA2D30B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24FD5-AA92-4102-858D-45D16922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91CF7-65AD-4AF4-8E60-0B1684FC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E1B5"/>
                </a:solidFill>
              </a:defRPr>
            </a:pPr>
            <a:r>
              <a:rPr sz="1050" b="1">
                <a:solidFill>
                  <a:srgbClr val="74E1B5"/>
                </a:solidFill>
              </a:rPr>
              <a:t>DEPTH 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16C56-3CCC-4187-9D88-B72795D5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07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C4A4F-3A09-432E-A2B6-F2045D8E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深度差值为什么能驱动特效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D2172-C9AB-4189-AEF2-25A72F73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场景深度减去当前表面深度，得到的就是“当前表面与后方场景之间的空间厚度”。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C4588-FFB3-4257-BF82-DF6974F7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295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AD04A-696E-461E-B300-56FAB215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295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67BE8-066E-4257-A268-7A168974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公式本质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DD940-663C-4034-83D1-56F8F347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952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Depth Difference = Scene Depth - Surface 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差值小：靠近后方几何体</a:t>
            </a:r>
          </a:p>
          <a:p xmlns:a="http://schemas.openxmlformats.org/drawingml/2006/main">
            <a:pPr algn="l">
              <a:defRPr sz="1650" b="0">
                <a:solidFill>
                  <a:srgbClr val="D6E4F4"/>
                </a:solidFill>
              </a:defRPr>
            </a:pPr>
            <a:r>
              <a:rPr sz="1650" b="0">
                <a:solidFill>
                  <a:srgbClr val="D6E4F4"/>
                </a:solidFill>
              </a:rPr>
              <a:t>差值大：后方还有更多空间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B8AEB-DF19-4CC0-B3D5-F962DDD1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295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E34F0-0160-47C9-BC85-E45E9DC8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295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2A7E4-C427-437E-8894-7E43D6A5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直接能做什么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2B347-2441-445B-ABF4-D902E17A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952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1. 水体厚度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2. 浅水与深水颜色过渡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3. 岸边或碰撞边缘泡沫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4. 护盾贴墙发光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5. 软粒子与地面融合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6BB51-1904-4288-8B69-1EC4A9FC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4480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F1F1A-473A-43CB-B446-FAC84BF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448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1E53F-F4F6-49F2-AEF1-A8D3455E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和学生说清楚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E2288-AF9A-401D-BA21-74AF9E89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3105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深度纹理不是“把颜色变灰了再拿来用”。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它记录的是空间前后关系，真正强大的地方在于：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我们可以把这种空间关系翻译成美术可感知的结果。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B41DF-171A-4A63-8A8A-66B2B52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496122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10DB-56DF-4A71-B24E-895C092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830CE-2695-45AC-B6C6-7F51846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B1E27-6098-45BA-8EB0-DBE99F12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0E7E1-0D5B-4FBA-A1F3-FF363F20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538A8-C5E4-479C-9656-060C4CCE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F3FFA-DB09-400F-9A65-C3D2A81A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03A62-94E1-4538-B33E-5659F19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93CEA-4876-4DE9-88A8-78600CD4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A8FF"/>
                </a:solidFill>
              </a:defRPr>
            </a:pPr>
            <a:r>
              <a:rPr sz="1050" b="1">
                <a:solidFill>
                  <a:srgbClr val="8BA8FF"/>
                </a:solidFill>
              </a:rPr>
              <a:t>POOL WATER PRELUDE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24DCC-598C-46F8-B8DA-B79E279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08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FFCFC-25A4-4E1F-A6B0-731D5BCA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为什么 PoolWater 会用到屏幕深度纹理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99319-1CEC-48CE-BD06-A56956C5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到了水面案例，屏幕深度纹理不再只是概念，而是直接参与颜色过渡、泡沫边缘和空间厚度判断。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6DC95-2E1C-49F5-AFEC-131B93EA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6291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29062-E4F4-470E-9E51-3686ADC5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62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C088D-E8A6-4A60-93B2-97C6B734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PoolWater 参考图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D4AB8-952A-4BBC-AB76-1139488C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3243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57bd5e6ed4ac2"/>
          <a:stretch xmlns:a="http://schemas.openxmlformats.org/drawingml/2006/main"/>
        </p:blipFill>
        <p:spPr>
          <a:xfrm xmlns:a="http://schemas.openxmlformats.org/drawingml/2006/main">
            <a:off x="1408575" y="3124200"/>
            <a:ext cx="3488400" cy="18288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6E03B-56A2-4354-B6AE-0F3A08E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768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这类效果的关键不只是 PBR，而是“深度差值先决定水体厚度，再交给材质逻辑表现”。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3007A-4636-4333-9870-E4937C4C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28900"/>
            <a:ext cx="56769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4E14F-BC69-42A0-818E-2F20114F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28900"/>
            <a:ext cx="567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EE56E-D9F2-45B3-AC2D-D19D274C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自然过渡到案例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C10D8-0717-47E4-8B06-0AA65BD3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PoolWater 的逻辑链条可以拆成四步：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1. 用 screenUV 去采样场景深度纹理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2. 用 LinearEyeDepth 得到可比较的线性深度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3. 和当前水面自身深度做差，得到水下厚度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4. 用这个厚度驱动浅水色、深水色、泡沫边缘、交界亮带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所以本节不是偏题，而是在给后续案例“搭桥”。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858BC-6E4F-4488-A03D-FCB8BBE4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434903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E3B1E-3053-4B62-982C-06DE8EC9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82288-B880-4EF8-8EDD-80FD3B2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50F5F-5B86-4295-A633-E9483650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4434B-E518-45AB-89A0-293315C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5900F-CE35-41BF-8F51-062A86B8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BE4FD-92BE-4F1C-89BF-0D11F48B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11D12-A3E8-4DE4-B7B0-3902DA9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EA237-3DC7-40DF-8BCD-21B7621E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E84"/>
                </a:solidFill>
              </a:defRPr>
            </a:pPr>
            <a:r>
              <a:rPr sz="1050" b="1">
                <a:solidFill>
                  <a:srgbClr val="F06E84"/>
                </a:solidFill>
              </a:rPr>
              <a:t>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CE57B-8E36-4D08-99AF-F5C231B1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09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F5E4F-3655-4955-A6A8-4FD2F990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案例脚本中的深度纹理重点代码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9D82E-EE4C-4902-9310-7CC0442E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这页要帮助学生看到：深度纹理不是孤立概念，而是已经落在实际 URP Shader 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91308-2EB2-4A5C-ADE3-A43DBBCE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334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A1527"/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B4B59-D1C1-4FB1-9069-A7FFFDA6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DDAF4-66EF-498B-90D6-1A32897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E84"/>
          </a:solidFill>
          <a:ln xmlns:a="http://schemas.openxmlformats.org/drawingml/2006/main" w="0">
            <a:solidFill>
              <a:srgbClr val="F06E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C76C8-ABD5-4D17-8D41-D494596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FFBF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8FF89-7D2A-4A0D-9E27-27204070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74E1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6E3FF-4CA1-4650-B1F1-4D5A05FA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57475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CCE6"/>
                </a:solidFill>
              </a:defRPr>
            </a:pPr>
            <a:r>
              <a:rPr sz="1050" b="1">
                <a:solidFill>
                  <a:srgbClr val="B7CCE6"/>
                </a:solidFill>
              </a:rPr>
              <a:t>DepthPool_Water_Demo.shader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36068-3A72-4D19-B0E5-F9216175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9911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sampledSceneDepth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sceneEyeDepth = LinearEyeDepth(sampledSceneDepth,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 depthDifference = max(sceneEyeDepth - input.waterEyeDepth, 0.0h);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depthLerp = saturate(depthDifference / max(_DepthDistance, 0.0001h));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foamRange = saturate(depthDifference / max(_FoamDistance, 0.0001h));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BCDC8-0C67-434E-8FDD-D3BC063F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9339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91CCB-9DE7-4816-BB86-4139467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93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EA71D-FDDB-480B-B50C-893B85F3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459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逐行讲解建议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36BF2-77F2-4B26-9A1A-360CD736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45910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1. `screenUV`：找到当前片元在屏幕上的采样坐标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2. `SampleSceneDepth`：读取后方场景深度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3. `LinearEyeDepth`：还原为更适合比较的线性深度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4. `depthDifference`：得到水面到底部之间的厚度</a:t>
            </a:r>
          </a:p>
          <a:p xmlns:a="http://schemas.openxmlformats.org/drawingml/2006/main">
            <a:pPr algn="l">
              <a:defRPr sz="1425" b="0">
                <a:solidFill>
                  <a:srgbClr val="D6E4F4"/>
                </a:solidFill>
              </a:defRPr>
            </a:pPr>
            <a:r>
              <a:rPr sz="1425" b="0">
                <a:solidFill>
                  <a:srgbClr val="D6E4F4"/>
                </a:solidFill>
              </a:rPr>
              <a:t>5. `depthLerp / foamRange`：把厚度继续翻译成颜色和泡沫参数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153A2-7752-4A94-85CA-CE087752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55349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6271B-E79C-40D7-A943-0781C02A6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7586D-3497-473C-A0CB-F5960B79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6BE18-5BC1-476D-A2C8-B32734D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35797-F89D-465B-A079-53D312C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22230-D711-469F-81FD-2417392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B50A7-2B59-4A05-8833-BFF9AB99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52098-B244-43A5-829D-296D5719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06D46-D6A7-4091-839C-C24BFA78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7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A3A8F-EBC6-4320-87C2-A36989DF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WRAP-UP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2A5CE-054D-4BCE-9D35-DAF7182B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10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8C5A4-CF57-4C40-9257-8791F5B6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小结与练习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B49F2-6C11-48E0-B892-841F1A2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4C0"/>
                </a:solidFill>
              </a:defRPr>
            </a:pPr>
            <a:r>
              <a:rPr sz="1350" b="0">
                <a:solidFill>
                  <a:srgbClr val="8CA4C0"/>
                </a:solidFill>
              </a:rPr>
              <a:t>把“深度缓冲、深度纹理、线性化、屏幕采样、案例落地”真正串成一个可解释的知识链条。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7C31B-146F-4825-A05C-148F002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57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CD0EE-3166-4D90-B37C-961184F4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5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007FD-AB6E-4CCA-82A6-522680C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1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本章三句话总结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D5658-EBAF-48E2-A5E7-B987DCC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5148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1. 深度缓冲负责遮挡裁决。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2. 深度纹理让 Shader 能主动读取场景深度。</a:t>
            </a:r>
          </a:p>
          <a:p xmlns:a="http://schemas.openxmlformats.org/drawingml/2006/main">
            <a:pPr algn="l">
              <a:defRPr sz="1575" b="0">
                <a:solidFill>
                  <a:srgbClr val="D6E4F4"/>
                </a:solidFill>
              </a:defRPr>
            </a:pPr>
            <a:r>
              <a:rPr sz="1575" b="0">
                <a:solidFill>
                  <a:srgbClr val="D6E4F4"/>
                </a:solidFill>
              </a:rPr>
              <a:t>3. 深度差值把空间关系转成可驱动的视觉参数。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C9FEB-EF88-4328-B19A-68020656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4292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7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5322F-918B-4D12-B247-F2893D6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1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A64D9-2FAB-46F9-88F1-FE4FD49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76550"/>
            <a:ext cx="508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EC2E1-36A3-4FB1-92F7-495E05C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50863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练习 A：观察 Near / Far 调整后，深度效果是否更稳定。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练习 B：修改 `_DepthDistance`，观察浅水与深水过渡范围。</a:t>
            </a:r>
          </a:p>
          <a:p xmlns:a="http://schemas.openxmlformats.org/drawingml/2006/main">
            <a:pPr algn="l">
              <a:defRPr sz="1500" b="0">
                <a:solidFill>
                  <a:srgbClr val="D6E4F4"/>
                </a:solidFill>
              </a:defRPr>
            </a:pPr>
            <a:r>
              <a:rPr sz="1500" b="0">
                <a:solidFill>
                  <a:srgbClr val="D6E4F4"/>
                </a:solidFill>
              </a:rPr>
              <a:t>练习 C：修改 `_FoamDistance`，观察泡沫边缘如何随厚度变化。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B1D56-DF05-4B24-8D54-1BFE38A3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57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7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3DC6D-7364-423D-8AE8-916F24DC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B4C5B-5E7C-4B0E-AE2A-15D0E47B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00700"/>
            <a:ext cx="1022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下一节进入 PoolWater 时，学生只需要把重心放在“如何把深度差值变成更完整的水体表现”，不会再被深度纹理原理本身绊住。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EB1D0-5653-49CA-BB32-B28BF95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Unity Manual: Camera's Depth Texture | LearnOpenGL: Depth testing | Assets/ShaderCourse/Example/DepthTestURP/Shaders/ScreenDepthTexture_Debug.shader | Assets/ShaderCourse/Example/DepthTestURP/Shaders/DepthPool_Water_Demo.shader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891993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2026-04-20T03:59:24.0820000Z</dcterms:created>
  <dcterms:modified xsi:type="dcterms:W3CDTF">2026-04-20T03:59:24.0820000Z</dcterms:modified>
</coreProperties>
</file>
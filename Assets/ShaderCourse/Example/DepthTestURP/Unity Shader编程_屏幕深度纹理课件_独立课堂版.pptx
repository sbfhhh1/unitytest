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6ebe33f1964af2" /><Relationship Type="http://schemas.openxmlformats.org/officeDocument/2006/relationships/extended-properties" Target="/docProps/app.xml" Id="Rc9a0772216924a98" /><Relationship Type="http://schemas.openxmlformats.org/officeDocument/2006/relationships/officeDocument" Target="/ppt/presentation.xml" Id="Rbfba52a7a3bd41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c9def42278499c"/>
  </p:sldMasterIdLst>
  <p:notesMasterIdLst>
    <p:notesMasterId xmlns:r="http://schemas.openxmlformats.org/officeDocument/2006/relationships" r:id="R030983143b994a2a"/>
  </p:notesMasterIdLst>
  <p:sldIdLst>
    <p:sldId xmlns:r="http://schemas.openxmlformats.org/officeDocument/2006/relationships" id="256" r:id="Rf52f75452e6d4b2f"/>
    <p:sldId xmlns:r="http://schemas.openxmlformats.org/officeDocument/2006/relationships" id="257" r:id="R87fa68b998374dfc"/>
    <p:sldId xmlns:r="http://schemas.openxmlformats.org/officeDocument/2006/relationships" id="258" r:id="R65748a58a2b849d4"/>
    <p:sldId xmlns:r="http://schemas.openxmlformats.org/officeDocument/2006/relationships" id="259" r:id="R5e97c8169b8840f7"/>
    <p:sldId xmlns:r="http://schemas.openxmlformats.org/officeDocument/2006/relationships" id="260" r:id="Rfcda1102ebf248ae"/>
    <p:sldId xmlns:r="http://schemas.openxmlformats.org/officeDocument/2006/relationships" id="261" r:id="Rdd4180b32c2f4166"/>
    <p:sldId xmlns:r="http://schemas.openxmlformats.org/officeDocument/2006/relationships" id="262" r:id="R8171efb9de964799"/>
    <p:sldId xmlns:r="http://schemas.openxmlformats.org/officeDocument/2006/relationships" id="263" r:id="Rfaed5c42b0df44ca"/>
    <p:sldId xmlns:r="http://schemas.openxmlformats.org/officeDocument/2006/relationships" id="264" r:id="Rd48ca7bd4f3a4426"/>
    <p:sldId xmlns:r="http://schemas.openxmlformats.org/officeDocument/2006/relationships" id="265" r:id="R8753c895d1f84f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9def42278499c" /><Relationship Type="http://schemas.openxmlformats.org/officeDocument/2006/relationships/theme" Target="/ppt/theme/theme1.xml" Id="Rd9583d12dde64913" /><Relationship Type="http://schemas.openxmlformats.org/officeDocument/2006/relationships/notesMaster" Target="/ppt/notesMasters/notesMaster1.xml" Id="R030983143b994a2a" /><Relationship Type="http://schemas.openxmlformats.org/officeDocument/2006/relationships/presProps" Target="/ppt/presProps.xml" Id="Rd13088e520f24947" /><Relationship Type="http://schemas.openxmlformats.org/officeDocument/2006/relationships/viewProps" Target="/ppt/viewProps.xml" Id="R7c0c9bc884634f9c" /><Relationship Type="http://schemas.openxmlformats.org/officeDocument/2006/relationships/tableStyles" Target="/ppt/tableStyles.xml" Id="R9d25973bd67a455a" /><Relationship Type="http://schemas.openxmlformats.org/officeDocument/2006/relationships/slide" Target="/ppt/slides/slide1.xml" Id="Rf52f75452e6d4b2f" /><Relationship Type="http://schemas.openxmlformats.org/officeDocument/2006/relationships/slide" Target="/ppt/slides/slide2.xml" Id="R87fa68b998374dfc" /><Relationship Type="http://schemas.openxmlformats.org/officeDocument/2006/relationships/slide" Target="/ppt/slides/slide3.xml" Id="R65748a58a2b849d4" /><Relationship Type="http://schemas.openxmlformats.org/officeDocument/2006/relationships/slide" Target="/ppt/slides/slide4.xml" Id="R5e97c8169b8840f7" /><Relationship Type="http://schemas.openxmlformats.org/officeDocument/2006/relationships/slide" Target="/ppt/slides/slide5.xml" Id="Rfcda1102ebf248ae" /><Relationship Type="http://schemas.openxmlformats.org/officeDocument/2006/relationships/slide" Target="/ppt/slides/slide6.xml" Id="Rdd4180b32c2f4166" /><Relationship Type="http://schemas.openxmlformats.org/officeDocument/2006/relationships/slide" Target="/ppt/slides/slide7.xml" Id="R8171efb9de964799" /><Relationship Type="http://schemas.openxmlformats.org/officeDocument/2006/relationships/slide" Target="/ppt/slides/slide8.xml" Id="Rfaed5c42b0df44ca" /><Relationship Type="http://schemas.openxmlformats.org/officeDocument/2006/relationships/slide" Target="/ppt/slides/slide9.xml" Id="Rd48ca7bd4f3a4426" /><Relationship Type="http://schemas.openxmlformats.org/officeDocument/2006/relationships/slide" Target="/ppt/slides/slide10.xml" Id="R8753c895d1f84f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0091edffa224f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01f23ff33648bc" /><Relationship Type="http://schemas.openxmlformats.org/officeDocument/2006/relationships/notesMaster" Target="/ppt/notesMasters/notesMaster1.xml" Id="R49f801c3698a46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6ab5314e58493d" /><Relationship Type="http://schemas.openxmlformats.org/officeDocument/2006/relationships/notesMaster" Target="/ppt/notesMasters/notesMaster1.xml" Id="Rf88e64fe578645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84b6527548463a" /><Relationship Type="http://schemas.openxmlformats.org/officeDocument/2006/relationships/notesMaster" Target="/ppt/notesMasters/notesMaster1.xml" Id="Rd974d45383eb47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04a8edaf8349fa" /><Relationship Type="http://schemas.openxmlformats.org/officeDocument/2006/relationships/notesMaster" Target="/ppt/notesMasters/notesMaster1.xml" Id="R2d9124d233e243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608a89fc9a40e3" /><Relationship Type="http://schemas.openxmlformats.org/officeDocument/2006/relationships/notesMaster" Target="/ppt/notesMasters/notesMaster1.xml" Id="R539a0e716cce47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2a56d83ecb4cd1" /><Relationship Type="http://schemas.openxmlformats.org/officeDocument/2006/relationships/notesMaster" Target="/ppt/notesMasters/notesMaster1.xml" Id="R781c3c4b0d1d4c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486020a8d943b5" /><Relationship Type="http://schemas.openxmlformats.org/officeDocument/2006/relationships/notesMaster" Target="/ppt/notesMasters/notesMaster1.xml" Id="Rcafd715f276444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58fad00b8549d5" /><Relationship Type="http://schemas.openxmlformats.org/officeDocument/2006/relationships/notesMaster" Target="/ppt/notesMasters/notesMaster1.xml" Id="R326f1482ee3447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b26b3004bb4784" /><Relationship Type="http://schemas.openxmlformats.org/officeDocument/2006/relationships/notesMaster" Target="/ppt/notesMasters/notesMaster1.xml" Id="Rf3d1db9839de4b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83e6b0a9e74c57" /><Relationship Type="http://schemas.openxmlformats.org/officeDocument/2006/relationships/notesMaster" Target="/ppt/notesMasters/notesMaster1.xml" Id="Rd59af408f93147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9b1186db349f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0F6897B4-04F7-412A-81C8-2283DA43F351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77C9E313-B713-46A5-AD37-E5CB256F0D19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44972B-4C90-42E2-B950-A392DD6BC8A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3CB9EE2-96B4-481D-B20F-2D9E16573EE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50C347-A1FF-4295-AF13-EC5A9AD3BF9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722c464a0374ddd" /><Relationship Type="http://schemas.openxmlformats.org/officeDocument/2006/relationships/slideLayout" Target="/ppt/slideLayouts/slideLayout2.xml" Id="Rf3685ddad6a841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1334F0-03E2-4882-85C1-B59D0607164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685ddad6a841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420cb368a346d9" /><Relationship Type="http://schemas.openxmlformats.org/officeDocument/2006/relationships/notesSlide" Target="/ppt/notesSlides/notesSlide1.xml" Id="R92c49b8cf4fb45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8c0d4c71144ffd" /><Relationship Type="http://schemas.openxmlformats.org/officeDocument/2006/relationships/image" Target="/ppt/media/image.jpeg" Id="R12101600cf034e02" /><Relationship Type="http://schemas.openxmlformats.org/officeDocument/2006/relationships/notesSlide" Target="/ppt/notesSlides/notesSlide2.xml" Id="R8f96ee1dfae944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a5aaa546bc4365" /><Relationship Type="http://schemas.openxmlformats.org/officeDocument/2006/relationships/image" Target="/ppt/media/image.png" Id="R6c045e3e85324803" /><Relationship Type="http://schemas.openxmlformats.org/officeDocument/2006/relationships/notesSlide" Target="/ppt/notesSlides/notesSlide3.xml" Id="R732a26ec042f49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d6483c03d0454c" /><Relationship Type="http://schemas.openxmlformats.org/officeDocument/2006/relationships/image" Target="/ppt/media/image2.jpeg" Id="Rdcee479b50014858" /><Relationship Type="http://schemas.openxmlformats.org/officeDocument/2006/relationships/image" Target="/ppt/media/image3.jpeg" Id="Rc7c903b180bf479e" /><Relationship Type="http://schemas.openxmlformats.org/officeDocument/2006/relationships/notesSlide" Target="/ppt/notesSlides/notesSlide4.xml" Id="R34f0272eb2274f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4b086756be4dcb" /><Relationship Type="http://schemas.openxmlformats.org/officeDocument/2006/relationships/notesSlide" Target="/ppt/notesSlides/notesSlide5.xml" Id="Rd6ed2c60dbe347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9ca4f5dda24e4b" /><Relationship Type="http://schemas.openxmlformats.org/officeDocument/2006/relationships/notesSlide" Target="/ppt/notesSlides/notesSlide6.xml" Id="R931d40eab1ca46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f56975568542ad" /><Relationship Type="http://schemas.openxmlformats.org/officeDocument/2006/relationships/image" Target="/ppt/media/image4.jpeg" Id="Rc65fb167f0f34028" /><Relationship Type="http://schemas.openxmlformats.org/officeDocument/2006/relationships/notesSlide" Target="/ppt/notesSlides/notesSlide7.xml" Id="Rde482a77f80545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08c6d2e62b455b" /><Relationship Type="http://schemas.openxmlformats.org/officeDocument/2006/relationships/image" Target="/ppt/media/image5.jpeg" Id="R7c8e355559414a1d" /><Relationship Type="http://schemas.openxmlformats.org/officeDocument/2006/relationships/notesSlide" Target="/ppt/notesSlides/notesSlide8.xml" Id="R37eba553767e40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614ee9515f4468" /><Relationship Type="http://schemas.openxmlformats.org/officeDocument/2006/relationships/notesSlide" Target="/ppt/notesSlides/notesSlide9.xml" Id="R4c541c484c6141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923baea27b4071" /><Relationship Type="http://schemas.openxmlformats.org/officeDocument/2006/relationships/notesSlide" Target="/ppt/notesSlides/notesSlide10.xml" Id="Rfdc17263c8f146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50C347-A1FF-4295-AF13-EC5A9AD3BF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9DAD7-A389-4CFC-87C5-326D01FC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5CB7E-C610-4B23-B6E6-5674459B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8C6C4-FDD7-4D59-8F1A-3A94B24A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70EAD-74A7-4B3A-9362-3936B5E4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014A9-5171-4F8B-9125-0FCC5848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293EC-CE9B-4C27-838B-A7B84623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2CC13-F343-4AE6-91BF-10D83CB3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LESSON 07A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50825-3BF1-4490-B663-074EEDC0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CB22E-39C3-4474-A463-81F8214E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01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24B72-F7F7-4C14-8AA7-F8957579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AFF"/>
                </a:solidFill>
              </a:defRPr>
            </a:pPr>
            <a:r>
              <a:rPr sz="3600" b="1">
                <a:solidFill>
                  <a:srgbClr val="F5FAFF"/>
                </a:solidFill>
              </a:rPr>
              <a:t>Unity Shader 编程</a:t>
            </a:r>
          </a:p>
          <a:p xmlns:a="http://schemas.openxmlformats.org/drawingml/2006/main">
            <a:pPr algn="l">
              <a:defRPr sz="3600" b="1">
                <a:solidFill>
                  <a:srgbClr val="F5FAFF"/>
                </a:solidFill>
              </a:defRPr>
            </a:pPr>
            <a:r>
              <a:rPr sz="3600" b="1">
                <a:solidFill>
                  <a:srgbClr val="F5FAFF"/>
                </a:solidFill>
              </a:rPr>
              <a:t>屏幕深度纹理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29930-3A09-4BF6-9D78-FF0C0559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372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55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C4DD"/>
                </a:solidFill>
              </a:defRPr>
            </a:pPr>
            <a:r>
              <a:rPr sz="1650" b="0">
                <a:solidFill>
                  <a:srgbClr val="AEC4DD"/>
                </a:solidFill>
              </a:rPr>
              <a:t>本节是“深度测试”之后的一节独立课程。</a:t>
            </a:r>
          </a:p>
          <a:p xmlns:a="http://schemas.openxmlformats.org/drawingml/2006/main">
            <a:pPr algn="l">
              <a:defRPr sz="1650" b="0">
                <a:solidFill>
                  <a:srgbClr val="AEC4DD"/>
                </a:solidFill>
              </a:defRPr>
            </a:pPr>
            <a:r>
              <a:rPr sz="1650" b="0">
                <a:solidFill>
                  <a:srgbClr val="AEC4DD"/>
                </a:solidFill>
              </a:rPr>
              <a:t>对应案例脚本是护盾效果：ScreenDepthTexture_Debug.shader。</a:t>
            </a:r>
          </a:p>
          <a:p xmlns:a="http://schemas.openxmlformats.org/drawingml/2006/main">
            <a:pPr algn="l">
              <a:defRPr sz="1650" b="0">
                <a:solidFill>
                  <a:srgbClr val="AEC4DD"/>
                </a:solidFill>
              </a:defRPr>
            </a:pPr>
            <a:r>
              <a:rPr sz="1650" b="0">
                <a:solidFill>
                  <a:srgbClr val="AEC4DD"/>
                </a:solidFill>
              </a:rPr>
              <a:t>目标是把屏幕深度纹理的读取、线性化、比较与视觉驱动完整讲透，让学生真正理解它为什么能做出交界发光与空间厚度感。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B868B-80DD-4301-A762-CF928CD7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419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7350E-C9AE-42CB-9090-FE49E9DC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41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95694-A6DE-4A3D-B8F9-180B2F35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07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本节核心问题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8E9C6-FC1D-4122-8117-379A7139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4076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46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深度测试负责判断谁挡住谁，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而屏幕深度纹理让 Shader 能把这种前后关系读出来，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再转成颜色过渡、厚度感、交界发光和空间分层等视觉结果。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44EBC-4D77-44C0-9E9A-1E1D05EF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09700"/>
            <a:ext cx="42100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C9A16-A7CE-4021-804D-7D1C8F6F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09700"/>
            <a:ext cx="421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BD813-E2E6-4A38-88D6-C7753463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43050"/>
            <a:ext cx="386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主案例定位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BEB720-E618-4FA6-964A-FC6EF569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47850"/>
            <a:ext cx="38671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主案例：ScreenDepthTexture_Debug.shader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它把三件事直接讲清楚：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1. 如何采样场景深度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2. 如何得到当前护盾自身深度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3. 如何用深度差值驱动护盾效果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790C1-3F08-4E9F-B6EB-19280397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13742618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50C347-A1FF-4295-AF13-EC5A9AD3BF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35976-F07E-482D-B53E-F98AF0E3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0099E-CA69-4877-81A2-7641918E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39247-E9FD-420E-8D0B-8F069F06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1CAC6-1228-435E-B822-C893111A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FC4D1-0C65-41F9-BA44-F96F4506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16FEA-07A2-4CBB-8C18-2A9E91E2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26AE4-E7B1-49EA-8456-E191206D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BRIDGE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86968-FA95-4CFE-940E-43679F49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1402F-4303-4855-AFF7-3C867E4B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02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529F9-C466-4507-B4DB-681FE7AA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从深度测试过渡到深度纹理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086D5-AD4D-4A91-99B9-A72632DC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深度测试解决“可见性裁决”，深度纹理解决“把这份裁决结果继续交给 Shader 利用”。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27B73-A70A-4771-9B5F-A69B32B5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571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ACC0F-8ABC-462B-B12F-161CF34B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5CFAE-711D-4958-ABDA-E3997CA7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深度缓冲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64BA8-9BD4-437C-A519-DB0F1A4D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2228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由 GPU 在渲染中维护。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它首先负责深度测试，决定当前片元能否留下。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它本质上是一套可见性规则。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DA920-D6AC-4F58-93BF-23EE53E9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00300"/>
            <a:ext cx="2571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7FD90-2019-4780-BF68-0BC2201B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0030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B18F2-DEF1-46A9-84DB-9842820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深度纹理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E4DAF-B60B-4AD2-8BBE-58E52C30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38450"/>
            <a:ext cx="2228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把场景深度结果变成可采样纹理。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一旦能采样，深度就不只是规则，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还变成了可参与计算的参数。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1066A-EF3A-4D9E-970A-E9E82C73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2571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3C4EE-2407-499B-AAA7-923EEC1D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7C50BB-B7FF-46EC-88FE-8B48CC56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3365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一句话理解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F34F9-5CAD-4833-AF8B-AB36503A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38450"/>
            <a:ext cx="2228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Depth Buffer 决定谁被挡住，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Depth Texture 让我们知道哪里靠近、哪里有厚度。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80A0BF-120E-4313-859F-1309BB1A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05300"/>
            <a:ext cx="71818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3EECC8-8003-4F76-9C8F-BC003890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05300"/>
            <a:ext cx="7181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FDBF6E-B66A-4807-9130-283AA55D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38650"/>
            <a:ext cx="6838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示意图 1：遮挡与深度结果示意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040B54-665C-4CF8-B5ED-52CE6B79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24400"/>
            <a:ext cx="687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01600cf034e02"/>
          <a:stretch xmlns:a="http://schemas.openxmlformats.org/drawingml/2006/main"/>
        </p:blipFill>
        <p:spPr>
          <a:xfrm xmlns:a="http://schemas.openxmlformats.org/drawingml/2006/main">
            <a:off x="5519945" y="4800600"/>
            <a:ext cx="1209261" cy="4572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585E9E-08D1-4A97-ADDC-1AD4259D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581650"/>
            <a:ext cx="683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图例补充了“最终画面表现”和“深度相关可视结果”的对照，有助于理解深度信息并不是最终颜色本身。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3A0250-DE07-44E7-BD32-BF3731F0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741623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50C347-A1FF-4295-AF13-EC5A9AD3BF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E09B4-7AC8-4592-9957-6A99D692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6C1DD-9E20-4B9D-80BB-91A5A849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3437F-C8BD-482F-B62C-5B523B36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9B2CE-1243-459D-8760-BC05B1B9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C77E6-A0C3-4FA4-96D9-F55EB571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56335-7DCC-4266-8F02-2241BF31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A9101-B7C5-49A6-8F58-BD041C96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DEPTH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9CCF9-2B58-4730-9560-FB6D3D18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4D0C5-DBAB-47D3-B513-A44154D8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03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282C7-EDFC-4DB8-8DCE-1B2A1FF9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什么是深度缓冲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99E83-7B62-4D74-90B4-65734C73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每个屏幕像素不仅存颜色，也会记录当前最近深度，它是 GPU 处理遮挡关系的基础。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29FB9-C943-4EC2-B6CC-535C36ED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429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9CFF8-6386-4EC4-A33B-91A755E7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AECBB-AD91-4C37-B03C-F1CD1C08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学生最该记住的点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B2D32-37BF-4280-B6FF-C39923FE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3086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1. 深度缓冲首先服务于深度测试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2. 它在渲染过程中持续更新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3. 更近的片元更容易留下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4. 它解决的是遮挡，而不是光照公式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02E3B-11AD-4991-8D0A-24624BB9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3048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45783E-2785-4660-8E84-A7EDE751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C991C-31D1-4449-A0FD-D0C6A39C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33650"/>
            <a:ext cx="2705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常见误区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6DA0B2-664C-40D4-9622-0DF7BF3B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8450"/>
            <a:ext cx="2705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很多同学会把前后遮挡误以为是材质问题。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实际上，不透明物体稳定的前后关系，首先来自深度缓冲。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B0CB3-F4C2-4C19-8A19-C2F6C3CB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36004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9B11A-5DB6-4EE2-A4CD-8ACD3DAF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3600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496A1-234B-45AA-8374-83547FBF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3257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为什么之后能被采样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7D250E-3D28-42E2-8757-B285F168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38450"/>
            <a:ext cx="3257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因为相机把深度结果整理成了深度纹理。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于是后续 Shader 可以主动读取这个屏幕位置的场景深度。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314081-EDE1-4B7D-987F-A1392656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0572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87B929-5F6C-4951-9D3C-6780BF96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A98F3A-5F52-4BA6-B0FD-33DA4ABA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1022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示意图 2：场景深度图例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0D4817-A9E4-4546-8F91-28D1D5D2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102679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45e3e85324803"/>
          <a:srcRect xmlns:a="http://schemas.openxmlformats.org/drawingml/2006/main" l="0" t="46629" r="0" b="466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00" y="4705350"/>
            <a:ext cx="10115550" cy="5143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918086-855B-429D-ACBF-CFBDAC42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43550"/>
            <a:ext cx="1022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这张图直接展示了场景深度的视觉形态。亮暗变化对应的是距离分布，而不是物体原本的颜色信息。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B74E45-3C25-456A-8BD1-4C65F87D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1008318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50C347-A1FF-4295-AF13-EC5A9AD3BF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3ABE5-C80C-40C7-AFE3-83DAF45A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C8705-FEB5-4780-AD44-41974F4D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BCBE2-6981-47B6-8F22-405151AD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897A8-7DBE-4082-B9FD-3B01EFF2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FB379-E35C-489C-957D-DD7ADD61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8AB94-685D-47FB-9C0B-B8A67D48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DBA7F-5E6A-4390-82E8-C1F82404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DEPTH DISTRIBUTION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5EB30-5B6E-4E2A-99B3-5BC78140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2E505-61FE-424F-86F0-91C3091E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04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F1C49-6137-413F-8FDA-0BEC8E80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为什么原始深度不是线性的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14315-FF46-4379-BFC2-F3ED85D3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投影变换会让靠近相机的深度更密集、远处深度更压缩，所以原始深度值不能直接当作真实距离。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A721F-7797-4842-A126-D5547BBD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4290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662CE-4F96-495F-AFA7-AECCB6FE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4CBEB-4075-4E19-9F5A-9CDEE6D7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深度分布示意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3EEC3-66FA-41F1-8379-3077EA12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3124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e479b50014858"/>
          <a:stretch xmlns:a="http://schemas.openxmlformats.org/drawingml/2006/main"/>
        </p:blipFill>
        <p:spPr>
          <a:xfrm xmlns:a="http://schemas.openxmlformats.org/drawingml/2006/main">
            <a:off x="1105574" y="3162300"/>
            <a:ext cx="2894252" cy="1714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02D9B-20B7-42E8-AAC0-BCC0930B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00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近处精度更高，远处分布更密集压缩，这是线性化的前提。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45365-AAFA-478C-B83C-5A8D27A8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34290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82F15-0F3B-4A84-8B08-C546C8C0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5BA6C-9C5E-407E-90BA-307C4529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视锥体到裁剪空间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ACC5C-45EA-4F77-8047-5EF6999F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86100"/>
            <a:ext cx="3124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903b180bf479e"/>
          <a:stretch xmlns:a="http://schemas.openxmlformats.org/drawingml/2006/main"/>
        </p:blipFill>
        <p:spPr>
          <a:xfrm xmlns:a="http://schemas.openxmlformats.org/drawingml/2006/main">
            <a:off x="4724400" y="3440126"/>
            <a:ext cx="2971800" cy="1158847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584598-EF29-4B2A-9954-63AAF088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00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投影不是简单平移，而是把视锥体重新映射到规则空间。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B45C22-120A-4748-8B69-EE07FE92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2575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CCA517-75AD-40F1-9012-3E397B06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EAE142-38F6-4B3F-9B34-FF707D65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03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工程意义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4B45BF-5673-498D-B102-DC266592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29146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1. Near 不宜设置过小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2. 远处更容易出现 Z-Fighting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3. 采样到的原始深度通常要先线性化后再比较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536D05-C7D8-42DC-8BFD-16583208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19911487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50C347-A1FF-4295-AF13-EC5A9AD3BF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4BD58-E871-44B1-9015-21F40EE4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E35BD-552C-4D73-969E-5D23276E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18903-1595-41A4-B4CE-130CD8DF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01C19-0CCA-45E4-9794-C0F25F6E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8EA4F-D4B2-40C6-ACA9-A057E2B9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98F8B-01A5-497D-A1F5-CF051294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D5E56-5CE9-41AC-AD92-F179545E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LINEARIZATION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DB6B5-D04E-497F-8EC4-C3675070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05941-9092-42EB-B426-17EC0DBE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05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CDF60-39AA-49E4-9C11-39D0C85F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为什么要做深度线性化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27B37-53FD-47B3-9213-AA83B5E4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只有把设备深度还原成更适合比较的线性眼空间深度，深度差值才具备稳定可控的意义。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57B30-13AE-49C3-AC93-8FD9DCD1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429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2A4F9-1DF1-40EC-8519-7CC1782A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C6125-9768-423B-95A6-17656C13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线性化链路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23801-E63C-4B51-AC1B-D509FEC6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3086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666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屏幕 UV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→ SampleSceneDepth 读取原始场景深度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→ LinearEyeDepth 还原线性深度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→ 才能与当前物体深度做比较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3BA59-0AA0-4B1F-A35F-B92ECD70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68770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0B1524"/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530CB-477E-4D46-AD19-37AD0D7A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6877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5F372-E2D9-4A34-A11A-9FFA0C78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53BD1A-0037-4C10-A217-36144407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54443-D00A-4EA2-8537-1A9B9BFF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84F682-7BCF-4EEE-93DC-210C8BD1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86025"/>
            <a:ext cx="600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3EB"/>
                </a:solidFill>
              </a:defRPr>
            </a:pPr>
            <a:r>
              <a:rPr sz="1050" b="1">
                <a:solidFill>
                  <a:srgbClr val="BFD3EB"/>
                </a:solidFill>
              </a:rPr>
              <a:t>关键代码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E6F894-168A-4BDA-B8F3-A0B21E27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76550"/>
            <a:ext cx="6534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rawDepth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sceneEyeDepth = LinearEyeDepth(rawDepth, _ZBufferParams);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// sceneEyeDepth 才更适合参与距离比较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C155B2-A36E-4D0A-B3CA-9C2BE290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10572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A278DC-FE3C-44BD-ABD1-1A106A9A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09ACA0-6ECC-4A16-A698-F0832023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1022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示意图 3：从原始深度到线性深度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A774B-2CE7-4001-A020-983559FD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24500"/>
            <a:ext cx="1022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网络图例思路参考：深度线性化流程图与 LearnOpenGL 深度测试示意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3DFA6-90C6-4A49-980D-BA9D3156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123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65A"/>
          </a:solidFill>
          <a:ln xmlns:a="http://schemas.openxmlformats.org/drawingml/2006/main" w="9525">
            <a:solidFill>
              <a:srgbClr val="5EA9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1D19F6-E378-4D68-8F67-3CE22287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原始深度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A10801-099B-496F-AA70-A9CC9872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530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E2401C-B94C-4461-B8E1-4AAC504C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7685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238D98-CCFC-4E6C-BC44-8CC85CB3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054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05B"/>
          </a:solidFill>
          <a:ln xmlns:a="http://schemas.openxmlformats.org/drawingml/2006/main" w="9525">
            <a:solidFill>
              <a:srgbClr val="8EAA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62190F-FF22-4925-9FDB-C3B1680A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959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LinearEyeDepth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A0E96B-5C57-4FAE-AB85-EF02D92D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08E050-B0EE-4689-A6F4-554137D9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7685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19EC4F-4DC3-4E20-A0CC-7DA787E1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05400"/>
            <a:ext cx="1123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4C331B"/>
          </a:solidFill>
          <a:ln xmlns:a="http://schemas.openxmlformats.org/drawingml/2006/main" w="9525">
            <a:solidFill>
              <a:srgbClr val="E5B0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FAE10E-575C-471E-9405-AEEF6BC9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959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线性深度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EFBA22-F081-4DD9-A671-0CE905F3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48350"/>
            <a:ext cx="1022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EA5BF"/>
                </a:solidFill>
              </a:defRPr>
            </a:pPr>
            <a:r>
              <a:rPr sz="975" b="0">
                <a:solidFill>
                  <a:srgbClr val="8EA5BF"/>
                </a:solidFill>
              </a:rPr>
              <a:t>把投影压缩后的深度，还原成更适合比较的距离量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58C950-D9FB-4327-8A1B-87F28C46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562824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50C347-A1FF-4295-AF13-EC5A9AD3BF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EC013-3FCA-421D-BAB7-27299CDA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D5EFC-6139-45A9-8E4E-E27E66E5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30CF5-488F-40AF-B1A3-C779A303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1C75B-137A-41A5-BD4C-98138E35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EB64F-FF3C-43D8-A056-D23F2186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22DED-3A72-4880-93E7-A7AE2DA0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3491E-8C9C-4260-A661-56BE2AFC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SCREEN UV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27CEB-4CEA-4310-972F-1227C19B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D9BA4-9DA0-4100-B8EB-1AEBD213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06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3B45F-AFC7-41C6-9482-53CB9359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屏幕坐标如何采样深度纹理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70DA4-B342-44F8-8CAD-C4C4AB95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先找到当前片元在屏幕上的位置，再去对应位置读取场景深度，这就是 ComputeScreenPos 与 screenUV 的意义。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E857C-F375-412E-A127-AE8D2DB0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5E877-56FA-46C8-B927-0C85A45E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662CA-CCB7-49CF-AC2A-2066D55A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622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A1164-C2BA-43B4-B5C2-DCA87A74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ComputeScreenPos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512EE-7282-412E-A4A0-97AA317F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整理出可换算屏幕 UV 的数据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CC569-6491-4119-B0F1-28F598E3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718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52372-C63B-4ED2-92C3-E94D2EF2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384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BA0617-97D9-48D3-B276-653AE045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5B30D7-D41F-4FFA-9F14-5A35F268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CFD66-1778-40BB-9D27-F55DF406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93AE3B-3395-45B0-B1D1-FEBB0EAE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SampleSceneDepth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9B424-8C48-413F-9AF8-68D3E8F9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读取该屏幕位置后方最近场景表面的深度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C562CC-DFBA-48EB-AD42-817D8C4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8100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3E59D1-4486-458D-BF75-E931DCC5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766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9683CB-0EB2-4860-9CA9-90D7686D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517888-840B-432F-A7F3-1882D84F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16ACD-D5C5-42E5-B2E1-75231DC8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B78471-7F08-41DA-8637-DC8DEBF3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LinearEyeDepth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173AB2-B860-41F0-8590-1ABFE1CD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把原始深度转成线性深度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703E3B-64BC-4E54-A146-328697A9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482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784756-1C5B-4817-AEA9-1CB48083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148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F97B13-2CC4-40F1-BA52-335FCDF7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B000EE-47DA-481B-B6A5-A2BC442F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AACA5D-8ADE-4E56-BBB7-3A559946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768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54389A-164E-40F6-8F67-4924BD03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Depth Difference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9A63BA-3259-4883-96E0-3816C268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场景深度减去当前表面深度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095EF0-6F1D-4ED9-8BED-F900C7C7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4864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746847-226D-44B3-A8E1-8FB54B5B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530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9A7F8F-B9C7-49C3-BF0B-FA66D587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45F4C8-9D4D-4FC4-AC7D-A673F93C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4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1B8040-341A-41A7-8FEC-64EC16AB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150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DA0852-5A9C-446C-98F6-AEC9C07E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Drive Result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7E01A8-00A2-4908-B7EC-00B62056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19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驱动颜色、交界光与空间厚度感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668D01-35F1-43E1-B9F2-AFDEC4E0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344805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0B1524"/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24BAF0-0999-4684-A003-793A27EC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DD93E0-45F4-4393-ABD6-397825F3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0E8901-499B-4823-87D6-7E4D36E3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54C367-D421-44E5-9FBC-AB5A3F37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12EE62-4EFB-44E6-83F9-33ADC943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622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3EB"/>
                </a:solidFill>
              </a:defRPr>
            </a:pPr>
            <a:r>
              <a:rPr sz="1050" b="1">
                <a:solidFill>
                  <a:srgbClr val="BFD3EB"/>
                </a:solidFill>
              </a:rPr>
              <a:t>采样路径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28EDEC-4BC6-49F8-9301-6B5B9E09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31051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output.screenPos = ComputeScreenPos(positionCS);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rawDepth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sceneEyeDepth = LinearEyeDepth(rawDepth, _ZBufferParams);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C790BE-B5CA-4F6D-AD2F-122AAF13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32385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75D235-174B-4A4B-A0F6-BBE97FA9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ECD4B0-2D88-4725-A315-2BBAE16E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908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理解方式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21A316-56F5-4EFE-B238-7C863AAC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28956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可以把它理解成：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先找到当前片元在屏幕上的位置，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再去查询这个位置后方最近的场景表面有多远。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70514D-0442-4D84-8B66-3918B19C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1599498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50C347-A1FF-4295-AF13-EC5A9AD3BF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3D99B-2B12-4A53-80E5-C9231CD2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88675-5004-4E04-A883-17AD3DA5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2937B-FA77-440D-9FE0-46367639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6506F-E047-4BC7-BB6B-1ED2266C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D2DED-9923-4050-9622-13B67039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1A6B8-9E57-41DD-989F-9F333067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50141-7863-41E1-99A8-8796B415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DEPTH DIFFERENCE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E3565-95CC-4540-8AED-2FC23A6B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AF8F1-A144-4B76-9DD2-58ED4414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07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71B09-F893-44F3-A554-FE2C0D68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深度差值为什么能驱动特效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5D3AB-500F-42E9-BD90-9F0CE5FD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场景深度减去当前表面深度，得到的就是当前表面与后方场景之间还能容纳多少空间。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02463-E1EA-4C71-A19A-11EDD1DC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F1ADE-E1F6-45A4-98D6-3C023B31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D1F02-8402-470D-8448-A7D937B8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公式本质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5FD25-3B82-41FA-A9AE-9D2307E9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2990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0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Depth Difference = Scene Depth - Surface Depth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差值小：表面贴近后方几何体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差值大：后方还有更多空间厚度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05D66-C887-41E1-A749-1EADA8FC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143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1E7E7-0E7F-4571-AE63-7E0EF71C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96C65-F077-488F-958F-A7FA076C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直接能做什么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45A6AE-DDF1-4FD9-B304-E4A4A79E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2800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0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1. 护盾贴墙发光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2. 水体厚度变化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3. 深浅颜色过渡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4. 泡沫边缘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5. 软粒子与地面融合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E3BA32-DDDA-4EEC-A7DB-9F62D1F3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6004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A1977-79E1-4B35-ADD1-CF4324E3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600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BE671-11AE-4CE6-83A9-C9E20506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14600"/>
            <a:ext cx="3257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真正强大的地方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D974C-E64B-448E-826B-F69F64FE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19400"/>
            <a:ext cx="3257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深度纹理记录的是空间前后关系。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我们只是把这种关系翻译成学生能看懂、画面能感知的视觉结果。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C48AA1-E31D-45D9-938F-5E8E7AF5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29100"/>
            <a:ext cx="62674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5EAAE2-66DB-4E00-AB50-1D2BC95F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29100"/>
            <a:ext cx="6267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5D0708-0AFC-4FBC-9AFE-1C422BAE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62450"/>
            <a:ext cx="592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示意图 4：深度差值驱动水面边缘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3DA32-393B-4F7C-A8FA-6AD52314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5962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fb167f0f34028"/>
          <a:stretch xmlns:a="http://schemas.openxmlformats.org/drawingml/2006/main"/>
        </p:blipFill>
        <p:spPr>
          <a:xfrm xmlns:a="http://schemas.openxmlformats.org/drawingml/2006/main">
            <a:off x="5716361" y="4724400"/>
            <a:ext cx="816429" cy="4572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FA93FC-FC94-4668-9512-AB932054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505450"/>
            <a:ext cx="592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水边泡沫和浅水过渡常常依赖深度差值。学生看到这张图时，会更容易理解“空间厚度”如何变成画面边缘效果。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C8C810-2195-4FA4-9F7A-B3B1ED2B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20679314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50C347-A1FF-4295-AF13-EC5A9AD3BF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D89F7-D427-46D0-9929-AFFAC92B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6AEA5-935A-42BC-B45D-254858D7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61787-CCBF-483A-ACA8-8A81E15D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91244-34BE-4A83-8ABC-E0D39E8E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D98BE-BC02-483A-831F-4D5AD3F0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EFC50-C409-424B-BF60-745284EE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45318-1326-4DD9-AF9D-C89401E3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SHIELD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A0729-66BC-4C6C-A784-69249498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368AB-62F8-496E-B40D-FBBB3479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08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D6868-B97A-474E-8576-4803F5E5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本节主案例：护盾深度纹理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45468-87BA-4D5F-A02C-769055D9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本节对应案例脚本是 ScreenDepthTexture_Debug.shader，用护盾效果把深度纹理原理做成了可视化演示。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D9078-DFDA-45BF-97F6-D38FCB6E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3524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1BB50-C7D4-4D35-BD09-C71980DE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3524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52DAD-A848-4F1B-A013-122CA3AB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318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为什么主案例选护盾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B0565-53A7-43EC-B7B3-9AB1B026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31813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护盾比复杂水体更纯粹。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它不会先把注意力带去波浪、法线与反射，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而是让学生先看懂深度纹理到底在做什么。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C1233-4C5B-4E2C-9B88-300213C4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35052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88958-394A-47C4-98B4-B7611B67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20758-B90A-4BB4-806D-9B81C725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62250"/>
            <a:ext cx="3162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脚本对应关系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2D1F2-C6A9-459A-A273-1EF06E3A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705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主案例脚本：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Assets/ShaderCourse/Example/DepthTestURP/Shaders/ScreenDepthTexture_Debug.shader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它把“采样场景深度、计算自身深度、比较两者差值”三步完整可视化出来。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54109-15AD-42CF-8A84-AE1BA56A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30099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C75A20-698E-473C-A1BF-7C3CB646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3009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2C306-7D0D-47D8-AC6A-8D549D0A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学生看到的效果逻辑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3CCD35-39DA-4179-A363-E615D2AF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667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1. 能看到背景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2. 内部根据深度差值染色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3. 靠近几何体时出现交界发光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4. 外轮廓叠加菲涅尔边缘高亮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04FCF-97A8-4E36-892C-7F643A03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D9FF"/>
                </a:solidFill>
              </a:defRPr>
            </a:pPr>
            <a:r>
              <a:rPr sz="1125" b="1">
                <a:solidFill>
                  <a:srgbClr val="59D9FF"/>
                </a:solidFill>
              </a:rPr>
              <a:t>案例图例：护盾交界效果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278BAD-A92B-4D7A-9C79-1B48678D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4267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e355559414a1d"/>
          <a:srcRect xmlns:a="http://schemas.openxmlformats.org/drawingml/2006/main" l="0" t="40404" r="0" b="404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5638800"/>
            <a:ext cx="4152900" cy="4191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FC69C6-98EF-4150-ACD4-D769B95A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62600"/>
            <a:ext cx="560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04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护盾案例把“采样、线性化、比较、驱动效果”四步串成了一个完整闭环，是本节最关键的落地案例。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E10E30-7A6A-492D-9410-D93CA50C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11695889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50C347-A1FF-4295-AF13-EC5A9AD3BF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945B8-7C9B-4B0E-90A8-B74D81EF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5DCE8-CF17-4645-A7E0-D6A770C4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53025-5AC5-4CE6-ABF3-9D485DD3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0DDA6-0320-4E17-8433-5894D8BA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A372E-932C-4BE0-B6CA-37445EE4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0E0C5-5C12-4774-AF09-4B8032C6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83F7D-C28D-4B20-8D8D-1FDA2996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53931-FEB0-4FBA-94AB-4F8A3B15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DE605-FEF9-4355-989B-B1D0C001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09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F5D59-C818-49C9-8351-7DCC9C21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护盾案例脚本中的深度纹理重点代码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5758A-6259-4920-B523-662716EF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这一页对应本节主案例。代码逻辑可以概括为：采样、线性化、比较、驱动效果。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53A7F-FBE5-480E-B3E1-0B505A80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54673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0B1524"/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258D2-1274-4398-8D2B-F22E57A5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546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A3692-1CF6-4CAB-A62B-26DAEEF2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42628-4974-45F6-BC90-2E0AE078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68C47-0EDD-4B30-8F70-BEC42A2C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6B654-E618-4B30-8459-1FA63E2B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57475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3EB"/>
                </a:solidFill>
              </a:defRPr>
            </a:pPr>
            <a:r>
              <a:rPr sz="1050" b="1">
                <a:solidFill>
                  <a:srgbClr val="BFD3EB"/>
                </a:solidFill>
              </a:rPr>
              <a:t>ScreenDepthTexture_Debug.shader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4E41F-33B4-48EF-965A-9738D5CB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51244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rawSceneDepth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sceneEyeDepth = LinearEyeDepth(rawSceneDepth, _ZBufferParams);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objectEyeDepth = input.objectEyeDepth;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gapDepth = max(sceneEyeDepth - objectEyeDepth, 0.0h);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intersectionMask =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    saturate(1.0h - gapDepth / max(_IntersectionWidth, 0.0001h))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    * _IntersectionStrength;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19F7DD-3C05-4228-B9F4-4BAC1FDF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48006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45478-420A-43E8-8F96-6E297615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480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AE7B3D-F47C-42BA-8ECF-3A6315A5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445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代码逻辑拆解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5191E3-2F3F-4BBA-98ED-12F3AE24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90850"/>
            <a:ext cx="44577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1. screenUV：找到当前片元在屏幕上的采样坐标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2. SampleSceneDepth：读取护盾后方的场景深度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3. LinearEyeDepth：把设备深度还原成线性深度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4. objectEyeDepth：当前护盾片元自身深度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5. gapDepth：深度差值，决定交界发光和内部染色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2892B4-DF36-4141-9C52-65218455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245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5F3"/>
                </a:solidFill>
              </a:defRPr>
            </a:pPr>
            <a:r>
              <a:rPr sz="1200" b="0">
                <a:solidFill>
                  <a:srgbClr val="D8E5F3"/>
                </a:solidFill>
              </a:rPr>
              <a:t>这里的菲涅尔与边缘光负责“视觉层次”，深度差值负责“为什么靠近墙体时会亮起来”。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5F18BD-65A2-4328-8290-F71FADF7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3721252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50C347-A1FF-4295-AF13-EC5A9AD3BF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DC7F5-DC02-4058-A7B1-EF782FFE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66EA4-865F-46FF-8CCF-96452AC9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7201A-8FA3-4C26-B3FD-0E464DBD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97D45-F9E4-4625-81BD-8B1BFDFB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033E6-C3A5-4EB0-BFDE-DE0B3E94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EC523-1D45-49B0-B335-1F796658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94B7A-7C41-4F61-9E21-1BF6E75C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WRAP-UP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44DA2-6B7B-4BC0-8B78-BB1A5FFC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F4EB0-096C-43C6-9F17-E787CFE7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10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7DC0B-4049-485A-AD15-EF7ACC41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小结与练习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093DA-CB86-4736-9D1E-078B081B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把“深度缓冲、深度纹理、线性化、屏幕采样、护盾案例”真正串成一条完整知识链。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E07FB-1F55-4D97-8978-06B107C8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387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EAD5C-20ED-4992-8979-4E6EAB5E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3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00D41-B994-43C7-92CB-38B677E1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449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本章三句话总结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3A639-B0FF-4102-94A9-5CBCEDB7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44958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1. 深度缓冲负责遮挡裁决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2. 深度纹理让 Shader 能主动读取场景深度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3. 深度差值把空间关系翻译成可视化参数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A9368-A2BF-4975-9F45-65D71C6E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24150"/>
            <a:ext cx="5448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A0EBD-C7C6-47E6-B8F8-8A00C00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24150"/>
            <a:ext cx="5448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E3EC6-98F0-41F2-89E3-C1B71604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510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课后练习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3C99DB-07B8-46B0-B4C5-4EE253C5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51054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练习 A：修改 Near / Far，观察护盾交界是否更稳定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练习 B：调整 _IntersectionWidth，观察贴墙高亮范围变化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练习 C：调整 _RimPower，观察边缘高亮如何与深度差值共同塑形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10276-642E-46A1-BDA0-7355BB22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1057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F"/>
                </a:solidFill>
              </a:defRPr>
            </a:pPr>
            <a:r>
              <a:rPr sz="1275" b="1">
                <a:solidFill>
                  <a:srgbClr val="F5FAFF"/>
                </a:solidFill>
              </a:rPr>
              <a:t>独立完成本节后，学生应能分清“深度缓冲”和“深度纹理”，并能看懂屏幕深度差值如何驱动可见的视觉效果。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24CC7-6844-44C9-8F9E-0F32DB78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1667248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2026-04-20T05:29:05.9160000Z</dcterms:created>
  <dcterms:modified xsi:type="dcterms:W3CDTF">2026-04-20T05:29:05.9160000Z</dcterms:modified>
</coreProperties>
</file>
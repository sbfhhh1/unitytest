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2665d803314359" /><Relationship Type="http://schemas.openxmlformats.org/officeDocument/2006/relationships/extended-properties" Target="/docProps/app.xml" Id="R36f8bb2017464823" /><Relationship Type="http://schemas.openxmlformats.org/officeDocument/2006/relationships/officeDocument" Target="/ppt/presentation.xml" Id="R966c2d3fa02e43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a844fa56d046b5"/>
  </p:sldMasterIdLst>
  <p:notesMasterIdLst>
    <p:notesMasterId xmlns:r="http://schemas.openxmlformats.org/officeDocument/2006/relationships" r:id="R9ab3f025d5a14980"/>
  </p:notesMasterIdLst>
  <p:sldIdLst>
    <p:sldId xmlns:r="http://schemas.openxmlformats.org/officeDocument/2006/relationships" id="256" r:id="Rb2118f16aa594ca2"/>
    <p:sldId xmlns:r="http://schemas.openxmlformats.org/officeDocument/2006/relationships" id="257" r:id="Rfaffb4c4549b433a"/>
    <p:sldId xmlns:r="http://schemas.openxmlformats.org/officeDocument/2006/relationships" id="258" r:id="R5330869e687a4291"/>
    <p:sldId xmlns:r="http://schemas.openxmlformats.org/officeDocument/2006/relationships" id="259" r:id="R3644692aaa5e4005"/>
    <p:sldId xmlns:r="http://schemas.openxmlformats.org/officeDocument/2006/relationships" id="260" r:id="Rea760f4022084f2d"/>
    <p:sldId xmlns:r="http://schemas.openxmlformats.org/officeDocument/2006/relationships" id="261" r:id="Ref5e50cdaacd4444"/>
    <p:sldId xmlns:r="http://schemas.openxmlformats.org/officeDocument/2006/relationships" id="262" r:id="R440756b20e4448c8"/>
    <p:sldId xmlns:r="http://schemas.openxmlformats.org/officeDocument/2006/relationships" id="263" r:id="Rc69796f518514952"/>
    <p:sldId xmlns:r="http://schemas.openxmlformats.org/officeDocument/2006/relationships" id="264" r:id="Rb00c73a526174514"/>
    <p:sldId xmlns:r="http://schemas.openxmlformats.org/officeDocument/2006/relationships" id="265" r:id="R39bd7864eb1044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844fa56d046b5" /><Relationship Type="http://schemas.openxmlformats.org/officeDocument/2006/relationships/theme" Target="/ppt/theme/theme1.xml" Id="Rbc8a97a5e323425f" /><Relationship Type="http://schemas.openxmlformats.org/officeDocument/2006/relationships/notesMaster" Target="/ppt/notesMasters/notesMaster1.xml" Id="R9ab3f025d5a14980" /><Relationship Type="http://schemas.openxmlformats.org/officeDocument/2006/relationships/presProps" Target="/ppt/presProps.xml" Id="Rb48fd51be337446d" /><Relationship Type="http://schemas.openxmlformats.org/officeDocument/2006/relationships/viewProps" Target="/ppt/viewProps.xml" Id="Rce9436c60d10471f" /><Relationship Type="http://schemas.openxmlformats.org/officeDocument/2006/relationships/tableStyles" Target="/ppt/tableStyles.xml" Id="R9687d3f532134df9" /><Relationship Type="http://schemas.openxmlformats.org/officeDocument/2006/relationships/slide" Target="/ppt/slides/slide1.xml" Id="Rb2118f16aa594ca2" /><Relationship Type="http://schemas.openxmlformats.org/officeDocument/2006/relationships/slide" Target="/ppt/slides/slide2.xml" Id="Rfaffb4c4549b433a" /><Relationship Type="http://schemas.openxmlformats.org/officeDocument/2006/relationships/slide" Target="/ppt/slides/slide3.xml" Id="R5330869e687a4291" /><Relationship Type="http://schemas.openxmlformats.org/officeDocument/2006/relationships/slide" Target="/ppt/slides/slide4.xml" Id="R3644692aaa5e4005" /><Relationship Type="http://schemas.openxmlformats.org/officeDocument/2006/relationships/slide" Target="/ppt/slides/slide5.xml" Id="Rea760f4022084f2d" /><Relationship Type="http://schemas.openxmlformats.org/officeDocument/2006/relationships/slide" Target="/ppt/slides/slide6.xml" Id="Ref5e50cdaacd4444" /><Relationship Type="http://schemas.openxmlformats.org/officeDocument/2006/relationships/slide" Target="/ppt/slides/slide7.xml" Id="R440756b20e4448c8" /><Relationship Type="http://schemas.openxmlformats.org/officeDocument/2006/relationships/slide" Target="/ppt/slides/slide8.xml" Id="Rc69796f518514952" /><Relationship Type="http://schemas.openxmlformats.org/officeDocument/2006/relationships/slide" Target="/ppt/slides/slide9.xml" Id="Rb00c73a526174514" /><Relationship Type="http://schemas.openxmlformats.org/officeDocument/2006/relationships/slide" Target="/ppt/slides/slide10.xml" Id="R39bd7864eb1044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84bf01b6f240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ee66800d494afa" /><Relationship Type="http://schemas.openxmlformats.org/officeDocument/2006/relationships/notesMaster" Target="/ppt/notesMasters/notesMaster1.xml" Id="R66e796870390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b96d7b750340d9" /><Relationship Type="http://schemas.openxmlformats.org/officeDocument/2006/relationships/notesMaster" Target="/ppt/notesMasters/notesMaster1.xml" Id="Ree62437b19c94f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4bf77763c24506" /><Relationship Type="http://schemas.openxmlformats.org/officeDocument/2006/relationships/notesMaster" Target="/ppt/notesMasters/notesMaster1.xml" Id="R9e072ecbe4ed44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a836bf6dc14725" /><Relationship Type="http://schemas.openxmlformats.org/officeDocument/2006/relationships/notesMaster" Target="/ppt/notesMasters/notesMaster1.xml" Id="R88371747b8d14f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b2ad0230254ba1" /><Relationship Type="http://schemas.openxmlformats.org/officeDocument/2006/relationships/notesMaster" Target="/ppt/notesMasters/notesMaster1.xml" Id="R0aeca89fdbcd42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d46a1881934e31" /><Relationship Type="http://schemas.openxmlformats.org/officeDocument/2006/relationships/notesMaster" Target="/ppt/notesMasters/notesMaster1.xml" Id="R905bdb90fcfb45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c7d272e206406b" /><Relationship Type="http://schemas.openxmlformats.org/officeDocument/2006/relationships/notesMaster" Target="/ppt/notesMasters/notesMaster1.xml" Id="R49aeac3f5be143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372e9a04634e47" /><Relationship Type="http://schemas.openxmlformats.org/officeDocument/2006/relationships/notesMaster" Target="/ppt/notesMasters/notesMaster1.xml" Id="R939dbd610d5549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ab8458d2cd414f" /><Relationship Type="http://schemas.openxmlformats.org/officeDocument/2006/relationships/notesMaster" Target="/ppt/notesMasters/notesMaster1.xml" Id="R2f09f6dedb3142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163fbd0e0047f1" /><Relationship Type="http://schemas.openxmlformats.org/officeDocument/2006/relationships/notesMaster" Target="/ppt/notesMasters/notesMaster1.xml" Id="R1a5b90a7791546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8647af5024e3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1D37355-1F00-45D7-9CEE-7088CE8DBCE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CF2CBD0-934A-4315-8F5C-B5A175999E6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EA22CF-570F-445C-98F8-C5438C52172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1EA1EA-C280-4654-9FC2-F77D10A9147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859f92f9304db1" /><Relationship Type="http://schemas.openxmlformats.org/officeDocument/2006/relationships/slideLayout" Target="/ppt/slideLayouts/slideLayout2.xml" Id="Rb539267a99a44b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83ACAF-DEE1-4DD1-B896-DBD9C80DF94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39267a99a44b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f64f7b4b6401c" /><Relationship Type="http://schemas.openxmlformats.org/officeDocument/2006/relationships/notesSlide" Target="/ppt/notesSlides/notesSlide1.xml" Id="R7c2bf044214349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48734171904103" /><Relationship Type="http://schemas.openxmlformats.org/officeDocument/2006/relationships/notesSlide" Target="/ppt/notesSlides/notesSlide2.xml" Id="R2a7aaa77bfc94c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35acd5ae6e492a" /><Relationship Type="http://schemas.openxmlformats.org/officeDocument/2006/relationships/notesSlide" Target="/ppt/notesSlides/notesSlide3.xml" Id="Rfb520591681043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23bb0337164826" /><Relationship Type="http://schemas.openxmlformats.org/officeDocument/2006/relationships/image" Target="/ppt/media/image.jpeg" Id="R212df4bf4ce34bc7" /><Relationship Type="http://schemas.openxmlformats.org/officeDocument/2006/relationships/image" Target="/ppt/media/image2.jpeg" Id="R55cd3706a6094402" /><Relationship Type="http://schemas.openxmlformats.org/officeDocument/2006/relationships/notesSlide" Target="/ppt/notesSlides/notesSlide4.xml" Id="Ree8f4d869dfd43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86da332ae34bb4" /><Relationship Type="http://schemas.openxmlformats.org/officeDocument/2006/relationships/notesSlide" Target="/ppt/notesSlides/notesSlide5.xml" Id="R5ef3a62cac9a41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f5230a192f4a22" /><Relationship Type="http://schemas.openxmlformats.org/officeDocument/2006/relationships/notesSlide" Target="/ppt/notesSlides/notesSlide6.xml" Id="Ree4dc35ba1814f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777d647bc94b12" /><Relationship Type="http://schemas.openxmlformats.org/officeDocument/2006/relationships/notesSlide" Target="/ppt/notesSlides/notesSlide7.xml" Id="R66836d44f32c40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e6a8e002cf473c" /><Relationship Type="http://schemas.openxmlformats.org/officeDocument/2006/relationships/notesSlide" Target="/ppt/notesSlides/notesSlide8.xml" Id="R2da77fefe91a4a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ffa53c763247ca" /><Relationship Type="http://schemas.openxmlformats.org/officeDocument/2006/relationships/notesSlide" Target="/ppt/notesSlides/notesSlide9.xml" Id="Rb2abbad1cf784e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0fe42419f84f31" /><Relationship Type="http://schemas.openxmlformats.org/officeDocument/2006/relationships/notesSlide" Target="/ppt/notesSlides/notesSlide10.xml" Id="R78f6be7fe5b94e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1E3EA-E012-4D63-82B5-D4BF04E6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79D7D-7617-4B24-BE68-D8EEE56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7C265-0CE9-4776-AD45-53F626CA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5E065-79D1-4CBC-A9C1-7931F52C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F35BB-801A-472A-8E00-95D97FCF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602B2-90B1-4E09-8102-3E30EDC1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13EB5-47A1-4FC6-BF49-AF634D2B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LESSON 07A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2309F-E9C8-4226-B247-9ED39DCA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EA90-EE5C-4816-934C-19B01BE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01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6A7CA-B3B1-4CE7-A7AF-D70D6337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Unity Shader 编程</a:t>
            </a:r>
          </a:p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屏幕深度纹理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5029C-BEE0-4E4D-A79E-F77E332B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49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本节课位于“深度测试”之后、“PoolWater 水面案例”之前。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对应案例脚本不是水体，而是之前做的护盾效果：ScreenDepthTexture_Debug.shader。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目标是先把屏幕深度纹理讲透，再自然过渡到水体、软粒子、交界发光等实际应用。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6F2E4-ACA6-444A-A32C-DEC2BFC0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343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F188A-AC0C-416B-8874-C3016659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34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32CD5-81BF-436F-B528-4D6848C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本节核心问题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4F348-43FE-40AC-8460-0AA7D4D4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8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深度测试只负责判断谁挡住谁，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而屏幕深度纹理让 Shader 能把这种前后关系“读出来”，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再转成颜色过渡、厚度感、泡沫边缘与交界发光等视觉结果。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ADC01-11B8-4AAC-BA86-B349BB5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90650"/>
            <a:ext cx="424815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C461F-BAE3-442F-B512-DE0384F0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90650"/>
            <a:ext cx="424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A51B2-DA15-4E95-8CA3-4390061D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主案例定位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46319-D90D-470A-A6B4-CC5A80F0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3905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主案例：ScreenDepthTexture_Debug.shader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它把三件事直接讲清楚：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1. 如何采样场景深度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2. 如何得到当前护盾自身深度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3. 如何用深度差值驱动护盾效果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PoolWater 只作为下一节的应用延伸，不作为本节主讲案例。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1525E-A8A5-4306-A89F-BD97F8F4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151376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B1381-DBC1-406A-94F0-7F9A25ED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B14CB-6AEC-4E18-8670-2E23807E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1B464-72CA-49C7-BA79-3CD70A21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64E85-D1F7-48D6-B2F6-295DDC48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66DFB-E68B-468C-9395-44462022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0BBB3-4A55-4113-A86E-A941F8D9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F1E28-ED6D-4A4B-AE30-23B645A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FF66E-26CE-4C2A-8DD3-E2A6148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E1397-4597-450D-B936-9B2BEAE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02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82114-F759-400D-8656-E5139C6A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从深度测试过渡到深度纹理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F3C14-9087-4E80-AFDA-E8E12DFB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深度测试解决“可见性裁决”，深度纹理解决“把这份裁决结果提供给 Shader 继续利用”。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D6233-DE24-4990-B76F-A784697D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1813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86557-6519-4C27-A23C-232339B2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181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33189-71DB-46A8-8899-E6EC89C7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深度缓冲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9B47A-188A-41AD-889E-08D0144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8384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由 GPU 在渲染中维护。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主要职责是进行深度测试，决定当前片元能不能留下来。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它首先是一套规则，不是一个给美术直接看的效果图。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435C9-29F2-4EBE-B5A3-5CE413F6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606B5-86DC-4FA3-A708-2EE26BA9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6D74F-353E-4656-96D5-95D36DB1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深度纹理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4A78B-6F9B-4530-9688-DD14482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2895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把场景深度结果变成 Shader 可采样的纹理。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一旦能采样，深度就从“规则”变成了“参数”，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可以驱动护盾、水体、软粒子、泡沫和交界发光。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A820D-4DB1-4406-8766-C9B8CB27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2385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8A9FA-0E82-4D6F-85DC-2E5E13A3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71227-17A6-48FD-96F8-D1D8FE48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教学结论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73BED-05D5-4DAA-9C82-F995C2E0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895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深度缓冲负责挡住谁，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深度纹理负责让我们知道“哪里靠近、哪里有厚度”。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理解这组关系后，后续很多特效会突然变得顺畅。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83008-DDD3-4FAD-8E65-2AD1BF9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1057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一句话记忆：Depth Buffer 负责裁决，Depth Texture 负责把裁决结果交给 Shader 继续使用。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29973-0437-499F-A58C-F42ED513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632954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524DA-A8F4-4C0D-A6C1-1EBC63B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FC4D9-C477-4397-89A9-CBF6064B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C8C6A-F9F4-4F45-B4A6-31FA2A59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2B458-DF07-42D6-9179-DCCB52A5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00289-AFE0-465C-A763-A266B2EB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8200F-D0A5-4EF0-AD2E-8486CF45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A3849-D9F8-4A52-AD44-8714501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4FD73-BA8D-4CAF-93EA-4C193F6E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8FCE8-6591-44B2-94B4-2A06127F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03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6E0D9-DD56-4005-85B3-021E82ED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什么是深度缓冲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C04F1-1E6E-46F0-989F-9A1F3D5A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每个屏幕像素不仅存颜色，也会记录当前最近的深度值，它是 GPU 处理遮挡关系的基础。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3A778-9B7E-4E07-9E8C-83305909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314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07059-B97E-461C-AB6F-D73886C8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50F63-64AB-454E-88DD-228FA102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学生最该记住的点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DCA25-1176-4B1B-846C-F11A9FB6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971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1. 深度缓冲首先服务于深度测试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2. 它在渲染过程中持续被更新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3. 更近的片元更容易留下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4. 它解决的是遮挡关系，不是光照公式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755E7-CA22-4F18-9049-D97B0828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0861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C5A5D-4B51-443F-B681-950EF2B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086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B264A-8C5A-44B6-A183-E68DFED6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常见误区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4EE97-C50B-4D0E-A408-D7C1216F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2743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很多同学会把前后遮挡问题误以为是材质问题。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实际上，不透明物体稳定的前后关系，首先来自深度缓冲，而不是来自 PBR 公式本身。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77218-03E8-41E3-9B5E-45EEAAE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6004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D0C1A-0A68-41C7-B528-2102D640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090829-C9BC-4590-B222-204C1FFA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为什么要先讲这一页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87C95-A488-483E-8A99-FFB073D2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3257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如果连深度缓冲都没理解，后面看到深度纹理时就很容易误会成“相机额外截图了一张灰度图”。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其实它的底层仍然来自场景深度数据。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41DC0-EB6A-4C63-92FC-F574A8A1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938267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5D0C2-2E31-48BA-97D7-7600409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16E3C-F742-46E8-ADD8-365B9673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8C010-3EA9-41A8-81DB-B953DF5E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C4A88-9E8C-4740-BDC5-3793206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C9720-90B6-4158-A0FD-D034A83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1A5B8-D103-484C-A862-4C10583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E9933-BB39-45E8-BC40-C21383D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0B1AC-8067-40AB-9833-50F5EE71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2E166-78DE-4FB6-857A-6E08B538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04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E23DC-BE37-4E96-A562-2CAC3262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为什么原始深度不是线性的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3598C-ED0C-43F6-90BC-3F3E03D2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投影变换会让靠近相机的深度更密集、远处深度更压缩，所以原始深度值不能直接当真实距离使用。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C1FEF-850F-4867-8D53-D7C120E7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429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0BA49-15B3-4C3D-919F-E62F3AB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830EA-F7B8-4D07-9259-7C0866B8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深度分布示意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FE95F-B546-4F86-8851-ACE5B3F2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1242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df4bf4ce34bc7"/>
          <a:stretch xmlns:a="http://schemas.openxmlformats.org/drawingml/2006/main"/>
        </p:blipFill>
        <p:spPr>
          <a:xfrm xmlns:a="http://schemas.openxmlformats.org/drawingml/2006/main">
            <a:off x="1121653" y="3181350"/>
            <a:ext cx="2862094" cy="1695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996C2-40B8-4DEB-A473-2E162809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近处精度高，远处分布被压缩，这是深度线性化的前提。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76A58-124C-4ADC-A1AF-64B6A3E7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3429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13950-1E86-4318-9BAE-9DDCE65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CC028-2DEB-4F92-A9BA-80EC60A2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视锥体到裁剪空间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9A9F0-F2E3-4AD4-9C5D-408447B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31242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d3706a6094402"/>
          <a:stretch xmlns:a="http://schemas.openxmlformats.org/drawingml/2006/main"/>
        </p:blipFill>
        <p:spPr>
          <a:xfrm xmlns:a="http://schemas.openxmlformats.org/drawingml/2006/main">
            <a:off x="4724400" y="3449651"/>
            <a:ext cx="2971800" cy="1158847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299E9-747A-4188-858B-AAA63965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投影并不是平移，而是把视锥体重新映射到规则空间。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956A7-1564-4AE0-AC1B-BCA58E39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2575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652E7-7C30-4E03-A7FE-D27ABFA4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76F42-73FC-412C-B6CD-804A2CD4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工程意义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96C520-2B77-4752-A85A-F58473AD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29146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1. Near 不宜设置过小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2. 远处更容易发生 Z-Fighting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3. Shader 采样到的原始深度，通常要先线性化后再参与计算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A5DA51-B416-4294-9769-7E00E4ED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425008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5E368-A24B-47EF-9F5B-B73A2A4E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742FA-F8C6-4D03-9029-9979678D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E8B4C-1B36-4A30-8BB2-9594B78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7465F-435A-41EC-BEDB-E1CAA06C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DEC8B-8FE3-4B75-B2EF-6DE64A6E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83342-FA9D-424C-A78D-5ED1BE0A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E8B4B-C4F1-461D-B35B-A80A9BC2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LINEARIZATION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104D0-8886-4A44-9992-65CF2269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F61CF-A52A-4AD9-87AE-224FECC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05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E80DE-33E7-4D5E-820E-0379390D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为什么要做深度线性化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C5F07-B669-499F-A689-8F19BFA2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只有把设备深度还原成更适合比较的线性眼空间深度，深度差值才真正具备稳定的物理意义。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55B39-8966-48C9-BA56-3C53E146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095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2E334-1CAF-4A29-AE8E-8949048A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DB29E-AF83-4D68-9A58-5A890233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线性化链路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A1879-EA73-4A35-867A-61A64EC1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3752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屏幕 UV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→ SampleSceneDepth 读取原始场景深度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→ LinearEyeDepth 还原线性深度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→ 才能与当前物体深度做比较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FBA0F-F48D-4B4D-92DB-B424EF7F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61150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FBDB6-F8E3-441D-96B8-F3D8527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611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A6E93-75AE-4525-BD6C-6E983DB2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6FB55-E962-4AC4-882D-86C5578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2C920-AD8A-45B1-B902-1BDD35AB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D447A-68CB-4A75-BA2C-EAD739F4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52725"/>
            <a:ext cx="523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关键代码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8547EC-BE24-45EE-975C-E335950B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57721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// sceneEyeDepth 才更接近可比较的线性距离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85F28-5030-4B99-8FAB-B9BAE983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课堂提示：不要把 SampleSceneDepth 直接当真实距离，这是本节最容易踩坑的地方。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0DFA4-16F8-4DB1-B2A2-810E497D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297364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AE3E3-E220-4B91-9E84-9342A19B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72A84-7905-463E-8811-DB562C17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3F094-5CC0-4DF0-AC3B-B6AB7A41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8B612-A3AC-4F6F-9A37-02FE036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A3F75-DA28-484E-A820-36AAD18A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69B10-B3CE-4A89-906D-645AB1F6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4B5CE-7714-49DB-8DA7-CD56CDFD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SCREEN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3DD24-D7D3-4D0F-A1D3-26A571B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690B0-0925-49FB-9E78-97AC5FFE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06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95B81-EAAA-4BDF-AC93-C9CD2E0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屏幕坐标如何采样深度纹理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0C80B-DFBC-41AE-B1B2-63B05C76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先找到当前片元在屏幕上的位置，再去对应位置读取场景深度，这就是 ComputeScreenPos 与 screenUV 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3118B-840E-40D6-9A97-F85FB92A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1FBA7-85E7-4819-8A5B-92439BAC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AABD3-91C3-4FD5-BBAF-15403CD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62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6F93C-913E-4697-8210-889CC238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ComputeScreenPos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D0F4C-61AB-4DEB-8580-35E6C06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把当前片元整理到可换算屏幕 UV 的数据格式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3C266-FEAD-4792-94EC-AC01F923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F1C93-3B6F-4EFC-8ECF-80432940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35688-C961-40D0-9EDD-F21AF84A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9F83C-5CD7-496D-BF3D-054FBBC4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D6D21-459D-497C-9010-FF95CD48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4C1E5-D211-4E4E-A290-0FEC4103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SampleSceneDepth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B51AA-FC4D-404D-943B-55AD8018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读取该屏幕位置后方最近场景表面的深度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37CE7-3135-4673-A41A-5F9DD280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100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83AA2-BD11-44A3-8C29-C3E6FA82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766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84CF9-E4C7-40C4-96FB-3D5E819D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DD037-FE9B-4609-AF49-5E45B352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C2979-F6F5-4D7A-B157-7E0B0EDD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9B534A-2020-4C19-B625-925C339C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LinearEyeDepth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90BF51-4C9E-4F6F-8424-FD64B63E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把原始深度转成更适合比较的线性深度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8255DA-7D66-48C7-9ED7-8616A0ED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482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535BC9-6E52-4F17-9018-238FE525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148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3B270A-50DF-4925-B922-5FC63FFD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4650D0-0EF0-4A6A-9F8A-4BB9C99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805306-DACA-4BD2-888C-D15771BC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768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16B420-7A58-470E-B5A4-6A40A0C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Depth Difference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3C648A-35AF-4731-960D-0CABF0BD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场景深度减去当前表面深度，得到空间厚度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9C300E-0769-4E65-AA43-10D96887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864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2116B5-66E0-479F-9A44-E186A40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530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7EF305-7DD2-4706-9E0A-F17DE24C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7CF90F-ED9F-40B3-993B-B4ACF8C4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4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E07941-4EBF-4F76-BCFD-A50BFA47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150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3BC890-E22E-4060-A998-54DECD89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Drive Result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2A2173-3690-4B63-937F-FB34C26E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驱动护盾交界高亮、水体厚度、泡沫和软粒子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6E3B76-1762-40A7-B59B-FFA794CD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429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D203D7-759E-46DA-AB15-5D85E075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6EB031-686E-4E26-8661-63613A58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A89693-14DA-4A52-B04B-16105533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DC177B-9C7C-4038-BD87-674C2B04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48F7CB-45EF-4B12-B652-6B4F7542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81275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采样路径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846A7F-A673-44BE-93F4-300B62F4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30861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output.screenPos = ComputeScreenPos(positionCS);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3A5A6C-0B70-413B-9942-B06BDD49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32766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04CBC0-0FE6-4934-8771-0370DA69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6AC131-FBE4-4B87-B2C0-00424D6E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讲解建议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834FB9-9780-4FE6-B753-39AA01A1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9337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可以把它说成：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先找到当前片元在屏幕上的位置，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再问深度纹理“这个位置后面最近的场景表面有多远”。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这一步讲顺了，学生后面看护盾和水体代码都会更轻松。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14777B-7AA5-4AE4-946F-E8598446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294030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87F73-DF45-4589-B380-95217D17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A5591-41EF-4D84-A932-A4680832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AFDC0-4A8F-451E-B1DC-ECAEF5CC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C93B3-5FE4-45D2-9451-92F3E49E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BFA6F-5534-4EF3-B5F2-7AB34151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A5943-19E9-4CBC-A7E1-A26923F6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A44B2-3728-4329-9704-C8DEACB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DIFFERENCE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F338B-DBA1-4D48-9DF2-1A1155B1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D2E8F-180B-4A22-933F-AF2211B8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07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38092-E065-41D0-9635-E872AD50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深度差值为什么能驱动特效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CE332-D4C8-431E-88B8-67D7CE6C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场景深度减去当前表面深度，得到的就是当前表面与后方场景之间还能容纳多少空间。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C6AA2-3A14-4366-8D0C-F5BD4693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295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C3769-C3F7-46CC-9859-52BD273F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295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2DA35-B5BC-4FD8-9C97-48370C8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公式本质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AD6F6-37F3-477F-AB03-7303BDF3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9527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Depth Difference = Scene Depth - Surface 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差值小：说明表面贴近后方几何体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差值大：说明后方还有更大的空间厚度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0268B-20AF-41FB-A4F4-F070B27C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295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E8CCC-0C29-4875-BAD9-7D59A9FC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295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80EB4-CBD2-4E89-AD7E-600011F3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直接能做什么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76E64-D7FC-45A3-9B4F-459BCF5C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29527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1. 水体厚度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2. 浅水到深水颜色过渡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3. 岸边或碰撞边缘泡沫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4. 护盾贴墙发光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5. 软粒子与地面融合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7606C-2667-4590-859F-E9CE6401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4480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8DF8E-ACEC-48E5-BF55-2A1816F0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448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3F599-AF32-4C33-B6FD-51BFAD3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对学生要强调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B1353-E433-4CC6-94B9-35E7E81D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3105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深度纹理不是把颜色变灰后再拿来用。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它记录的是空间前后关系，我们只是把这种关系翻译成美术能感知的视觉结果。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08BF3-E6D9-42EE-B7AB-D2CDC0CB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392847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5F875-8F02-49A5-9FA5-30D016A5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FC354-6A48-418D-95D6-6DF53E6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2D70C-8FEA-4882-BEC6-F1F41A49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BE96D-399A-4D2D-B4AC-D58F58DC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2ED7B-3E8B-4587-BBF9-3B687A8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B142F-BF4A-454F-B646-D67F3988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BB8AF-0935-4090-B400-3E4CD648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SHIELD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A8160-81C6-433C-854B-BB64F6F5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06185-C9F5-4F8B-B6DB-21FA6457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08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CB526-5D64-4B81-B2BA-9BA9D73E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本节主案例：护盾深度纹理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ADCB9-21D4-4BDF-A50C-DA15AD2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本节对应案例脚本是 ScreenDepthTexture_Debug.shader，水体只作为下一节的应用迁移。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9FEAE-8895-42F1-8F2F-9F8F41D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4669-6D26-443B-8CF8-24BB5CEC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55090-3C55-4719-82E5-008AC4D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为什么主案例选护盾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469AF-354F-4F59-82DE-FF6958CA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181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护盾比水面更纯粹。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它不会先把学生注意力带去波浪、法线、反射这些附加表现，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而是能让学生先看懂深度纹理到底做了什么。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8E5B2-9D09-4998-A830-999185D3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21164-8F2D-4092-A6B4-453DB9CF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64E2B-3C4B-4861-ADAD-E6674028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脚本对应关系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1543B-8758-4433-B720-729010C1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主案例脚本：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Assets/ShaderCourse/Example/DepthTestURP/Shaders/ScreenDepthTexture_Debug.shader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它用护盾效果把“采样场景深度、计算自身深度、比较两者差值”三步完整可视化出来。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3E364-E79C-4FC8-8779-F153E5B2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E9576-7982-456F-928B-AE629A7A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AA1F8-2A89-43DE-BA90-56DA379D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如何过渡到 PoolWater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0D499-9838-4FD6-A2A1-DED71A44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66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当学生已经理解“深度差值可以驱动交界效果”之后，迁移到水面只需要再走一步：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把护盾交界高亮改写成水体厚度、浅深水颜色和泡沫边缘。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34C5E-B148-4F55-BE81-15194EAB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课堂顺序建议：先讲护盾，把原理讲透；再讲 PoolWater，学生会自然理解它只是同一逻辑的另一种视觉应用。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25C1F-E40E-47B6-951E-B3A8F0D3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673034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43833-3D03-44A3-870F-A5630CAB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7167A-341B-47B3-A5B1-6556FE1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EF21-4A47-443D-8FE5-FB8C5B92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44697-A4D4-46BD-8054-9669F81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3AE38-56DA-4055-94FD-BFACFC6D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CCEAF-63F3-478C-90A6-F1DD644C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7FA38-9A2F-4369-920A-1AA4ADBF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D8DEB-8CF8-4BC2-8235-461034A6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7AA95-DB90-4937-A22D-B6DC185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09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3158-B90D-4C6A-966D-DD795C0F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护盾案例脚本中的深度纹理重点代码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8E5F1-9B65-4BAC-8671-D497A4FF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这一页对应本节主案例，而不是水体脚本。讲代码时建议把“采样、线性化、比较、驱动效果”四步串起来。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62A02-53B8-4131-B5E9-C8DE2A72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73DC1-34CE-4EAE-8045-B6605858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D89FD-1F87-45F6-9EDC-E24FA4AB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033D6-571C-4EB9-963D-5026E7AE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FCC12-AC02-482B-A25F-3D5DC38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48AC9-0F9C-43FB-B35C-247D74A9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ScreenDepthTexture_Debug.shader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C3DE0-A3C8-4577-B250-01B4306E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5124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rawSceneDepth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sceneEyeDepth = LinearEyeDepth(rawSceneDepth,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objectEyeDepth = input.objectEyeDepth;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gapDepth = max(sceneEyeDepth - objectEyeDepth, 0.0h);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intersectionMask =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saturate(1.0h - gapDepth / max(_IntersectionWidth, 0.0001h))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* _IntersectionStrength;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9800A-4F82-48BD-8F61-C96715BB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9F775-7973-4921-BC66-C98E3CEB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32BC8-B192-4E74-8F91-FFA87F12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逐行讲解建议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59A75-6E97-4D3C-9EE7-CFD25BE3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4457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1. screenUV：找到当前片元在屏幕上的采样坐标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2. SampleSceneDepth：读取护盾后方的场景深度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3. LinearEyeDepth：把设备深度还原成线性深度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4. objectEyeDepth：当前护盾片元自身深度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5. gapDepth：深度差值，决定交界发光和内部染色强弱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BA602-2C89-4B55-85A4-619AFF85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5F3"/>
                </a:solidFill>
              </a:defRPr>
            </a:pPr>
            <a:r>
              <a:rPr sz="1200" b="0">
                <a:solidFill>
                  <a:srgbClr val="D8E5F3"/>
                </a:solidFill>
              </a:rPr>
              <a:t>前面讲过的菲涅尔与边缘光在这里负责“好看”，而深度差值负责“为什么靠近墙时会亮起来”。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713D3-FC27-4D2F-B623-DD7B966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1351951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E54A72-7397-48DC-965E-A478A1D298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53B7B-6077-4396-9523-73ACCCB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8284D-90D8-4BF8-A9D5-76EB96DC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C4735-103C-44D7-880B-354B0CD1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FC7D7-26FC-420B-9524-E5DBA74E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D41CC-37C6-4C71-97AC-558D8E89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C2BC6-9738-47BD-A851-AA957443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F7E16-6FA9-435F-BB49-13910258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WRAP-UP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ECFF1-72CF-4465-842E-8B46874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9728A-15EE-4035-AFBD-E02A69EB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10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21DE0-D78B-4347-83F2-FC6AE63E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小结与练习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67724-5D46-4B6B-80ED-625063A0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把“深度缓冲、深度纹理、线性化、屏幕采样、护盾案例”真正串成一条完整知识链。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907C5-76AD-4693-A704-624C1EAD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522C2-C723-4DCE-88BE-1D4CC766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280BF-A757-4BC4-9508-0D2B7F48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49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本章三句话总结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3E683-7588-406A-8DDD-C975EB12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4495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1. 深度缓冲负责遮挡裁决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2. 深度纹理让 Shader 能主动读取场景深度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3. 深度差值把空间关系翻译成可视化参数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E7A8B-A8E4-4832-9725-A5A172FE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E6241-A390-4A16-96BA-CE227E81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B8754-44B8-48BA-B244-5153631B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510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ED9FC-0C15-4781-94EE-E24FAA00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5105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A：修改 Near / Far，观察护盾交界是否更稳定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B：调整 _IntersectionWidth，观察贴墙高亮范围变化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C：调整 _RimPower，观察边缘高亮如何与深度差值共同塑形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0EF3A-4F7E-47D5-960D-4C91833A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下一节进入 PoolWater 时，只需要再完成一次“应用迁移”：把护盾里的交界高亮思路，改写成水体厚度、泡沫和浅深水过渡。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D246D-C5E9-4F75-B1F4-56D3CDD0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testing｜ScreenDepthTexture_Debug.shader｜DepthPool_Water_Demo.shader</a:t>
            </a:r>
          </a:p>
        </p:txBody>
      </p:sp>
    </p:spTree>
    <p:extLst>
      <p:ext uri="{BB962C8B-B14F-4D97-AF65-F5344CB8AC3E}">
        <p14:creationId xmlns:p14="http://schemas.microsoft.com/office/powerpoint/2010/main" val="2059348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2026-04-20T04:24:00.2150000Z</dcterms:created>
  <dcterms:modified xsi:type="dcterms:W3CDTF">2026-04-20T04:24:00.2150000Z</dcterms:modified>
</coreProperties>
</file>
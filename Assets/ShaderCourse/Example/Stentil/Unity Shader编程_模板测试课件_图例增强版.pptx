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73bfed2d1241b0" /><Relationship Type="http://schemas.openxmlformats.org/officeDocument/2006/relationships/extended-properties" Target="/docProps/app.xml" Id="R9e60b0dbed2e4946" /><Relationship Type="http://schemas.openxmlformats.org/officeDocument/2006/relationships/officeDocument" Target="/ppt/presentation.xml" Id="R5bf11c30fcda4f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094d26101c42f7"/>
  </p:sldMasterIdLst>
  <p:notesMasterIdLst>
    <p:notesMasterId xmlns:r="http://schemas.openxmlformats.org/officeDocument/2006/relationships" r:id="R81a51b34cabe4943"/>
  </p:notesMasterIdLst>
  <p:sldIdLst>
    <p:sldId xmlns:r="http://schemas.openxmlformats.org/officeDocument/2006/relationships" id="256" r:id="R7fd778716ea4435c"/>
    <p:sldId xmlns:r="http://schemas.openxmlformats.org/officeDocument/2006/relationships" id="257" r:id="Rb41a64c75bd44b79"/>
    <p:sldId xmlns:r="http://schemas.openxmlformats.org/officeDocument/2006/relationships" id="258" r:id="Rcc402cd830e54377"/>
    <p:sldId xmlns:r="http://schemas.openxmlformats.org/officeDocument/2006/relationships" id="259" r:id="R0bf791eb8b724cc4"/>
    <p:sldId xmlns:r="http://schemas.openxmlformats.org/officeDocument/2006/relationships" id="260" r:id="Ref2fdabda52d48b4"/>
    <p:sldId xmlns:r="http://schemas.openxmlformats.org/officeDocument/2006/relationships" id="261" r:id="Rc9a6c4cb681a44df"/>
    <p:sldId xmlns:r="http://schemas.openxmlformats.org/officeDocument/2006/relationships" id="262" r:id="Rc9dffe0f569d4938"/>
    <p:sldId xmlns:r="http://schemas.openxmlformats.org/officeDocument/2006/relationships" id="263" r:id="R863d279d97a54cf6"/>
    <p:sldId xmlns:r="http://schemas.openxmlformats.org/officeDocument/2006/relationships" id="264" r:id="R6014d4dcef9e4663"/>
    <p:sldId xmlns:r="http://schemas.openxmlformats.org/officeDocument/2006/relationships" id="265" r:id="Ra75f39f614f94e1b"/>
    <p:sldId xmlns:r="http://schemas.openxmlformats.org/officeDocument/2006/relationships" id="266" r:id="R38b3d0ca1f9d4c0b"/>
    <p:sldId xmlns:r="http://schemas.openxmlformats.org/officeDocument/2006/relationships" id="267" r:id="R58b96fd1866140e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094d26101c42f7" /><Relationship Type="http://schemas.openxmlformats.org/officeDocument/2006/relationships/theme" Target="/ppt/theme/theme1.xml" Id="R69eb1f57274043c1" /><Relationship Type="http://schemas.openxmlformats.org/officeDocument/2006/relationships/notesMaster" Target="/ppt/notesMasters/notesMaster1.xml" Id="R81a51b34cabe4943" /><Relationship Type="http://schemas.openxmlformats.org/officeDocument/2006/relationships/presProps" Target="/ppt/presProps.xml" Id="Rb364f1d9217a42cb" /><Relationship Type="http://schemas.openxmlformats.org/officeDocument/2006/relationships/viewProps" Target="/ppt/viewProps.xml" Id="R8e48778fb9954d22" /><Relationship Type="http://schemas.openxmlformats.org/officeDocument/2006/relationships/tableStyles" Target="/ppt/tableStyles.xml" Id="R13dc0bd3f7ee43ac" /><Relationship Type="http://schemas.openxmlformats.org/officeDocument/2006/relationships/slide" Target="/ppt/slides/slide1.xml" Id="R7fd778716ea4435c" /><Relationship Type="http://schemas.openxmlformats.org/officeDocument/2006/relationships/slide" Target="/ppt/slides/slide2.xml" Id="Rb41a64c75bd44b79" /><Relationship Type="http://schemas.openxmlformats.org/officeDocument/2006/relationships/slide" Target="/ppt/slides/slide3.xml" Id="Rcc402cd830e54377" /><Relationship Type="http://schemas.openxmlformats.org/officeDocument/2006/relationships/slide" Target="/ppt/slides/slide4.xml" Id="R0bf791eb8b724cc4" /><Relationship Type="http://schemas.openxmlformats.org/officeDocument/2006/relationships/slide" Target="/ppt/slides/slide5.xml" Id="Ref2fdabda52d48b4" /><Relationship Type="http://schemas.openxmlformats.org/officeDocument/2006/relationships/slide" Target="/ppt/slides/slide6.xml" Id="Rc9a6c4cb681a44df" /><Relationship Type="http://schemas.openxmlformats.org/officeDocument/2006/relationships/slide" Target="/ppt/slides/slide7.xml" Id="Rc9dffe0f569d4938" /><Relationship Type="http://schemas.openxmlformats.org/officeDocument/2006/relationships/slide" Target="/ppt/slides/slide8.xml" Id="R863d279d97a54cf6" /><Relationship Type="http://schemas.openxmlformats.org/officeDocument/2006/relationships/slide" Target="/ppt/slides/slide9.xml" Id="R6014d4dcef9e4663" /><Relationship Type="http://schemas.openxmlformats.org/officeDocument/2006/relationships/slide" Target="/ppt/slides/slide10.xml" Id="Ra75f39f614f94e1b" /><Relationship Type="http://schemas.openxmlformats.org/officeDocument/2006/relationships/slide" Target="/ppt/slides/slide11.xml" Id="R38b3d0ca1f9d4c0b" /><Relationship Type="http://schemas.openxmlformats.org/officeDocument/2006/relationships/slide" Target="/ppt/slides/slide12.xml" Id="R58b96fd1866140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0b3c739aa8243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StencilCourse">
  <a:themeElements>
    <a:clrScheme name="StencilCourse">
      <a:accent1>
        <a:srgbClr val="4FD1C5"/>
      </a:accent1>
      <a:accent2>
        <a:srgbClr val="FF8A65"/>
      </a:accent2>
      <a:accent3>
        <a:srgbClr val="F6C85F"/>
      </a:accent3>
      <a:accent4>
        <a:srgbClr val="7AA2FF"/>
      </a:accent4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tencilCours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cd925802654dff" /><Relationship Type="http://schemas.openxmlformats.org/officeDocument/2006/relationships/notesMaster" Target="/ppt/notesMasters/notesMaster1.xml" Id="R6e5c3054efa34e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b94c3fb67e4ee7" /><Relationship Type="http://schemas.openxmlformats.org/officeDocument/2006/relationships/notesMaster" Target="/ppt/notesMasters/notesMaster1.xml" Id="R7830990daecd4a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cf0fc4b24a4013" /><Relationship Type="http://schemas.openxmlformats.org/officeDocument/2006/relationships/notesMaster" Target="/ppt/notesMasters/notesMaster1.xml" Id="R63570bf4309d4e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c091fe9fbf4c5e" /><Relationship Type="http://schemas.openxmlformats.org/officeDocument/2006/relationships/notesMaster" Target="/ppt/notesMasters/notesMaster1.xml" Id="Re1232893a54e40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02e9dfdd904b15" /><Relationship Type="http://schemas.openxmlformats.org/officeDocument/2006/relationships/notesMaster" Target="/ppt/notesMasters/notesMaster1.xml" Id="R181bcf9c63844a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c038b520a84e8c" /><Relationship Type="http://schemas.openxmlformats.org/officeDocument/2006/relationships/notesMaster" Target="/ppt/notesMasters/notesMaster1.xml" Id="Rf76e029b54a240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37fd1c8e074f16" /><Relationship Type="http://schemas.openxmlformats.org/officeDocument/2006/relationships/notesMaster" Target="/ppt/notesMasters/notesMaster1.xml" Id="Rc52920bca13e4b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344676abd34702" /><Relationship Type="http://schemas.openxmlformats.org/officeDocument/2006/relationships/notesMaster" Target="/ppt/notesMasters/notesMaster1.xml" Id="R821364b53f1a47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290b57a603416b" /><Relationship Type="http://schemas.openxmlformats.org/officeDocument/2006/relationships/notesMaster" Target="/ppt/notesMasters/notesMaster1.xml" Id="R29762031f7ea431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d1f15fa3224340" /><Relationship Type="http://schemas.openxmlformats.org/officeDocument/2006/relationships/notesMaster" Target="/ppt/notesMasters/notesMaster1.xml" Id="R014b2d21d63345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4906008be2c411d" /><Relationship Type="http://schemas.openxmlformats.org/officeDocument/2006/relationships/notesMaster" Target="/ppt/notesMasters/notesMaster1.xml" Id="R17b6c4b8dfb94da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987ea69fed2458a" /><Relationship Type="http://schemas.openxmlformats.org/officeDocument/2006/relationships/notesMaster" Target="/ppt/notesMasters/notesMaster1.xml" Id="R8fe3ba4bf85842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封面需要建立本章定位：它承接 PBR，又为后续遮罩、描边、传送门、后处理铺路。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Assets/ShaderCourse/Example/Stentil/Shaders/Stentil_Mask.shader</a:t>
            </a:r>
          </a:p>
          <a:p xmlns:a="http://schemas.openxmlformats.org/drawingml/2006/main">
            <a:r>
              <a:t>- Assets/ShaderCourse/Example/Stentil/Shaders/Stentil_Geometry.shader</a:t>
            </a:r>
          </a:p>
          <a:p xmlns:a="http://schemas.openxmlformats.org/drawingml/2006/main">
            <a:r>
              <a:t>- Assets/ShaderCourse/Example/Stentil/MagicBox_Testing.md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引导学生回忆之前的知识，把“看起来像什么”与“能不能被看见”分层。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Assets/Courseware/NormalParallaxPPT/images/tbn_vectors.png</a:t>
            </a:r>
          </a:p>
          <a:p xmlns:a="http://schemas.openxmlformats.org/drawingml/2006/main">
            <a:r>
              <a:t>- Assets/Courseware/NormalParallaxPPT/images/parallax_principle.png</a:t>
            </a:r>
          </a:p>
          <a:p xmlns:a="http://schemas.openxmlformats.org/drawingml/2006/main">
            <a:r>
              <a:t>- Assets/TutorialInfo/Icons/URP.png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强调逐像素，而不是整物体开关。模板测试发生在像素级别。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Assets/ShaderCourse/Scripts/StencilTestDemo.cs</a:t>
            </a:r>
          </a:p>
          <a:p xmlns:a="http://schemas.openxmlformats.org/drawingml/2006/main">
            <a:r>
              <a:t>- Assets/ShaderCourse/Shaders/Lesson/StencilTestShader.shader</a:t>
            </a:r>
          </a:p>
          <a:p xmlns:a="http://schemas.openxmlformats.org/drawingml/2006/main">
            <a:r>
              <a:t>- CSDN 检索方向：Unity Shader 模板测试 / Stencil 基础用法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 Queue、ZTest、ZWrite、Stencil 放进同一张图里讲清楚。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Assets/ShaderCourse/Example/Stentil/Shaders/Stentil_Mask.shader</a:t>
            </a:r>
          </a:p>
          <a:p xmlns:a="http://schemas.openxmlformats.org/drawingml/2006/main">
            <a:r>
              <a:t>- Assets/ShaderCourse/Example/Stentil/Shaders/Stentil_Geometry.shader</a:t>
            </a:r>
          </a:p>
          <a:p xmlns:a="http://schemas.openxmlformats.org/drawingml/2006/main">
            <a:r>
              <a:t>- Assets/ShaderCourse/Shaders/Lesson/StencilTestShader.shader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这一页要把“窗口”和“内容”分开讲，建立学生的空间心智模型。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Assets/ShaderCourse/Example/Stentil/MagicBox_Testing.md</a:t>
            </a:r>
          </a:p>
          <a:p xmlns:a="http://schemas.openxmlformats.org/drawingml/2006/main">
            <a:r>
              <a:t>- Assets/ShaderCourse/Example/Stentil/Shaders/Stentil_Geometry.shader</a:t>
            </a:r>
          </a:p>
          <a:p xmlns:a="http://schemas.openxmlformats.org/drawingml/2006/main">
            <a:r>
              <a:t>- Assets/ShaderCourse/Example/Stentil/Shaders/Stentil_Mask.shader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这里要特别强调 ColorMask 0、ZWrite Off、ZTest Always 和 Queue = Geometry-1。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Assets/ShaderCourse/Example/Stentil/Shaders/Stentil_Mask.shader</a:t>
            </a:r>
          </a:p>
          <a:p xmlns:a="http://schemas.openxmlformats.org/drawingml/2006/main">
            <a:r>
              <a:t>- Assets/ShaderCourse/Shaders/Lesson/StencilTestShader.shader</a:t>
            </a:r>
          </a:p>
          <a:p xmlns:a="http://schemas.openxmlformats.org/drawingml/2006/main">
            <a:r>
              <a:t>- CSDN 检索方向：Unity URP Stencil 遮罩与窗口显示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这是本章承上启下的核心页，要把 PBR 与 Stencil 的分工讲明白。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Assets/ShaderCourse/Example/Stentil/Shaders/Stentil_Geometry.shader</a:t>
            </a:r>
          </a:p>
          <a:p xmlns:a="http://schemas.openxmlformats.org/drawingml/2006/main">
            <a:r>
              <a:t>- Assets/ShaderCourse/Example/Stentil/MagicBox_Testing.md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把抽象概念具体化，学生容易在这页彻底理解整个案例。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Assets/ShaderCourse/Example/Stentil/Shaders/Stentil_Mask.shader</a:t>
            </a:r>
          </a:p>
          <a:p xmlns:a="http://schemas.openxmlformats.org/drawingml/2006/main">
            <a:r>
              <a:t>- Assets/ShaderCourse/Example/Stentil/Shaders/Stentil_Geometry.shader</a:t>
            </a:r>
          </a:p>
          <a:p xmlns:a="http://schemas.openxmlformats.org/drawingml/2006/main">
            <a:r>
              <a:t>- Assets/ShaderCourse/Scripts/StencilTestDemo.cs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这一页相当于课堂速查表，适合最后回看。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Assets/ShaderCourse/Scripts/StencilTestDemo.cs</a:t>
            </a:r>
          </a:p>
          <a:p xmlns:a="http://schemas.openxmlformats.org/drawingml/2006/main">
            <a:r>
              <a:t>- Assets/ShaderCourse/Shaders/Lesson/StencilTestShader.shader</a:t>
            </a:r>
          </a:p>
          <a:p xmlns:a="http://schemas.openxmlformats.org/drawingml/2006/main">
            <a:r>
              <a:t>- CSDN 检索方向：Unity Shader 模板测试 / Stencil 基础用法</a:t>
            </a:r>
          </a:p>
          <a:p xmlns:a="http://schemas.openxmlformats.org/drawingml/2006/main">
            <a:r>
              <a:t>- CSDN 检索方向：Unity Stencil 轮廓 / Portal / Mask 案例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保持工程视角，不只是讲概念。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Assets/ShaderCourse/Example/Stentil/MagicBox_Testing.md</a:t>
            </a:r>
          </a:p>
          <a:p xmlns:a="http://schemas.openxmlformats.org/drawingml/2006/main">
            <a:r>
              <a:t>- Assets/ShaderCourse/Example/Stentil/Shaders/Stentil_Mask.shader</a:t>
            </a:r>
          </a:p>
          <a:p xmlns:a="http://schemas.openxmlformats.org/drawingml/2006/main">
            <a:r>
              <a:t>- Assets/ShaderCourse/Example/Stentil/Shaders/Stentil_Geometry.shader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帮学生建立迁移能力，为下一章内容铺垫。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Assets/ShaderCourse/Scripts/StencilTestDemo.cs</a:t>
            </a:r>
          </a:p>
          <a:p xmlns:a="http://schemas.openxmlformats.org/drawingml/2006/main">
            <a:r>
              <a:t>- Assets/ShaderCourse/Shaders/Lesson/StencilTestShader.shader</a:t>
            </a:r>
          </a:p>
          <a:p xmlns:a="http://schemas.openxmlformats.org/drawingml/2006/main">
            <a:r>
              <a:t>- CSDN 检索方向：Unity URP Stencil 遮罩与窗口显示</a:t>
            </a:r>
          </a:p>
          <a:p xmlns:a="http://schemas.openxmlformats.org/drawingml/2006/main">
            <a:r>
              <a:t>- CSDN 检索方向：Unity Stencil 轮廓 / Portal / Mask 案例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最后一页要既总结又给出可执行练习。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Assets/ShaderCourse/Example/Stentil/Shaders/Stentil_Mask.shader</a:t>
            </a:r>
          </a:p>
          <a:p xmlns:a="http://schemas.openxmlformats.org/drawingml/2006/main">
            <a:r>
              <a:t>- Assets/ShaderCourse/Example/Stentil/Shaders/Stentil_Geometry.shader</a:t>
            </a:r>
          </a:p>
          <a:p xmlns:a="http://schemas.openxmlformats.org/drawingml/2006/main">
            <a:r>
              <a:t>- Assets/ShaderCourse/Example/Stentil/MagicBox_Testing.md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20d14e17a4455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8352B124-1AE0-46B5-9E1B-D3BD54B9D83A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C9F88B2B-17F3-4FE7-A23B-1B744F9F17A1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22AB89A-AB66-4C50-B695-6B795101A321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70E197B-7D79-4055-B019-C9AA99C6188D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56D9D8B-C674-449B-85A7-144BA6D130BB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a9813fb830e4504" /><Relationship Type="http://schemas.openxmlformats.org/officeDocument/2006/relationships/slideLayout" Target="/ppt/slideLayouts/slideLayout2.xml" Id="R5eea9f6efadb4c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B935006-887A-4E5C-8B3E-43DDE97E0EDE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ea9f6efadb4c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5a55c5d9a14dee" /><Relationship Type="http://schemas.openxmlformats.org/officeDocument/2006/relationships/notesSlide" Target="/ppt/notesSlides/notesSlide1.xml" Id="R5d7433c3283f45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ad9c2dce7a40c2" /><Relationship Type="http://schemas.openxmlformats.org/officeDocument/2006/relationships/image" Target="/ppt/media/image.png" Id="Rb75e0ef0c46449b8" /><Relationship Type="http://schemas.openxmlformats.org/officeDocument/2006/relationships/image" Target="/ppt/media/image2.png" Id="R8e69b41fe86c4478" /><Relationship Type="http://schemas.openxmlformats.org/officeDocument/2006/relationships/image" Target="/ppt/media/image.jpeg" Id="R6fa35e9fa2294247" /><Relationship Type="http://schemas.openxmlformats.org/officeDocument/2006/relationships/notesSlide" Target="/ppt/notesSlides/notesSlide2.xml" Id="Rddd00ba1362e4c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04bff0b8c043e0" /><Relationship Type="http://schemas.openxmlformats.org/officeDocument/2006/relationships/image" Target="/ppt/media/image3.png" Id="R1ae6f5e6d7ed481a" /><Relationship Type="http://schemas.openxmlformats.org/officeDocument/2006/relationships/notesSlide" Target="/ppt/notesSlides/notesSlide3.xml" Id="R7f32efda756145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9eda1d080b47f8" /><Relationship Type="http://schemas.openxmlformats.org/officeDocument/2006/relationships/notesSlide" Target="/ppt/notesSlides/notesSlide4.xml" Id="R9cca0b87399849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3a6e97739245fe" /><Relationship Type="http://schemas.openxmlformats.org/officeDocument/2006/relationships/notesSlide" Target="/ppt/notesSlides/notesSlide5.xml" Id="Reb5c7aa767304d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f17eed624d4412" /><Relationship Type="http://schemas.openxmlformats.org/officeDocument/2006/relationships/notesSlide" Target="/ppt/notesSlides/notesSlide6.xml" Id="R25d521ced82744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1eefc923d64e09" /><Relationship Type="http://schemas.openxmlformats.org/officeDocument/2006/relationships/notesSlide" Target="/ppt/notesSlides/notesSlide7.xml" Id="R39255945734f42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de3ef0bcf94aa7" /><Relationship Type="http://schemas.openxmlformats.org/officeDocument/2006/relationships/notesSlide" Target="/ppt/notesSlides/notesSlide8.xml" Id="R800c9c4f48b44d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1be72123414c65" /><Relationship Type="http://schemas.openxmlformats.org/officeDocument/2006/relationships/image" Target="/ppt/media/image4.png" Id="R1af5b88ad3b140a0" /><Relationship Type="http://schemas.openxmlformats.org/officeDocument/2006/relationships/image" Target="/ppt/media/image5.png" Id="R6de7426aac364af9" /><Relationship Type="http://schemas.openxmlformats.org/officeDocument/2006/relationships/notesSlide" Target="/ppt/notesSlides/notesSlide9.xml" Id="Rffcf0231471748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d936f651694eb7" /><Relationship Type="http://schemas.openxmlformats.org/officeDocument/2006/relationships/notesSlide" Target="/ppt/notesSlides/notesSlide10.xml" Id="R367391e985a945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0c714ee7064b56" /><Relationship Type="http://schemas.openxmlformats.org/officeDocument/2006/relationships/notesSlide" Target="/ppt/notesSlides/notesSlide11.xml" Id="Rcd14776157a7462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4e08b2db09401c" /><Relationship Type="http://schemas.openxmlformats.org/officeDocument/2006/relationships/notesSlide" Target="/ppt/notesSlides/notesSlide12.xml" Id="R11295d54772842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12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56D9D8B-C674-449B-85A7-144BA6D130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16F002-39C9-43AA-8252-3E677846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762000"/>
            <a:ext cx="43815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45A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D4344-7D62-421F-8321-EC95228E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238250"/>
            <a:ext cx="40957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C6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384C82-800B-4EBA-86E0-07D2D2E3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76750"/>
            <a:ext cx="3619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3E4A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112CD-D22D-4928-B7C2-132319C9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DB623-364F-41A7-8CD6-55A68789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20C032-C410-4FDB-9107-AAECBD72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CAB719-F6EA-402D-8D0C-D40D2BE4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1450"/>
            <a:ext cx="1866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9525">
            <a:solidFill>
              <a:srgbClr val="2E41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7A9680-CFC7-42DF-9102-FF08FF98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D1C5"/>
                </a:solidFill>
              </a:defRPr>
            </a:pPr>
            <a:r>
              <a:rPr sz="1125" b="1">
                <a:solidFill>
                  <a:srgbClr val="4FD1C5"/>
                </a:solidFill>
              </a:rPr>
              <a:t>LESSON 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7F6DE2-6D60-4EF3-BED2-F751EC74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51435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8FAFC"/>
                </a:solidFill>
              </a:defRPr>
            </a:pPr>
            <a:r>
              <a:rPr sz="3750" b="1">
                <a:solidFill>
                  <a:srgbClr val="F8FAFC"/>
                </a:solidFill>
              </a:rPr>
              <a:t>Unity Shader编程</a:t>
            </a:r>
          </a:p>
          <a:p xmlns:a="http://schemas.openxmlformats.org/drawingml/2006/main">
            <a:pPr algn="l">
              <a:defRPr sz="3750" b="1">
                <a:solidFill>
                  <a:srgbClr val="F8FAFC"/>
                </a:solidFill>
              </a:defRPr>
            </a:pPr>
            <a:r>
              <a:rPr sz="3750" b="1">
                <a:solidFill>
                  <a:srgbClr val="F8FAFC"/>
                </a:solidFill>
              </a:rPr>
              <a:t>模板测试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BAAFD2-9242-4239-9359-ACADBB6E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953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DD9"/>
                </a:solidFill>
              </a:defRPr>
            </a:pPr>
            <a:r>
              <a:rPr sz="1575" b="0">
                <a:solidFill>
                  <a:srgbClr val="A9BDD9"/>
                </a:solidFill>
              </a:rPr>
              <a:t>从“材质如何被光照”进入“哪些像素允许显示”</a:t>
            </a:r>
          </a:p>
          <a:p xmlns:a="http://schemas.openxmlformats.org/drawingml/2006/main">
            <a:pPr algn="l">
              <a:defRPr sz="1575" b="0">
                <a:solidFill>
                  <a:srgbClr val="A9BDD9"/>
                </a:solidFill>
              </a:defRPr>
            </a:pPr>
            <a:r>
              <a:rPr sz="1575" b="0">
                <a:solidFill>
                  <a:srgbClr val="A9BDD9"/>
                </a:solidFill>
              </a:rPr>
              <a:t>以 MagicBox 案例讲清 Stencil Buffer、渲染顺序与双 Shader 协作。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5A1B61-1766-406B-BB09-38891B5B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1430">
            <a:solidFill>
              <a:srgbClr val="2E416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9A9525-B65B-4DC6-A6DA-09FD13A5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4095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22A5A9-1750-4B96-AD1A-B61F8A82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95800"/>
            <a:ext cx="3676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本章一句话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503096-61A4-4DDE-A44D-E1C0BE3B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76800"/>
            <a:ext cx="36766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E3F4"/>
                </a:solidFill>
              </a:defRPr>
            </a:pPr>
            <a:r>
              <a:rPr sz="1500" b="0">
                <a:solidFill>
                  <a:srgbClr val="D7E3F4"/>
                </a:solidFill>
              </a:rPr>
              <a:t>Stencil 决定“哪里能显示”，</a:t>
            </a:r>
          </a:p>
          <a:p xmlns:a="http://schemas.openxmlformats.org/drawingml/2006/main">
            <a:pPr algn="l">
              <a:defRPr sz="1500" b="0">
                <a:solidFill>
                  <a:srgbClr val="D7E3F4"/>
                </a:solidFill>
              </a:defRPr>
            </a:pPr>
            <a:r>
              <a:rPr sz="1500" b="0">
                <a:solidFill>
                  <a:srgbClr val="D7E3F4"/>
                </a:solidFill>
              </a:rPr>
              <a:t>PBR 决定“显示之后长什么样”。</a:t>
            </a:r>
          </a:p>
          <a:p xmlns:a="http://schemas.openxmlformats.org/drawingml/2006/main">
            <a:pPr algn="l">
              <a:defRPr sz="1500" b="0">
                <a:solidFill>
                  <a:srgbClr val="D7E3F4"/>
                </a:solidFill>
              </a:defRPr>
            </a:pPr>
            <a:r>
              <a:rPr sz="1500" b="0">
                <a:solidFill>
                  <a:srgbClr val="D7E3F4"/>
                </a:solidFill>
              </a:rPr>
              <a:t>二者分层，才能把渲染逻辑讲明白。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EE4983-D9FB-4E6E-95A2-1FAF5AAF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123950"/>
            <a:ext cx="4000500" cy="440055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0192E"/>
          </a:solidFill>
          <a:ln xmlns:a="http://schemas.openxmlformats.org/drawingml/2006/main" w="15240">
            <a:solidFill>
              <a:srgbClr val="4FD1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FD00A5-0081-4F02-8E4E-D2E44671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428750"/>
            <a:ext cx="2286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CCC81C-4496-45CE-90AF-372AC243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428750"/>
            <a:ext cx="2286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2CE25E-6C6C-4729-8E3B-3022C30E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4287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FB9B50-2B74-49C8-8D10-7392748C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434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825C9F-FB9B-4A18-A881-C0C1161B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2000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B1836"/>
          </a:solidFill>
          <a:ln xmlns:a="http://schemas.openxmlformats.org/drawingml/2006/main" w="11430">
            <a:solidFill>
              <a:srgbClr val="E85D7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DB9EBD-966A-4B34-8BCB-470E5B27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95550"/>
            <a:ext cx="1390650" cy="1390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1E34">
              <a:alpha val="66667"/>
            </a:srgbClr>
          </a:solidFill>
          <a:ln xmlns:a="http://schemas.openxmlformats.org/drawingml/2006/main" w="13335">
            <a:solidFill>
              <a:srgbClr val="E85D7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F7229F-5D3A-492A-97A6-6E7A302B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43200"/>
            <a:ext cx="4953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2740">
              <a:alpha val="66667"/>
            </a:srgbClr>
          </a:solidFill>
          <a:ln xmlns:a="http://schemas.openxmlformats.org/drawingml/2006/main" w="9525">
            <a:solidFill>
              <a:srgbClr val="E85D7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5E3A29-B7DF-4E91-AE84-6AC54BAA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43200"/>
            <a:ext cx="4953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2740">
              <a:alpha val="66667"/>
            </a:srgbClr>
          </a:solidFill>
          <a:ln xmlns:a="http://schemas.openxmlformats.org/drawingml/2006/main" w="9525">
            <a:solidFill>
              <a:srgbClr val="E85D7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B51CA7-987C-4AF8-9260-C19659F4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48100"/>
            <a:ext cx="400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E34">
              <a:alpha val="66667"/>
            </a:srgbClr>
          </a:solidFill>
          <a:ln xmlns:a="http://schemas.openxmlformats.org/drawingml/2006/main" w="9525">
            <a:solidFill>
              <a:srgbClr val="E85D7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3BD7D4-27B3-4744-8A70-EE87F2E7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48100"/>
            <a:ext cx="400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E34">
              <a:alpha val="66667"/>
            </a:srgbClr>
          </a:solidFill>
          <a:ln xmlns:a="http://schemas.openxmlformats.org/drawingml/2006/main" w="9525">
            <a:solidFill>
              <a:srgbClr val="E85D7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ACC2F5-9F4E-4D55-9D96-E79846AE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859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D1C5"/>
                </a:solidFill>
              </a:defRPr>
            </a:pPr>
            <a:r>
              <a:rPr sz="1200" b="1">
                <a:solidFill>
                  <a:srgbClr val="4FD1C5"/>
                </a:solidFill>
              </a:rPr>
              <a:t>窗口内可见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E07110-58A9-4CEB-820F-1E8EDE12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817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8A0C4"/>
                </a:solidFill>
              </a:defRPr>
            </a:pPr>
            <a:r>
              <a:rPr sz="1050" b="0">
                <a:solidFill>
                  <a:srgbClr val="88A0C4"/>
                </a:solidFill>
              </a:rPr>
              <a:t>前置章节：渲染管线 / 光照模型 / 法线贴图 / 视差映射 / PBR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E3839C-D9F1-4014-B1FA-44E3E95D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1057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E85A6"/>
                </a:solidFill>
              </a:defRPr>
            </a:pPr>
            <a:r>
              <a:rPr sz="675" b="0">
                <a:solidFill>
                  <a:srgbClr val="6E85A6"/>
                </a:solidFill>
              </a:rPr>
              <a:t>Sources: Assets/ShaderCourse/Example/Stentil/Shaders/Stentil_Mask.shader  |  Assets/ShaderCourse/Example/Stentil/Shaders/Stentil_Geometry.shader  |  Assets/ShaderCourse/Example/Stentil/MagicBox_Testing.md</a:t>
            </a:r>
          </a:p>
        </p:txBody>
      </p:sp>
    </p:spTree>
    <p:extLst>
      <p:ext uri="{BB962C8B-B14F-4D97-AF65-F5344CB8AC3E}">
        <p14:creationId xmlns:p14="http://schemas.microsoft.com/office/powerpoint/2010/main" val="15326649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C12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56D9D8B-C674-449B-85A7-144BA6D130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6DD33B-7180-4454-B647-557757AB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762000"/>
            <a:ext cx="43815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45A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6CEC6-DD6F-4E74-96CD-1A294A10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238250"/>
            <a:ext cx="40957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C6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CB62E2-96E1-4D9E-BCCD-9E838F13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76750"/>
            <a:ext cx="3619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3E4A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89DF9D-9849-40AF-81AE-237E169B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1AA80E-D1BA-4399-9CDE-2A92DCF0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53F685-EF7E-4F74-95F7-CF5B70D1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A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AF9C93-542B-46A1-99B0-1B971E1F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1450"/>
            <a:ext cx="1866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9525">
            <a:solidFill>
              <a:srgbClr val="2E41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76BEE4-2B01-4CB4-BD77-7793F171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D1C5"/>
                </a:solidFill>
              </a:defRPr>
            </a:pPr>
            <a:r>
              <a:rPr sz="1050" b="1">
                <a:solidFill>
                  <a:srgbClr val="4FD1C5"/>
                </a:solidFill>
              </a:rPr>
              <a:t>BRIDGE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EE9742-DA2B-415C-9CCC-B92CF774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本章在课程中的位置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718541-25F8-4804-A120-688AF234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3C0"/>
                </a:solidFill>
              </a:defRPr>
            </a:pPr>
            <a:r>
              <a:rPr sz="1350" b="0">
                <a:solidFill>
                  <a:srgbClr val="8EA3C0"/>
                </a:solidFill>
              </a:rPr>
              <a:t>Stencil 不直接改变光照模型，而是先回答另一个问题：这个像素到底能不能显示。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DC7786-1319-4ECA-877B-CA10DE59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3812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02 / 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31E4E0-3F55-4C22-B561-50AA3924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666875" cy="17335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1430">
            <a:solidFill>
              <a:srgbClr val="2E416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AC7143-87D3-483C-98C0-6A116AC5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666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795BDF-C044-4E6B-9982-F88AB9EC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1247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渲染管线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C638A3-5E82-4B1D-9168-CE5426F8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9950"/>
            <a:ext cx="12477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3F4"/>
                </a:solidFill>
              </a:defRPr>
            </a:pPr>
            <a:r>
              <a:rPr sz="1275" b="0">
                <a:solidFill>
                  <a:srgbClr val="D7E3F4"/>
                </a:solidFill>
              </a:rPr>
              <a:t>GPU 在什么时候做变换、光栅化、测试与输出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B64899-65C9-44FE-BA2B-2D79003D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571875"/>
            <a:ext cx="304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4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F76482-6EB6-41AD-AF5F-0BCD1536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57500"/>
            <a:ext cx="1666875" cy="17335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1430">
            <a:solidFill>
              <a:srgbClr val="2E416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19367B-813E-442C-AFB6-8DC28A3C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57500"/>
            <a:ext cx="1666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CAEAA1-17CE-4DD7-AA97-54947815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28950"/>
            <a:ext cx="1247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基础光照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20C67E-CE36-4C25-8471-269EE70C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09950"/>
            <a:ext cx="12477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3F4"/>
                </a:solidFill>
              </a:defRPr>
            </a:pPr>
            <a:r>
              <a:rPr sz="1275" b="0">
                <a:solidFill>
                  <a:srgbClr val="D7E3F4"/>
                </a:solidFill>
              </a:rPr>
              <a:t>Lambert / Blinn-Phong 回答“如何受光”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A9C92C-0B66-4B9C-B79C-100F3E24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571875"/>
            <a:ext cx="304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4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90CDCD-0A4D-44B2-A1D2-79FB72D8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1666875" cy="17335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1430">
            <a:solidFill>
              <a:srgbClr val="2E416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7E7027-409F-4F95-9355-6DB2C05A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1666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EDE2A4-3A94-452B-A4EA-04AB0D14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28950"/>
            <a:ext cx="1247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法线贴图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CC889B-681B-44A3-B5E7-FDF7136F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09950"/>
            <a:ext cx="12477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3F4"/>
                </a:solidFill>
              </a:defRPr>
            </a:pPr>
            <a:r>
              <a:rPr sz="1275" b="0">
                <a:solidFill>
                  <a:srgbClr val="D7E3F4"/>
                </a:solidFill>
              </a:rPr>
              <a:t>改变法线，提升细节感，不改轮廓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CD00E9-4DA5-4FFA-8A0B-4DC9093A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571875"/>
            <a:ext cx="304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4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88BC14-204B-4125-9748-3468A896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57500"/>
            <a:ext cx="1666875" cy="17335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1430">
            <a:solidFill>
              <a:srgbClr val="2E416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00394B-D114-489C-9664-B4166D3E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57500"/>
            <a:ext cx="1666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A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958BEF-2174-4997-88C7-ED26AE97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28950"/>
            <a:ext cx="1247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视差映射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2136F2-8418-4703-B993-BC5D63D5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09950"/>
            <a:ext cx="12477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3F4"/>
                </a:solidFill>
              </a:defRPr>
            </a:pPr>
            <a:r>
              <a:rPr sz="1275" b="0">
                <a:solidFill>
                  <a:srgbClr val="D7E3F4"/>
                </a:solidFill>
              </a:rPr>
              <a:t>改变采样坐标，增强深度错觉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4783DF-62AF-4E8A-85E7-C586EF31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71875"/>
            <a:ext cx="304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4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3B5CF2-6A33-47A2-812C-B87D7A44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57500"/>
            <a:ext cx="1666875" cy="17335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1430">
            <a:solidFill>
              <a:srgbClr val="2E416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BC1FE8-58BD-40B3-A57E-486C76AB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57500"/>
            <a:ext cx="1666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E7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8C49A4-927D-4191-8B39-0E384DD1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28950"/>
            <a:ext cx="1247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PBR 光照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326C8C-2A9C-4324-91E4-4CC300D2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9950"/>
            <a:ext cx="12477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3F4"/>
                </a:solidFill>
              </a:defRPr>
            </a:pPr>
            <a:r>
              <a:rPr sz="1275" b="0">
                <a:solidFill>
                  <a:srgbClr val="D7E3F4"/>
                </a:solidFill>
              </a:rPr>
              <a:t>把材质参数与能量守恒引入真实感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DDA69F-B882-43D3-893F-8FB61BED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3571875"/>
            <a:ext cx="304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4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8493CF-713C-4BCD-8BE7-C5747BF9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857500"/>
            <a:ext cx="1666875" cy="17335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1430">
            <a:solidFill>
              <a:srgbClr val="2E416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56E41E-76C3-4745-8F61-46F5DA29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857500"/>
            <a:ext cx="1666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C5BED2-8F35-4C26-85A1-8AF1D5D0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028950"/>
            <a:ext cx="1247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模板测试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AF5F67-DB47-490A-81DD-7495A3B7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09950"/>
            <a:ext cx="12477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3F4"/>
                </a:solidFill>
              </a:defRPr>
            </a:pPr>
            <a:r>
              <a:rPr sz="1275" b="0">
                <a:solidFill>
                  <a:srgbClr val="D7E3F4"/>
                </a:solidFill>
              </a:rPr>
              <a:t>本章新增：决定像素能不能出现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5e0ef0c46449b8"/>
          <a:stretch xmlns:a="http://schemas.openxmlformats.org/drawingml/2006/main"/>
        </p:blipFill>
        <p:spPr>
          <a:xfrm xmlns:a="http://schemas.openxmlformats.org/drawingml/2006/main">
            <a:off x="1284048" y="4876800"/>
            <a:ext cx="1565753" cy="1143000"/>
          </a:xfrm>
          <a:prstGeom xmlns:a="http://schemas.openxmlformats.org/drawingml/2006/main" prst="rect">
            <a:avLst/>
          </a:prstGeom>
        </p:spPr>
      </p:pic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69b41fe86c4478"/>
          <a:stretch xmlns:a="http://schemas.openxmlformats.org/drawingml/2006/main"/>
        </p:blipFill>
        <p:spPr>
          <a:xfrm xmlns:a="http://schemas.openxmlformats.org/drawingml/2006/main">
            <a:off x="3429000" y="4982468"/>
            <a:ext cx="2381250" cy="931664"/>
          </a:xfrm>
          <a:prstGeom xmlns:a="http://schemas.openxmlformats.org/drawingml/2006/main" prst="rect">
            <a:avLst/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a35e9fa2294247"/>
          <a:stretch xmlns:a="http://schemas.openxmlformats.org/drawingml/2006/main"/>
        </p:blipFill>
        <p:spPr>
          <a:xfrm xmlns:a="http://schemas.openxmlformats.org/drawingml/2006/main">
            <a:off x="10306050" y="1100818"/>
            <a:ext cx="1047750" cy="598714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1C6CB72-19D4-492B-A404-F190F91A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76800"/>
            <a:ext cx="44386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1430">
            <a:solidFill>
              <a:srgbClr val="2E416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58BDDAA-8136-47A8-8624-2A2F49E2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76800"/>
            <a:ext cx="443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2B47B08-F512-4BE4-9719-BDFD6319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48250"/>
            <a:ext cx="401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课堂目标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A4CBFEE-7F06-4C07-86FC-88138838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29250"/>
            <a:ext cx="4019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6675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让学生从“材质表现”跨到“可见性控制”。</a:t>
            </a:r>
          </a:p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也就是把渲染问题分成两个层面：</a:t>
            </a:r>
          </a:p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1. 是否显示  2. 显示后怎么受光。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C2D96E4-9A96-4F18-BCE0-76AE17EC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1057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E85A6"/>
                </a:solidFill>
              </a:defRPr>
            </a:pPr>
            <a:r>
              <a:rPr sz="675" b="0">
                <a:solidFill>
                  <a:srgbClr val="6E85A6"/>
                </a:solidFill>
              </a:rPr>
              <a:t>Sources: Assets/Courseware/NormalParallaxPPT/images/tbn_vectors.png  |  Assets/Courseware/NormalParallaxPPT/images/parallax_principle.png  |  Assets/TutorialInfo/Icons/URP.png</a:t>
            </a:r>
          </a:p>
        </p:txBody>
      </p:sp>
    </p:spTree>
    <p:extLst>
      <p:ext uri="{BB962C8B-B14F-4D97-AF65-F5344CB8AC3E}">
        <p14:creationId xmlns:p14="http://schemas.microsoft.com/office/powerpoint/2010/main" val="5438622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C12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56D9D8B-C674-449B-85A7-144BA6D130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1A0A5-07A5-4187-905E-45731DB5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762000"/>
            <a:ext cx="43815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45A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B53EE4-4B35-41D1-AAE0-6EEDDBCA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238250"/>
            <a:ext cx="40957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C6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0B1E3F-ADEE-4265-B205-7EA913FA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76750"/>
            <a:ext cx="3619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3E4A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B3737F-2811-43B0-AAFB-7A149DA0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23A382-6FC0-43E5-AA91-6C654B60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F0D4D0-554C-4F0C-81F9-67A5E4B6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B1E9BA-2D90-418B-BF3B-BBFA504A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1450"/>
            <a:ext cx="1866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9525">
            <a:solidFill>
              <a:srgbClr val="2E41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1E7723-B63F-444D-8532-43570409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D1C5"/>
                </a:solidFill>
              </a:defRPr>
            </a:pPr>
            <a:r>
              <a:rPr sz="1050" b="1">
                <a:solidFill>
                  <a:srgbClr val="4FD1C5"/>
                </a:solidFill>
              </a:rPr>
              <a:t>THEORY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09CF90-9B1E-4AAF-83ED-531AAA23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模板测试的核心概念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5F5645-4D3F-4BBA-B6F6-F9A18D17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3C0"/>
                </a:solidFill>
              </a:defRPr>
            </a:pPr>
            <a:r>
              <a:rPr sz="1350" b="0">
                <a:solidFill>
                  <a:srgbClr val="8EA3C0"/>
                </a:solidFill>
              </a:rPr>
              <a:t>Stencil Buffer 是一个逐像素整数缓冲区，常见范围 0~255。</a:t>
            </a:r>
          </a:p>
          <a:p xmlns:a="http://schemas.openxmlformats.org/drawingml/2006/main">
            <a:pPr algn="l">
              <a:defRPr sz="1350" b="0">
                <a:solidFill>
                  <a:srgbClr val="8EA3C0"/>
                </a:solidFill>
              </a:defRPr>
            </a:pPr>
            <a:r>
              <a:rPr sz="1350" b="0">
                <a:solidFill>
                  <a:srgbClr val="8EA3C0"/>
                </a:solidFill>
              </a:rPr>
              <a:t>它不负责颜色，只负责给像素贴上“通行证”。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E70957-286E-4BDE-A469-4071778F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3812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03 / 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75BDA7-8A10-4D21-A02F-45468C9A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25527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1430">
            <a:solidFill>
              <a:srgbClr val="2E416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60F0D0-B6CA-418B-948F-060F438E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2552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A84A0A-1738-4B15-A2B0-7485FAAB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Color Buffer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A79D9D-AAE0-40AC-A4A3-B3922DFD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133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7E3F4"/>
                </a:solidFill>
              </a:defRPr>
            </a:pPr>
            <a:r>
              <a:rPr sz="1425" b="0">
                <a:solidFill>
                  <a:srgbClr val="D7E3F4"/>
                </a:solidFill>
              </a:rPr>
              <a:t>存放最终颜色。</a:t>
            </a:r>
          </a:p>
          <a:p xmlns:a="http://schemas.openxmlformats.org/drawingml/2006/main">
            <a:pPr algn="l">
              <a:defRPr sz="1425" b="0">
                <a:solidFill>
                  <a:srgbClr val="D7E3F4"/>
                </a:solidFill>
              </a:defRPr>
            </a:pPr>
            <a:r>
              <a:rPr sz="1425" b="0">
                <a:solidFill>
                  <a:srgbClr val="D7E3F4"/>
                </a:solidFill>
              </a:rPr>
              <a:t>通过所有测试后才写入。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40A8F1-E888-42B9-B0D9-71203CA0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24150"/>
            <a:ext cx="25527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1430">
            <a:solidFill>
              <a:srgbClr val="2E41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65A5E0-2FEE-4A6C-AB97-314C74AF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24150"/>
            <a:ext cx="2552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A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1E9C8F-161A-46CB-A776-ABA6325D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9560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Depth Buffer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612283-443C-46F6-9103-D7089C6F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276600"/>
            <a:ext cx="2133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618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7E3F4"/>
                </a:solidFill>
              </a:defRPr>
            </a:pPr>
            <a:r>
              <a:rPr sz="1425" b="0">
                <a:solidFill>
                  <a:srgbClr val="D7E3F4"/>
                </a:solidFill>
              </a:rPr>
              <a:t>记录深度，决定“谁在前”。</a:t>
            </a:r>
          </a:p>
          <a:p xmlns:a="http://schemas.openxmlformats.org/drawingml/2006/main">
            <a:pPr algn="l">
              <a:defRPr sz="1425" b="0">
                <a:solidFill>
                  <a:srgbClr val="D7E3F4"/>
                </a:solidFill>
              </a:defRPr>
            </a:pPr>
            <a:r>
              <a:rPr sz="1425" b="0">
                <a:solidFill>
                  <a:srgbClr val="D7E3F4"/>
                </a:solidFill>
              </a:rPr>
              <a:t>对应 ZTest / ZWrite。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1A5E81-EBD6-4F7A-B3B9-21FD3BDE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25527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1430">
            <a:solidFill>
              <a:srgbClr val="2E416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7A029B-CD8A-4620-81DF-A82AC733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2552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02E993-CFBB-4ADC-AA1A-1202033E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005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Stencil Buffer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B4B4F3-3236-4FB6-9C9C-62306F09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2133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7E3F4"/>
                </a:solidFill>
              </a:defRPr>
            </a:pPr>
            <a:r>
              <a:rPr sz="1425" b="0">
                <a:solidFill>
                  <a:srgbClr val="D7E3F4"/>
                </a:solidFill>
              </a:rPr>
              <a:t>记录整数标签。</a:t>
            </a:r>
          </a:p>
          <a:p xmlns:a="http://schemas.openxmlformats.org/drawingml/2006/main">
            <a:pPr algn="l">
              <a:defRPr sz="1425" b="0">
                <a:solidFill>
                  <a:srgbClr val="D7E3F4"/>
                </a:solidFill>
              </a:defRPr>
            </a:pPr>
            <a:r>
              <a:rPr sz="1425" b="0">
                <a:solidFill>
                  <a:srgbClr val="D7E3F4"/>
                </a:solidFill>
              </a:rPr>
              <a:t>范围常见为 0~255。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C402F0-DF3F-4E15-8D2E-B0F4D9AE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29100"/>
            <a:ext cx="25527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1430">
            <a:solidFill>
              <a:srgbClr val="2E416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D21C1A-B9B6-4C22-9C93-E7409E2C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29100"/>
            <a:ext cx="2552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5E25A4-7E70-43F3-9419-7A76E9CB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4005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关键参数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270711-0827-4232-BACA-8B9547EE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81550"/>
            <a:ext cx="2133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98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Ref = 比较参考值</a:t>
            </a:r>
          </a:p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Comp = 比较方式</a:t>
            </a:r>
          </a:p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Pass / Fail / ZFail = 后续动作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5F9696-3A99-4756-9B24-A6E79E90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24150"/>
            <a:ext cx="474345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0478">
            <a:solidFill>
              <a:srgbClr val="2E416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E96A28-BAA1-456B-A352-9EB43F08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24150"/>
            <a:ext cx="4743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059279-98E9-421F-B20E-3DF54075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40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网络图例：模板缓冲区遮罩示意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92FE4D-6327-48EE-BDBD-9E601FAC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00400"/>
            <a:ext cx="44005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C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e6f5e6d7ed481a"/>
          <a:stretch xmlns:a="http://schemas.openxmlformats.org/drawingml/2006/main"/>
        </p:blipFill>
        <p:spPr>
          <a:xfrm xmlns:a="http://schemas.openxmlformats.org/drawingml/2006/main">
            <a:off x="7457616" y="3295650"/>
            <a:ext cx="3048917" cy="150495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18EDEF-363D-441B-97C4-1C0930E0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67300"/>
            <a:ext cx="436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8221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FD0E8"/>
                </a:solidFill>
              </a:defRPr>
            </a:pPr>
            <a:r>
              <a:rPr sz="975" b="0">
                <a:solidFill>
                  <a:srgbClr val="BFD0E8"/>
                </a:solidFill>
              </a:rPr>
              <a:t>图例表达了一个关键事实：模板测试发生在屏幕空间像素上，被允许的区域才会把颜色写进 Color Buffer。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4CE3B6-2A14-40D2-8F37-2BEB16FA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课堂强调：模板测试是逐像素测试，而不是“整物体开/关”。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8B338B-96A2-4E73-92DF-7F623019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341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EA3C0"/>
                </a:solidFill>
              </a:defRPr>
            </a:pPr>
            <a:r>
              <a:rPr sz="1200" b="0">
                <a:solidFill>
                  <a:srgbClr val="8EA3C0"/>
                </a:solidFill>
              </a:rPr>
              <a:t>可以把它理解成：Mask 先给像素发门票，Geometry 再核验门票。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0D76A3-1841-4D2D-A16C-2098C98C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1057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E85A6"/>
                </a:solidFill>
              </a:defRPr>
            </a:pPr>
            <a:r>
              <a:rPr sz="675" b="0">
                <a:solidFill>
                  <a:srgbClr val="6E85A6"/>
                </a:solidFill>
              </a:rPr>
              <a:t>Sources: Assets/ShaderCourse/Scripts/StencilTestDemo.cs  |  Assets/ShaderCourse/Shaders/Lesson/StencilTestShader.shader  |  CSDN 检索方向：Unity Shader 模板测试 / Stencil 基础用法</a:t>
            </a:r>
          </a:p>
        </p:txBody>
      </p:sp>
    </p:spTree>
    <p:extLst>
      <p:ext uri="{BB962C8B-B14F-4D97-AF65-F5344CB8AC3E}">
        <p14:creationId xmlns:p14="http://schemas.microsoft.com/office/powerpoint/2010/main" val="9767141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C12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56D9D8B-C674-449B-85A7-144BA6D130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591D3A-6A94-49F3-9DD6-85D084D6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762000"/>
            <a:ext cx="43815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45A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E17D07-18F9-49E3-8F08-50DD87EA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238250"/>
            <a:ext cx="40957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C6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82A88E-E97F-4FBE-A827-96AEFB88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76750"/>
            <a:ext cx="3619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3E4A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A66A8B-4B19-43AA-AAE0-D44EB439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EAE905-0888-4546-B42D-B73685FA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75C425-529A-434D-A358-8EDB8588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39825D-299F-4C39-8EE9-9727246F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1450"/>
            <a:ext cx="1866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9525">
            <a:solidFill>
              <a:srgbClr val="2E41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59B7EA-F09F-4E51-A530-9D95651C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D1C5"/>
                </a:solidFill>
              </a:defRPr>
            </a:pPr>
            <a:r>
              <a:rPr sz="1050" b="1">
                <a:solidFill>
                  <a:srgbClr val="4FD1C5"/>
                </a:solidFill>
              </a:rPr>
              <a:t>PIPELINE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F57801-F692-4473-ADEA-13BFA9DF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渲染顺序与三个缓冲区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6CDE9B-DE95-4225-992E-9DDF8340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3C0"/>
                </a:solidFill>
              </a:defRPr>
            </a:pPr>
            <a:r>
              <a:rPr sz="1350" b="0">
                <a:solidFill>
                  <a:srgbClr val="8EA3C0"/>
                </a:solidFill>
              </a:rPr>
              <a:t>Color / Depth / Stencil 各司其职：颜色决定看到什么，深度决定谁在前，模板决定哪一块区域允许显示。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17800B-3BBD-4A0E-B176-A69AA32F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3812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04 / 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C75E8B-0322-4D91-90AC-E929287B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1943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0478">
            <a:solidFill>
              <a:srgbClr val="2E416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983755-19AB-41C3-87D9-D0D3D825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1943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51F54D-C55F-49B1-A2E1-7B61CA94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Queue = Geometry-1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2360FB-DA77-4E84-8460-DC92F52F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0"/>
            <a:ext cx="1600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38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</a:defRPr>
            </a:pPr>
            <a:r>
              <a:rPr sz="1125" b="0">
                <a:solidFill>
                  <a:srgbClr val="D7E3F4"/>
                </a:solidFill>
              </a:rPr>
              <a:t>Mask 比普通几何体更早渲染，先把模板值写好。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EF722B-F152-46FB-AE7D-E1931012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71850"/>
            <a:ext cx="304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50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D8086E-E92C-42EF-8EDB-B4CFD787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71800"/>
            <a:ext cx="1943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0478">
            <a:solidFill>
              <a:srgbClr val="2E416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B9562D-6F50-4D24-BF9A-5E80B310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71800"/>
            <a:ext cx="1943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1996CF-D66E-41D5-9635-E2E84585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2420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Stencil Replace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D5730B-A205-4941-90F2-3505E599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29000"/>
            <a:ext cx="1600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38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</a:defRPr>
            </a:pPr>
            <a:r>
              <a:rPr sz="1125" b="0">
                <a:solidFill>
                  <a:srgbClr val="D7E3F4"/>
                </a:solidFill>
              </a:rPr>
              <a:t>ColorMask 0，不输出颜色；ZWrite Off，不占深度；只写模板。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BDF480-F278-46D6-9A33-B4CB34E5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371850"/>
            <a:ext cx="304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50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FE51A6-D69D-4F72-B84F-D2569319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71800"/>
            <a:ext cx="1943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0478">
            <a:solidFill>
              <a:srgbClr val="2E416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CBAC10-B36F-47B1-B229-F5BF5EBD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71800"/>
            <a:ext cx="1943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A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5E61B3-30F9-499E-8AB8-45E76D48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2420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Queue = Geometry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035938-B421-4358-A1A0-F9E2B5A3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29000"/>
            <a:ext cx="1600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38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</a:defRPr>
            </a:pPr>
            <a:r>
              <a:rPr sz="1125" b="0">
                <a:solidFill>
                  <a:srgbClr val="D7E3F4"/>
                </a:solidFill>
              </a:rPr>
              <a:t>真正的内容物体开始渲染，读取当前屏幕像素里的模板值。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3E402C-A3CD-4F38-8159-D1C6ECAF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71850"/>
            <a:ext cx="304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50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D297E4-78E1-4D09-AFAB-F49ECD0C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71800"/>
            <a:ext cx="1943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0478">
            <a:solidFill>
              <a:srgbClr val="2E416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DD5719-A769-494B-9ADE-298E67E7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71800"/>
            <a:ext cx="1943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950408-2329-4934-891B-D583753B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2420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Comp Equal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97A8F1-1A7C-40B7-B940-8BF4166C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29000"/>
            <a:ext cx="1600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38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</a:defRPr>
            </a:pPr>
            <a:r>
              <a:rPr sz="1125" b="0">
                <a:solidFill>
                  <a:srgbClr val="D7E3F4"/>
                </a:solidFill>
              </a:rPr>
              <a:t>只有模板值等于自己的 _StencilID 时，才进入后续光照计算。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4F999A-0BCA-4BAB-AFBC-5CB344D4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71850"/>
            <a:ext cx="304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50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FB3456-24E7-46A1-BED2-09BE708F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971800"/>
            <a:ext cx="990600" cy="10668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0478">
            <a:solidFill>
              <a:srgbClr val="2E416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18CE45-05ED-408F-BA94-EAC33E00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971800"/>
            <a:ext cx="990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E7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7608DB-33F4-458E-BB11-EC1CE315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124200"/>
            <a:ext cx="647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PBR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3F63E9-80A9-42BE-8877-101B6B31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429000"/>
            <a:ext cx="647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38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</a:defRPr>
            </a:pPr>
            <a:r>
              <a:rPr sz="1125" b="0">
                <a:solidFill>
                  <a:srgbClr val="D7E3F4"/>
                </a:solidFill>
              </a:rPr>
              <a:t>通过后继续做 BRDF + IBL。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DD20C9-5780-4A81-8361-D24B2FBC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10572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1430">
            <a:solidFill>
              <a:srgbClr val="2E416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E7F9D5-A288-47A1-8D21-8559C354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1057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1F27C0-DBD6-484F-80DA-CA6ED550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33950"/>
            <a:ext cx="10153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一句话理解这条链路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C2A9170-7E46-4B18-9AAA-80C27600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14950"/>
            <a:ext cx="10153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E3F4"/>
                </a:solidFill>
              </a:defRPr>
            </a:pPr>
            <a:r>
              <a:rPr sz="1500" b="0">
                <a:solidFill>
                  <a:srgbClr val="D7E3F4"/>
                </a:solidFill>
              </a:rPr>
              <a:t>Mask Shader 负责“登记窗口区域”，Geometry Shader 负责“只有在窗口区域内才显示真正材质”。</a:t>
            </a:r>
          </a:p>
          <a:p xmlns:a="http://schemas.openxmlformats.org/drawingml/2006/main">
            <a:pPr algn="l">
              <a:defRPr sz="1500" b="0">
                <a:solidFill>
                  <a:srgbClr val="D7E3F4"/>
                </a:solidFill>
              </a:defRPr>
            </a:pPr>
            <a:r>
              <a:rPr sz="1500" b="0">
                <a:solidFill>
                  <a:srgbClr val="D7E3F4"/>
                </a:solidFill>
              </a:rPr>
              <a:t>因此模板测试不替代光照模型，而是把可见性控制嵌入到完整渲染流程中。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873F2F-B430-4C3E-AD01-16BCB0E0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1057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E85A6"/>
                </a:solidFill>
              </a:defRPr>
            </a:pPr>
            <a:r>
              <a:rPr sz="675" b="0">
                <a:solidFill>
                  <a:srgbClr val="6E85A6"/>
                </a:solidFill>
              </a:rPr>
              <a:t>Sources: Assets/ShaderCourse/Example/Stentil/Shaders/Stentil_Mask.shader  |  Assets/ShaderCourse/Example/Stentil/Shaders/Stentil_Geometry.shader  |  Assets/ShaderCourse/Shaders/Lesson/StencilTestShader.shader</a:t>
            </a:r>
          </a:p>
        </p:txBody>
      </p:sp>
    </p:spTree>
    <p:extLst>
      <p:ext uri="{BB962C8B-B14F-4D97-AF65-F5344CB8AC3E}">
        <p14:creationId xmlns:p14="http://schemas.microsoft.com/office/powerpoint/2010/main" val="12664910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C12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56D9D8B-C674-449B-85A7-144BA6D130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7D2951-2588-4326-A6FC-80C5FA71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762000"/>
            <a:ext cx="43815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45A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6E9621-3145-47FA-8AB8-703CA38A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238250"/>
            <a:ext cx="40957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C6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F0CC1-CE51-417F-A58C-DC19EA35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76750"/>
            <a:ext cx="3619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3E4A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59FE0F-2ABA-4A22-8EC1-1A18F8B9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003D0-2236-49EE-8433-8CD12083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F8E583-641B-4A06-9DB3-8E72B826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E88F4D-8139-4ED7-B571-7192A9E6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1450"/>
            <a:ext cx="1866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9525">
            <a:solidFill>
              <a:srgbClr val="2E41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4AAEA8-8D6D-4C44-84B4-D5C20BC4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D1C5"/>
                </a:solidFill>
              </a:defRPr>
            </a:pPr>
            <a:r>
              <a:rPr sz="1050" b="1">
                <a:solidFill>
                  <a:srgbClr val="4FD1C5"/>
                </a:solidFill>
              </a:rPr>
              <a:t>CASE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8F7DA7-6CBE-41A0-B2AC-7B0B11B1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MagicBox 案例结构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F51B5D-0851-4AD3-9253-2C77F451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3C0"/>
                </a:solidFill>
              </a:defRPr>
            </a:pPr>
            <a:r>
              <a:rPr sz="1350" b="0">
                <a:solidFill>
                  <a:srgbClr val="8EA3C0"/>
                </a:solidFill>
              </a:rPr>
              <a:t>四个窗口面板先写入不同的模板 ID，中心重叠的四个模型再按各自 ID 去读取模板值。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216398-41C0-4272-8124-64B04A45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3812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05 / 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7E4606-CC0A-48FC-BBB1-8067A1BB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514350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13335">
            <a:solidFill>
              <a:srgbClr val="2E416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4C2A6F-58B2-4BF1-A439-81BD1E32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956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FD1C5"/>
                </a:solidFill>
              </a:defRPr>
            </a:pPr>
            <a:r>
              <a:rPr sz="1350" b="1">
                <a:solidFill>
                  <a:srgbClr val="4FD1C5"/>
                </a:solidFill>
              </a:rPr>
              <a:t>四个 Mask 窗口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C13463-8E33-468F-B949-ED652F59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6E582B-88DC-4F88-8638-095251E8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482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1F929F-5FD8-440E-9936-2BA47703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171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2D3674-65FF-4E6D-8A9D-A9108BF1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62350"/>
            <a:ext cx="171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21F0D1-AECB-47CA-8187-F72A5F82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848100"/>
            <a:ext cx="1447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31423"/>
          </a:solidFill>
          <a:ln xmlns:a="http://schemas.openxmlformats.org/drawingml/2006/main" w="11430">
            <a:solidFill>
              <a:srgbClr val="E85D7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BFCE75-F159-4A03-B2E0-FC5FCF1A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067175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观察窗口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514D6F-55B5-47F5-B7A7-37C7210E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8635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37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3F4"/>
                </a:solidFill>
              </a:defRPr>
            </a:pPr>
            <a:r>
              <a:rPr sz="1275" b="0">
                <a:solidFill>
                  <a:srgbClr val="D7E3F4"/>
                </a:solidFill>
              </a:rPr>
              <a:t>Left = 1    Right = 2</a:t>
            </a:r>
          </a:p>
          <a:p xmlns:a="http://schemas.openxmlformats.org/drawingml/2006/main">
            <a:pPr algn="l">
              <a:defRPr sz="1275" b="0">
                <a:solidFill>
                  <a:srgbClr val="D7E3F4"/>
                </a:solidFill>
              </a:defRPr>
            </a:pPr>
            <a:r>
              <a:rPr sz="1275" b="0">
                <a:solidFill>
                  <a:srgbClr val="D7E3F4"/>
                </a:solidFill>
              </a:rPr>
              <a:t>Front = 3   Back = 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4D7199-5A96-4B92-A58A-5C1EC712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244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23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EA3C0"/>
                </a:solidFill>
              </a:defRPr>
            </a:pPr>
            <a:r>
              <a:rPr sz="1200" b="0">
                <a:solidFill>
                  <a:srgbClr val="8EA3C0"/>
                </a:solidFill>
              </a:rPr>
              <a:t>Mask 面板只写模板值，不画颜色。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180747-787B-4FAF-8BE3-92B8D4FC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05100"/>
            <a:ext cx="501015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13335">
            <a:solidFill>
              <a:srgbClr val="2E416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1D7981-4AE8-4A63-9BF3-22C488DC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956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C85F"/>
                </a:solidFill>
              </a:defRPr>
            </a:pPr>
            <a:r>
              <a:rPr sz="1350" b="1">
                <a:solidFill>
                  <a:srgbClr val="F6C85F"/>
                </a:solidFill>
              </a:rPr>
              <a:t>中心重叠的四个 Geometry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56648E-2EFE-42DE-9E87-C8A77192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004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4FA8">
              <a:alpha val="66667"/>
            </a:srgbClr>
          </a:solidFill>
          <a:ln xmlns:a="http://schemas.openxmlformats.org/drawingml/2006/main" w="11430">
            <a:solidFill>
              <a:srgbClr val="7AA2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619B07-8F0D-4A0A-8884-274930FA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52800"/>
            <a:ext cx="933450" cy="11239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6A2A85">
              <a:alpha val="66667"/>
            </a:srgbClr>
          </a:solidFill>
          <a:ln xmlns:a="http://schemas.openxmlformats.org/drawingml/2006/main" w="11430">
            <a:solidFill>
              <a:srgbClr val="E85D7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E82613-90FA-4B3B-9711-908A84DA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57600"/>
            <a:ext cx="876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71401D">
              <a:alpha val="66667"/>
            </a:srgbClr>
          </a:solidFill>
          <a:ln xmlns:a="http://schemas.openxmlformats.org/drawingml/2006/main" w="11430">
            <a:solidFill>
              <a:srgbClr val="F6C8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CFB28A-3116-4E5D-8F86-B4E22284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43350"/>
            <a:ext cx="1295400" cy="933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1E34">
              <a:alpha val="66667"/>
            </a:srgbClr>
          </a:solidFill>
          <a:ln xmlns:a="http://schemas.openxmlformats.org/drawingml/2006/main" w="11430">
            <a:solidFill>
              <a:srgbClr val="E85D7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6FC0B5-2760-4E33-8F33-0441F5EF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448050"/>
            <a:ext cx="114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E3F4"/>
                </a:solidFill>
              </a:defRPr>
            </a:pPr>
            <a:r>
              <a:rPr sz="1200" b="0">
                <a:solidFill>
                  <a:srgbClr val="D7E3F4"/>
                </a:solidFill>
              </a:rPr>
              <a:t>Sphere = 1</a:t>
            </a:r>
          </a:p>
          <a:p xmlns:a="http://schemas.openxmlformats.org/drawingml/2006/main">
            <a:pPr algn="l">
              <a:defRPr sz="1200" b="0">
                <a:solidFill>
                  <a:srgbClr val="D7E3F4"/>
                </a:solidFill>
              </a:defRPr>
            </a:pPr>
            <a:r>
              <a:rPr sz="1200" b="0">
                <a:solidFill>
                  <a:srgbClr val="D7E3F4"/>
                </a:solidFill>
              </a:rPr>
              <a:t>Capsule = 2</a:t>
            </a:r>
          </a:p>
          <a:p xmlns:a="http://schemas.openxmlformats.org/drawingml/2006/main">
            <a:pPr algn="l">
              <a:defRPr sz="1200" b="0">
                <a:solidFill>
                  <a:srgbClr val="D7E3F4"/>
                </a:solidFill>
              </a:defRPr>
            </a:pPr>
            <a:r>
              <a:rPr sz="1200" b="0">
                <a:solidFill>
                  <a:srgbClr val="D7E3F4"/>
                </a:solidFill>
              </a:rPr>
              <a:t>Monkey = 3</a:t>
            </a:r>
          </a:p>
          <a:p xmlns:a="http://schemas.openxmlformats.org/drawingml/2006/main">
            <a:pPr algn="l">
              <a:defRPr sz="1200" b="0">
                <a:solidFill>
                  <a:srgbClr val="D7E3F4"/>
                </a:solidFill>
              </a:defRPr>
            </a:pPr>
            <a:r>
              <a:rPr sz="1200" b="0">
                <a:solidFill>
                  <a:srgbClr val="D7E3F4"/>
                </a:solidFill>
              </a:rPr>
              <a:t>Box = 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0EE7BC-D8F7-4B69-9E54-85BD2AC0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48350"/>
            <a:ext cx="10572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0478">
            <a:solidFill>
              <a:srgbClr val="2E416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103C02-5992-44DA-99B1-57E5F3D9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48350"/>
            <a:ext cx="1057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DF808E-49EE-4501-8DD7-A56FC575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19800"/>
            <a:ext cx="1015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教学重点：即使四个模型几乎重叠在一起，也能通过不同 Stencil ID 被不同窗口单独看到，这正是模板测试的价值。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4316F6-9F3C-4517-BD2D-B89995AC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1057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E85A6"/>
                </a:solidFill>
              </a:defRPr>
            </a:pPr>
            <a:r>
              <a:rPr sz="675" b="0">
                <a:solidFill>
                  <a:srgbClr val="6E85A6"/>
                </a:solidFill>
              </a:rPr>
              <a:t>Sources: Assets/ShaderCourse/Example/Stentil/MagicBox_Testing.md  |  Assets/ShaderCourse/Example/Stentil/Shaders/Stentil_Geometry.shader  |  Assets/ShaderCourse/Example/Stentil/Shaders/Stentil_Mask.shader</a:t>
            </a:r>
          </a:p>
        </p:txBody>
      </p:sp>
    </p:spTree>
    <p:extLst>
      <p:ext uri="{BB962C8B-B14F-4D97-AF65-F5344CB8AC3E}">
        <p14:creationId xmlns:p14="http://schemas.microsoft.com/office/powerpoint/2010/main" val="4892210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C12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56D9D8B-C674-449B-85A7-144BA6D130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C2CEE-D2A2-48A0-94AA-9610D016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762000"/>
            <a:ext cx="43815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45A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00005C-DD0C-4B73-A479-9D826B5E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238250"/>
            <a:ext cx="40957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C6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D71CC3-4513-47F5-8B22-AD276E29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76750"/>
            <a:ext cx="3619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3E4A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C67F2C-2F1A-4173-9535-E07DBB68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E14B1-E7CB-49BC-9560-2D669505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12EA6D-EAF5-4A70-84D9-9602FC8C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0D089-5EBD-4907-A0AF-8486FEDD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1450"/>
            <a:ext cx="1866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9525">
            <a:solidFill>
              <a:srgbClr val="2E41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657205-A7A2-45EB-B527-39ED1298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D1C5"/>
                </a:solidFill>
              </a:defRPr>
            </a:pPr>
            <a:r>
              <a:rPr sz="1050" b="1">
                <a:solidFill>
                  <a:srgbClr val="4FD1C5"/>
                </a:solidFill>
              </a:rPr>
              <a:t>MASK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269045-FF7A-47CA-9A7B-F0B9A665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Stentil_Mask.shader 负责什么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E655C0-9B6E-4E86-91C2-3609EBF4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3C0"/>
                </a:solidFill>
              </a:defRPr>
            </a:pPr>
            <a:r>
              <a:rPr sz="1350" b="0">
                <a:solidFill>
                  <a:srgbClr val="8EA3C0"/>
                </a:solidFill>
              </a:rPr>
              <a:t>这个 Shader 的工作不是画出一个可见模型，而是稳定地把模板值写入模板缓冲区。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E95290-0A66-4BFC-874F-4A4EE622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3812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06 / 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7DBCDF-7203-490E-84D8-0B0B4387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45770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0F1830"/>
          </a:solidFill>
          <a:ln xmlns:a="http://schemas.openxmlformats.org/drawingml/2006/main" w="11430">
            <a:solidFill>
              <a:srgbClr val="2E416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A42007-8A34-4D58-8DB8-AB9A48E9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45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3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8367E0-6A69-4C4A-8E51-12A330A0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8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E85D7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7C2500-B8A5-4531-92A1-93B45CBB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solidFill>
              <a:srgbClr val="F6C8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256FA3-5483-480B-8D30-1D242037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38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E7A9"/>
          </a:solidFill>
          <a:ln xmlns:a="http://schemas.openxmlformats.org/drawingml/2006/main" w="0">
            <a:solidFill>
              <a:srgbClr val="5BE7A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8D8F7E-EF26-43CE-9F96-B4B2D02A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09875"/>
            <a:ext cx="3581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FC4E3"/>
                </a:solidFill>
              </a:defRPr>
            </a:pPr>
            <a:r>
              <a:rPr sz="1050" b="1">
                <a:solidFill>
                  <a:srgbClr val="AFC4E3"/>
                </a:solidFill>
              </a:rPr>
              <a:t>Stentil_Mask.shader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B4C4D-5225-4CFD-BA75-D877765B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19450"/>
            <a:ext cx="40767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E4FF"/>
                </a:solidFill>
              </a:defRPr>
            </a:pPr>
            <a:r>
              <a:rPr sz="1125" b="0">
                <a:solidFill>
                  <a:srgbClr val="D8E4FF"/>
                </a:solidFill>
              </a:rPr>
              <a:t>Tags { "Queue" = "Geometry-1"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D8E4FF"/>
                </a:solidFill>
              </a:defRPr>
            </a:pPr>
            <a:r>
              <a:rPr sz="1125" b="0">
                <a:solidFill>
                  <a:srgbClr val="D8E4FF"/>
                </a:solidFill>
              </a:rPr>
              <a:t>ColorMask 0</a:t>
            </a:r>
          </a:p>
          <a:p xmlns:a="http://schemas.openxmlformats.org/drawingml/2006/main">
            <a:pPr algn="l">
              <a:defRPr sz="1125" b="0">
                <a:solidFill>
                  <a:srgbClr val="D8E4FF"/>
                </a:solidFill>
              </a:defRPr>
            </a:pPr>
            <a:r>
              <a:rPr sz="1125" b="0">
                <a:solidFill>
                  <a:srgbClr val="D8E4FF"/>
                </a:solidFill>
              </a:rPr>
              <a:t>ZWrite Off</a:t>
            </a:r>
          </a:p>
          <a:p xmlns:a="http://schemas.openxmlformats.org/drawingml/2006/main">
            <a:pPr algn="l">
              <a:defRPr sz="1125" b="0">
                <a:solidFill>
                  <a:srgbClr val="D8E4FF"/>
                </a:solidFill>
              </a:defRPr>
            </a:pPr>
            <a:r>
              <a:rPr sz="1125" b="0">
                <a:solidFill>
                  <a:srgbClr val="D8E4FF"/>
                </a:solidFill>
              </a:rPr>
              <a:t>ZTest Always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D8E4FF"/>
                </a:solidFill>
              </a:defRPr>
            </a:pPr>
            <a:r>
              <a:rPr sz="1125" b="0">
                <a:solidFill>
                  <a:srgbClr val="D8E4FF"/>
                </a:solidFill>
              </a:rPr>
              <a:t>Stencil</a:t>
            </a:r>
          </a:p>
          <a:p xmlns:a="http://schemas.openxmlformats.org/drawingml/2006/main">
            <a:pPr algn="l">
              <a:defRPr sz="1125" b="0">
                <a:solidFill>
                  <a:srgbClr val="D8E4FF"/>
                </a:solidFill>
              </a:defRPr>
            </a:pPr>
            <a:r>
              <a:rPr sz="1125" b="0">
                <a:solidFill>
                  <a:srgbClr val="D8E4FF"/>
                </a:solidFill>
              </a:rPr>
              <a:t>{</a:t>
            </a:r>
          </a:p>
          <a:p xmlns:a="http://schemas.openxmlformats.org/drawingml/2006/main">
            <a:pPr algn="l">
              <a:defRPr sz="1125" b="0">
                <a:solidFill>
                  <a:srgbClr val="D8E4FF"/>
                </a:solidFill>
              </a:defRPr>
            </a:pPr>
            <a:r>
              <a:rPr sz="1125" b="0">
                <a:solidFill>
                  <a:srgbClr val="D8E4FF"/>
                </a:solidFill>
              </a:rPr>
              <a:t>    Ref [_StencilID]</a:t>
            </a:r>
          </a:p>
          <a:p xmlns:a="http://schemas.openxmlformats.org/drawingml/2006/main">
            <a:pPr algn="l">
              <a:defRPr sz="1125" b="0">
                <a:solidFill>
                  <a:srgbClr val="D8E4FF"/>
                </a:solidFill>
              </a:defRPr>
            </a:pPr>
            <a:r>
              <a:rPr sz="1125" b="0">
                <a:solidFill>
                  <a:srgbClr val="D8E4FF"/>
                </a:solidFill>
              </a:rPr>
              <a:t>    Comp Always</a:t>
            </a:r>
          </a:p>
          <a:p xmlns:a="http://schemas.openxmlformats.org/drawingml/2006/main">
            <a:pPr algn="l">
              <a:defRPr sz="1125" b="0">
                <a:solidFill>
                  <a:srgbClr val="D8E4FF"/>
                </a:solidFill>
              </a:defRPr>
            </a:pPr>
            <a:r>
              <a:rPr sz="1125" b="0">
                <a:solidFill>
                  <a:srgbClr val="D8E4FF"/>
                </a:solidFill>
              </a:rPr>
              <a:t>    Pass Replace</a:t>
            </a:r>
          </a:p>
          <a:p xmlns:a="http://schemas.openxmlformats.org/drawingml/2006/main">
            <a:pPr algn="l">
              <a:defRPr sz="1125" b="0">
                <a:solidFill>
                  <a:srgbClr val="D8E4FF"/>
                </a:solidFill>
              </a:defRPr>
            </a:pPr>
            <a:r>
              <a:rPr sz="1125" b="0">
                <a:solidFill>
                  <a:srgbClr val="D8E4FF"/>
                </a:solidFill>
              </a:rPr>
              <a:t>    Fail Keep</a:t>
            </a:r>
          </a:p>
          <a:p xmlns:a="http://schemas.openxmlformats.org/drawingml/2006/main">
            <a:pPr algn="l">
              <a:defRPr sz="1125" b="0">
                <a:solidFill>
                  <a:srgbClr val="D8E4FF"/>
                </a:solidFill>
              </a:defRPr>
            </a:pPr>
            <a:r>
              <a:rPr sz="1125" b="0">
                <a:solidFill>
                  <a:srgbClr val="D8E4FF"/>
                </a:solidFill>
              </a:rPr>
              <a:t>    ZFail Keep</a:t>
            </a:r>
          </a:p>
          <a:p xmlns:a="http://schemas.openxmlformats.org/drawingml/2006/main">
            <a:pPr algn="l">
              <a:defRPr sz="1125" b="0">
                <a:solidFill>
                  <a:srgbClr val="D8E4FF"/>
                </a:solidFill>
              </a:defRPr>
            </a:pPr>
            <a:r>
              <a:rPr sz="1125" b="0">
                <a:solidFill>
                  <a:srgbClr val="D8E4FF"/>
                </a:solidFill>
              </a:rPr>
              <a:t>}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2C561A-6706-4F11-8E1D-A564DF49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724150"/>
            <a:ext cx="27432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1430">
            <a:solidFill>
              <a:srgbClr val="2E416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335CD6-0E68-47AC-A6AC-4F733CFB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724150"/>
            <a:ext cx="2743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A54DD8-AC6D-480B-97AF-52296474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9560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Queue = Geometry-1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12FE5E-EB0D-4B6F-9C61-69611190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76600"/>
            <a:ext cx="2324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比普通 Geometry 更早执行。</a:t>
            </a:r>
          </a:p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保证后面的内容物体读取模板值时，模板已经写好。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80FE79-A37B-483E-A58F-31FA7388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24150"/>
            <a:ext cx="27432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1430">
            <a:solidFill>
              <a:srgbClr val="2E416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1E66F6-F740-4102-B856-D136CAE2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24150"/>
            <a:ext cx="2743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1A4BDE-FA73-4A65-96B0-8DCD2C5C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9560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ColorMask 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8411DB-95D2-4C91-8FDB-511AAF05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76600"/>
            <a:ext cx="2324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自己不输出颜色。</a:t>
            </a:r>
          </a:p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所以它虽然被渲染了，但屏幕上看不到这个面片本身。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204C9B-A034-46D8-B72B-B854989F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324350"/>
            <a:ext cx="27432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1430">
            <a:solidFill>
              <a:srgbClr val="2E416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5F4B57-C135-4A31-859E-C455619A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324350"/>
            <a:ext cx="2743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A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4D2F24-331F-4077-8A8D-2EDDE48E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49580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ZWrite Off + ZTest Always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F062B4-7BA8-4848-A8B5-670DE2E9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876800"/>
            <a:ext cx="2324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02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不占深度，避免把真正内容挡住；</a:t>
            </a:r>
          </a:p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同时总是执行这次模板写入，让窗口更稳定。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8586EB-725B-4128-BCDC-D40030B3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24350"/>
            <a:ext cx="27432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1430">
            <a:solidFill>
              <a:srgbClr val="2E416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02A5F5-06DE-4913-B6B0-EF2DC87D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24350"/>
            <a:ext cx="2743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E7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9953E5-B503-4AB7-B1DC-32BAF71C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49580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Pass Replace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9E0EF3-48B4-4814-925E-5E52CC5C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876800"/>
            <a:ext cx="2324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02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通过模板比较后，把当前像素的模板值替换成 Ref。</a:t>
            </a:r>
          </a:p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也就是把 _StencilID 写进模板缓冲区。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3B4297-48CA-4F8E-B214-B2B4F0D2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1057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E85A6"/>
                </a:solidFill>
              </a:defRPr>
            </a:pPr>
            <a:r>
              <a:rPr sz="675" b="0">
                <a:solidFill>
                  <a:srgbClr val="6E85A6"/>
                </a:solidFill>
              </a:rPr>
              <a:t>Sources: Assets/ShaderCourse/Example/Stentil/Shaders/Stentil_Mask.shader  |  Assets/ShaderCourse/Shaders/Lesson/StencilTestShader.shader  |  CSDN 检索方向：Unity URP Stencil 遮罩与窗口显示</a:t>
            </a:r>
          </a:p>
        </p:txBody>
      </p:sp>
    </p:spTree>
    <p:extLst>
      <p:ext uri="{BB962C8B-B14F-4D97-AF65-F5344CB8AC3E}">
        <p14:creationId xmlns:p14="http://schemas.microsoft.com/office/powerpoint/2010/main" val="17359435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C12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56D9D8B-C674-449B-85A7-144BA6D130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006031-5DDF-406B-934D-09BA52F1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762000"/>
            <a:ext cx="43815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45A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F983E1-2138-4058-A2D2-13A9FD0E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238250"/>
            <a:ext cx="40957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C6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0887B-C910-4189-BA12-EA1F0B07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76750"/>
            <a:ext cx="3619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3E4A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F5C7D-A4E1-4D37-9E56-292966D0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FA3FB5-2225-460C-B9E1-0C5E3FA1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ED5EE5-3B59-43B8-9A11-010F2B19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A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2D5CF8-A08F-482C-A103-3B9DDD1C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1450"/>
            <a:ext cx="1866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9525">
            <a:solidFill>
              <a:srgbClr val="2E41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AFB0AE-623C-4671-B205-F507231E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D1C5"/>
                </a:solidFill>
              </a:defRPr>
            </a:pPr>
            <a:r>
              <a:rPr sz="1050" b="1">
                <a:solidFill>
                  <a:srgbClr val="4FD1C5"/>
                </a:solidFill>
              </a:rPr>
              <a:t>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AC3ECE-5022-43E9-9B52-3FCABF99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Stentil_Geometry.shader 如何接管显示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89BD76-8097-417E-A63D-87808A67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3C0"/>
                </a:solidFill>
              </a:defRPr>
            </a:pPr>
            <a:r>
              <a:rPr sz="1350" b="0">
                <a:solidFill>
                  <a:srgbClr val="8EA3C0"/>
                </a:solidFill>
              </a:rPr>
              <a:t>模板测试通过之后，像素才进入完整的 URP PBR 光照流程。</a:t>
            </a:r>
          </a:p>
          <a:p xmlns:a="http://schemas.openxmlformats.org/drawingml/2006/main">
            <a:pPr algn="l">
              <a:defRPr sz="1350" b="0">
                <a:solidFill>
                  <a:srgbClr val="8EA3C0"/>
                </a:solidFill>
              </a:defRPr>
            </a:pPr>
            <a:r>
              <a:rPr sz="1350" b="0">
                <a:solidFill>
                  <a:srgbClr val="8EA3C0"/>
                </a:solidFill>
              </a:rPr>
              <a:t>Stencil 决定可见性，PBR 决定可见区域内的材质表现。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3E658A-A86E-4BFC-83EB-A8604CB1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3812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07 / 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78B1F9-01C8-476C-87A4-0B374C0A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26720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0F1830"/>
          </a:solidFill>
          <a:ln xmlns:a="http://schemas.openxmlformats.org/drawingml/2006/main" w="11430">
            <a:solidFill>
              <a:srgbClr val="2E416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E4EB72-297E-46F9-8B1C-F376F113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267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3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F587D6-0FAB-4473-BAE3-F010F0D4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8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E85D7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1E2E35-BD70-4C88-910C-F89405E6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solidFill>
              <a:srgbClr val="F6C8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5F5512-7FA1-49FD-A53D-990CC184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38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E7A9"/>
          </a:solidFill>
          <a:ln xmlns:a="http://schemas.openxmlformats.org/drawingml/2006/main" w="0">
            <a:solidFill>
              <a:srgbClr val="5BE7A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5689A9-F66E-471A-B12F-8CBDC401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09875"/>
            <a:ext cx="3390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FC4E3"/>
                </a:solidFill>
              </a:defRPr>
            </a:pPr>
            <a:r>
              <a:rPr sz="1050" b="1">
                <a:solidFill>
                  <a:srgbClr val="AFC4E3"/>
                </a:solidFill>
              </a:rPr>
              <a:t>Stentil_Geometry.shader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2657E7-05FA-4B22-8A24-86C80B70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19450"/>
            <a:ext cx="38862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E4FF"/>
                </a:solidFill>
              </a:defRPr>
            </a:pPr>
            <a:r>
              <a:rPr sz="1125" b="0">
                <a:solidFill>
                  <a:srgbClr val="D8E4FF"/>
                </a:solidFill>
              </a:rPr>
              <a:t>Stencil</a:t>
            </a:r>
          </a:p>
          <a:p xmlns:a="http://schemas.openxmlformats.org/drawingml/2006/main">
            <a:pPr algn="l">
              <a:defRPr sz="1125" b="0">
                <a:solidFill>
                  <a:srgbClr val="D8E4FF"/>
                </a:solidFill>
              </a:defRPr>
            </a:pPr>
            <a:r>
              <a:rPr sz="1125" b="0">
                <a:solidFill>
                  <a:srgbClr val="D8E4FF"/>
                </a:solidFill>
              </a:rPr>
              <a:t>{</a:t>
            </a:r>
          </a:p>
          <a:p xmlns:a="http://schemas.openxmlformats.org/drawingml/2006/main">
            <a:pPr algn="l">
              <a:defRPr sz="1125" b="0">
                <a:solidFill>
                  <a:srgbClr val="D8E4FF"/>
                </a:solidFill>
              </a:defRPr>
            </a:pPr>
            <a:r>
              <a:rPr sz="1125" b="0">
                <a:solidFill>
                  <a:srgbClr val="D8E4FF"/>
                </a:solidFill>
              </a:rPr>
              <a:t>    Ref [_StencilID]</a:t>
            </a:r>
          </a:p>
          <a:p xmlns:a="http://schemas.openxmlformats.org/drawingml/2006/main">
            <a:pPr algn="l">
              <a:defRPr sz="1125" b="0">
                <a:solidFill>
                  <a:srgbClr val="D8E4FF"/>
                </a:solidFill>
              </a:defRPr>
            </a:pPr>
            <a:r>
              <a:rPr sz="1125" b="0">
                <a:solidFill>
                  <a:srgbClr val="D8E4FF"/>
                </a:solidFill>
              </a:rPr>
              <a:t>    Comp Equal</a:t>
            </a:r>
          </a:p>
          <a:p xmlns:a="http://schemas.openxmlformats.org/drawingml/2006/main">
            <a:pPr algn="l">
              <a:defRPr sz="1125" b="0">
                <a:solidFill>
                  <a:srgbClr val="D8E4FF"/>
                </a:solidFill>
              </a:defRPr>
            </a:pPr>
            <a:r>
              <a:rPr sz="1125" b="0">
                <a:solidFill>
                  <a:srgbClr val="D8E4FF"/>
                </a:solidFill>
              </a:rPr>
              <a:t>    Pass Keep</a:t>
            </a:r>
          </a:p>
          <a:p xmlns:a="http://schemas.openxmlformats.org/drawingml/2006/main">
            <a:pPr algn="l">
              <a:defRPr sz="1125" b="0">
                <a:solidFill>
                  <a:srgbClr val="D8E4FF"/>
                </a:solidFill>
              </a:defRPr>
            </a:pPr>
            <a:r>
              <a:rPr sz="1125" b="0">
                <a:solidFill>
                  <a:srgbClr val="D8E4FF"/>
                </a:solidFill>
              </a:rPr>
              <a:t>    Fail Keep</a:t>
            </a:r>
          </a:p>
          <a:p xmlns:a="http://schemas.openxmlformats.org/drawingml/2006/main">
            <a:pPr algn="l">
              <a:defRPr sz="1125" b="0">
                <a:solidFill>
                  <a:srgbClr val="D8E4FF"/>
                </a:solidFill>
              </a:defRPr>
            </a:pPr>
            <a:r>
              <a:rPr sz="1125" b="0">
                <a:solidFill>
                  <a:srgbClr val="D8E4FF"/>
                </a:solidFill>
              </a:rPr>
              <a:t>    ZFail Keep</a:t>
            </a:r>
          </a:p>
          <a:p xmlns:a="http://schemas.openxmlformats.org/drawingml/2006/main">
            <a:pPr algn="l">
              <a:defRPr sz="1125" b="0">
                <a:solidFill>
                  <a:srgbClr val="D8E4FF"/>
                </a:solidFill>
              </a:defRPr>
            </a:pPr>
            <a:r>
              <a:rPr sz="1125" b="0">
                <a:solidFill>
                  <a:srgbClr val="D8E4FF"/>
                </a:solidFill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D8E4FF"/>
                </a:solidFill>
              </a:defRPr>
            </a:pPr>
            <a:r>
              <a:rPr sz="1125" b="0">
                <a:solidFill>
                  <a:srgbClr val="D8E4FF"/>
                </a:solidFill>
              </a:rPr>
              <a:t>half3 finalColor =</a:t>
            </a:r>
          </a:p>
          <a:p xmlns:a="http://schemas.openxmlformats.org/drawingml/2006/main">
            <a:pPr algn="l">
              <a:defRPr sz="1125" b="0">
                <a:solidFill>
                  <a:srgbClr val="D8E4FF"/>
                </a:solidFill>
              </a:defRPr>
            </a:pPr>
            <a:r>
              <a:rPr sz="1125" b="0">
                <a:solidFill>
                  <a:srgbClr val="D8E4FF"/>
                </a:solidFill>
              </a:rPr>
              <a:t>    EvaluateDirectPBR(...) +</a:t>
            </a:r>
          </a:p>
          <a:p xmlns:a="http://schemas.openxmlformats.org/drawingml/2006/main">
            <a:pPr algn="l">
              <a:defRPr sz="1125" b="0">
                <a:solidFill>
                  <a:srgbClr val="D8E4FF"/>
                </a:solidFill>
              </a:defRPr>
            </a:pPr>
            <a:r>
              <a:rPr sz="1125" b="0">
                <a:solidFill>
                  <a:srgbClr val="D8E4FF"/>
                </a:solidFill>
              </a:rPr>
              <a:t>    EvaluateIBL(...);</a:t>
            </a:r>
          </a:p>
          <a:p xmlns:a="http://schemas.openxmlformats.org/drawingml/2006/main">
            <a:pPr algn="l">
              <a:defRPr sz="1125" b="0">
                <a:solidFill>
                  <a:srgbClr val="D8E4FF"/>
                </a:solidFill>
              </a:defRPr>
            </a:pPr>
            <a:r>
              <a:rPr sz="1125" b="0">
                <a:solidFill>
                  <a:srgbClr val="D8E4FF"/>
                </a:solidFill>
              </a:rPr>
              <a:t>return half4(finalColor, 1.0h);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A84AB2-1AAE-4029-97A6-02D51E0C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724150"/>
            <a:ext cx="28194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1430">
            <a:solidFill>
              <a:srgbClr val="2E416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BB6FD9-F392-4D47-8715-551F86DB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724150"/>
            <a:ext cx="2819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6F249F-3026-4372-84E0-4F63B1E2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895600"/>
            <a:ext cx="2400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Comp Equal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44CD3E-D08E-41E0-9485-33C5C5C2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276600"/>
            <a:ext cx="2400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51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只有当当前屏幕像素里的模板值等于自己的 _StencilID 时，这个像素才允许继续往下执行。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EB5580-3E83-4D18-A899-C7361B5E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2952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1430">
            <a:solidFill>
              <a:srgbClr val="2E416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49A04A-2AC4-43A7-A105-93833EA8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11F14C-ED84-41E4-8084-6B13A149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95600"/>
            <a:ext cx="2533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Pass Keep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436971-4157-4215-8AEA-BC452AF8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76600"/>
            <a:ext cx="2533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51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通过比较后不再改模板值。</a:t>
            </a:r>
          </a:p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Geometry 的职责是读模板，不是重写模板。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288B9D-259C-4E8F-B15E-8FD6AFE5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324350"/>
            <a:ext cx="28194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1430">
            <a:solidFill>
              <a:srgbClr val="2E416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EE715D-791A-4345-8E9F-BE5F26C5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324350"/>
            <a:ext cx="2819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BD2A51-9E2A-447F-B451-7BD246B8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495800"/>
            <a:ext cx="2400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模板测试之后做什么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07EEED-E1BA-4785-B525-CB83541E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876800"/>
            <a:ext cx="2400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02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做 BaseMap 采样、法线贴图、主光、附加光、IBL、Fresnel、GGX、Smith 等完整 PBR 计算。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E5A6B5-F512-4DA9-BB42-C5CCB5FC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24350"/>
            <a:ext cx="29527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1430">
            <a:solidFill>
              <a:srgbClr val="2E416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C01D3E-8D30-4A8D-BF6F-E1FDD20D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2435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FBEFE4-655B-426E-B226-CE014208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95800"/>
            <a:ext cx="2533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承上启下的原因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ECCBF7-0DA8-4615-B6CE-5F13CA25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876800"/>
            <a:ext cx="25336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76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前五章学的是“像素显示后如何受光”。</a:t>
            </a:r>
          </a:p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本章新增的是“像素能否被放行”。</a:t>
            </a:r>
          </a:p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两层组合才构成真实项目中的完整 Shader 思维。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30DAD4-905E-48DA-823A-4F6631A3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1057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E85A6"/>
                </a:solidFill>
              </a:defRPr>
            </a:pPr>
            <a:r>
              <a:rPr sz="675" b="0">
                <a:solidFill>
                  <a:srgbClr val="6E85A6"/>
                </a:solidFill>
              </a:rPr>
              <a:t>Sources: Assets/ShaderCourse/Example/Stentil/Shaders/Stentil_Geometry.shader  |  Assets/ShaderCourse/Example/Stentil/MagicBox_Testing.md</a:t>
            </a:r>
          </a:p>
        </p:txBody>
      </p:sp>
    </p:spTree>
    <p:extLst>
      <p:ext uri="{BB962C8B-B14F-4D97-AF65-F5344CB8AC3E}">
        <p14:creationId xmlns:p14="http://schemas.microsoft.com/office/powerpoint/2010/main" val="9354410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C12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56D9D8B-C674-449B-85A7-144BA6D130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BAC8CB-C9FA-46FD-8813-3B5B9B3B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762000"/>
            <a:ext cx="43815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45A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DDBAAC-6A45-40BE-8B97-4E2540F6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238250"/>
            <a:ext cx="40957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C6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AB094B-428E-4530-94FC-1921CCE4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76750"/>
            <a:ext cx="3619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3E4A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F52ADA-F166-4E80-8A11-FC4EAA86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CCE3F-A257-4374-B735-26A40F57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76FABA-E0B3-41C6-B900-64210D01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4D9474-8CED-492A-951F-BCC031E7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1450"/>
            <a:ext cx="1866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9525">
            <a:solidFill>
              <a:srgbClr val="2E41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B0AB4F-E19C-4157-9D08-F8ED2418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D1C5"/>
                </a:solidFill>
              </a:defRPr>
            </a:pPr>
            <a:r>
              <a:rPr sz="1050" b="1">
                <a:solidFill>
                  <a:srgbClr val="4FD1C5"/>
                </a:solidFill>
              </a:rPr>
              <a:t>PIXEL WALKTHROUGH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8E5A29-E35E-42A3-81CF-E2E80A3F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单个像素的执行路径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763DF8-3CBF-4960-8DE8-B9C1A443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3C0"/>
                </a:solidFill>
              </a:defRPr>
            </a:pPr>
            <a:r>
              <a:rPr sz="1350" b="0">
                <a:solidFill>
                  <a:srgbClr val="8EA3C0"/>
                </a:solidFill>
              </a:rPr>
              <a:t>把一个像素从 Mask 写入、Geometry 比较、通过或失败后的命运完整走一遍。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D7617A-3C71-44E3-8DCB-B3E9B93B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3812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08 / 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B195A8-2B05-4BAC-BD81-993BE701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0478">
            <a:solidFill>
              <a:srgbClr val="2E416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94A13E-7385-4413-B75D-09EB0F1C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866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EAEDE0-92D7-4074-9860-7AE2E754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13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1. Mask 到达该像素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87307F-9024-4979-9EED-923F50AD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8615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</a:defRPr>
            </a:pPr>
            <a:r>
              <a:rPr sz="1125" b="0">
                <a:solidFill>
                  <a:srgbClr val="D7E3F4"/>
                </a:solidFill>
              </a:rPr>
              <a:t>当前材质 _StencilID = 3。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3D630F-60A1-425A-B3AB-020409D7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390900"/>
            <a:ext cx="285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52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E353B5-08E2-4432-A73B-E94E05F5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2895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0478">
            <a:solidFill>
              <a:srgbClr val="2E416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EE0BF1-0BED-4E8B-AFF7-E8EF14FE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28950"/>
            <a:ext cx="1866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1CB4E4-1009-4141-A87E-EEA951A5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813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2. Replace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D92F5B-2C3D-43D8-86C2-C42615B9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48615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</a:defRPr>
            </a:pPr>
            <a:r>
              <a:rPr sz="1125" b="0">
                <a:solidFill>
                  <a:srgbClr val="D7E3F4"/>
                </a:solidFill>
              </a:rPr>
              <a:t>把模板缓冲区该像素值写成 3。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BA4515-31F6-4796-AF7B-8E26353D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90900"/>
            <a:ext cx="285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52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5DD81C-04EA-426E-8F31-4E594376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2895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0478">
            <a:solidFill>
              <a:srgbClr val="2E416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245145-7C9D-4440-8FC7-4B2DABF1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28950"/>
            <a:ext cx="1866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A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A2FED5-9E5F-460D-B384-D54ED454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1813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20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3. Geometry 到达同像素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20B193-3A3B-49C8-9C0B-A0AADAD4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8615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</a:defRPr>
            </a:pPr>
            <a:r>
              <a:rPr sz="1125" b="0">
                <a:solidFill>
                  <a:srgbClr val="D7E3F4"/>
                </a:solidFill>
              </a:rPr>
              <a:t>它的 _StencilID 也是 3。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DB834E-B3C1-4300-9742-E31D4D1A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90900"/>
            <a:ext cx="285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52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4EE56B-9BA6-45D0-8970-8B0987D7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2895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0478">
            <a:solidFill>
              <a:srgbClr val="2E416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75D07E-79C9-40C6-BDE3-2992BB65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28950"/>
            <a:ext cx="1866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E7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9314ED-7052-434E-93AF-DEA11B53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813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4. Comp Equal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324F95-1BB7-481A-8392-1AE894EF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48615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</a:defRPr>
            </a:pPr>
            <a:r>
              <a:rPr sz="1125" b="0">
                <a:solidFill>
                  <a:srgbClr val="D7E3F4"/>
                </a:solidFill>
              </a:rPr>
              <a:t>比较成功，像素继续进入 PBR。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1C1823-3348-47E5-A9FF-D90B3401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390900"/>
            <a:ext cx="285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52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8E62D3-28CA-45B9-A162-F29C486E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28950"/>
            <a:ext cx="13716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0478">
            <a:solidFill>
              <a:srgbClr val="2E416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311A39-9484-41C3-9618-BE13AF50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2895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2EF244-51FF-43FE-AEEE-20E9722C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181350"/>
            <a:ext cx="1028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5. 输出颜色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80CDBC-95DA-4635-A26F-5317EB99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486150"/>
            <a:ext cx="1028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</a:defRPr>
            </a:pPr>
            <a:r>
              <a:rPr sz="1125" b="0">
                <a:solidFill>
                  <a:srgbClr val="D7E3F4"/>
                </a:solidFill>
              </a:rPr>
              <a:t>最终你在窗口中看到模型。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AEF303-85DF-41E2-9613-A856768C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50292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1430">
            <a:solidFill>
              <a:srgbClr val="2E416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5006A3-ADC5-49E4-9B4A-8646C383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5029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080788-C20B-4E9F-AD3F-78D06AED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33950"/>
            <a:ext cx="4610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如果不相等会怎样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293333-B6C6-4EE1-9F09-A26ED62B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14950"/>
            <a:ext cx="4610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54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若 Geometry 的 _StencilID = 2，而当前像素模板值 = 3，Comp Equal 失败。</a:t>
            </a:r>
          </a:p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该像素不会执行后面的光照，也不会在这一块区域显示。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F762690-729E-42FC-BA3B-73B300EE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62500"/>
            <a:ext cx="52578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1430">
            <a:solidFill>
              <a:srgbClr val="2E416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73DF32-91BB-47F5-A0AD-3DAB9FEF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62500"/>
            <a:ext cx="5257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4BD956D-B032-4DC4-A1C8-B4B11989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33950"/>
            <a:ext cx="4838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课堂记忆句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36011EB-5979-46F4-9CB8-79FD9B0D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314950"/>
            <a:ext cx="4838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02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模板先写门牌号，几何体再按门牌号显示。</a:t>
            </a:r>
          </a:p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因此“看见谁”不是由模型位置单独决定，而是由模板匹配结果决定。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B88A9DA-F5DA-472D-BE68-ADB798DB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1057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E85A6"/>
                </a:solidFill>
              </a:defRPr>
            </a:pPr>
            <a:r>
              <a:rPr sz="675" b="0">
                <a:solidFill>
                  <a:srgbClr val="6E85A6"/>
                </a:solidFill>
              </a:rPr>
              <a:t>Sources: Assets/ShaderCourse/Example/Stentil/Shaders/Stentil_Mask.shader  |  Assets/ShaderCourse/Example/Stentil/Shaders/Stentil_Geometry.shader  |  Assets/ShaderCourse/Scripts/StencilTestDemo.cs</a:t>
            </a:r>
          </a:p>
        </p:txBody>
      </p:sp>
    </p:spTree>
    <p:extLst>
      <p:ext uri="{BB962C8B-B14F-4D97-AF65-F5344CB8AC3E}">
        <p14:creationId xmlns:p14="http://schemas.microsoft.com/office/powerpoint/2010/main" val="8269070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C12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56D9D8B-C674-449B-85A7-144BA6D130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84DAF-0A64-4CDC-AB3F-4AA11D37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762000"/>
            <a:ext cx="43815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45A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2B4E4A-11CD-4DB4-AFCC-25BC9BE5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238250"/>
            <a:ext cx="40957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C6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10DD0-A90D-45A7-AB96-65334394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76750"/>
            <a:ext cx="3619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3E4A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2D1D31-C6E1-4027-9166-ED7E64E0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7D18F2-75E2-4313-BAB5-28B9BE34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D89D2-620F-4676-8B8E-B7589405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E7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A46F3E-F591-49C4-86AD-A3234529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1450"/>
            <a:ext cx="1866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9525">
            <a:solidFill>
              <a:srgbClr val="2E41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0FC349-6024-42A5-AD4D-0A2DAEE9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D1C5"/>
                </a:solidFill>
              </a:defRPr>
            </a:pPr>
            <a:r>
              <a:rPr sz="1050" b="1">
                <a:solidFill>
                  <a:srgbClr val="4FD1C5"/>
                </a:solidFill>
              </a:rPr>
              <a:t>REFERENCE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078D4E-4CD1-4C81-AE18-78563817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比较函数与操作类型速查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BF0853-1C13-42B1-A923-F1EE0737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3C0"/>
                </a:solidFill>
              </a:defRPr>
            </a:pPr>
            <a:r>
              <a:rPr sz="1350" b="0">
                <a:solidFill>
                  <a:srgbClr val="8EA3C0"/>
                </a:solidFill>
              </a:rPr>
              <a:t>掌握 Ref / Comp / Pass / Fail / ZFail 的组合方式，才能灵活做遮罩、窗口、描边与 Portal 效果。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DFE295-07AA-491C-818A-457BBD06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3812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09 / 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A0DB0B-8810-4FD5-A1FB-5551396C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504825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0478">
            <a:solidFill>
              <a:srgbClr val="2E416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D8293B-8A92-4E62-9D16-A53ECCC6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504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A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6385C6-9B7D-47D0-BD5B-C381969F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705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网络图例：CompareFunction 对照表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53C534-0E0D-44D4-BE3D-D0D52B3A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47053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C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f5b88ad3b140a0"/>
          <a:stretch xmlns:a="http://schemas.openxmlformats.org/drawingml/2006/main"/>
        </p:blipFill>
        <p:spPr>
          <a:xfrm xmlns:a="http://schemas.openxmlformats.org/drawingml/2006/main">
            <a:off x="1104900" y="3609829"/>
            <a:ext cx="4514850" cy="1295693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705041-1873-4A46-BD3E-1EBD3117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86400"/>
            <a:ext cx="466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173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FD0E8"/>
                </a:solidFill>
              </a:defRPr>
            </a:pPr>
            <a:r>
              <a:rPr sz="975" b="0">
                <a:solidFill>
                  <a:srgbClr val="BFD0E8"/>
                </a:solidFill>
              </a:rPr>
              <a:t>课堂重点：Always 常用于写模板；Equal 常用于窗口显示；NotEqual 常用于轮廓或外扩区域。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942EE8-B046-44D7-8E8D-CFF64827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24150"/>
            <a:ext cx="520065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0478">
            <a:solidFill>
              <a:srgbClr val="2E416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AEE56A-77B2-49AF-9340-54BC6DA1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24150"/>
            <a:ext cx="5200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9C6379-BB81-47DC-9300-ECC81671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76550"/>
            <a:ext cx="485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网络图例：StencilOp 对照表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466D91-D84B-46FF-907D-0F51F911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00400"/>
            <a:ext cx="48577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C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e7426aac364af9"/>
          <a:stretch xmlns:a="http://schemas.openxmlformats.org/drawingml/2006/main"/>
        </p:blipFill>
        <p:spPr>
          <a:xfrm xmlns:a="http://schemas.openxmlformats.org/drawingml/2006/main">
            <a:off x="6477000" y="3578360"/>
            <a:ext cx="4667250" cy="135863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E6FAF2-228E-488C-BDE4-29EEA90C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81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8865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FD0E8"/>
                </a:solidFill>
              </a:defRPr>
            </a:pPr>
            <a:r>
              <a:rPr sz="975" b="0">
                <a:solidFill>
                  <a:srgbClr val="BFD0E8"/>
                </a:solidFill>
              </a:rPr>
              <a:t>课堂重点：Keep 表示只读模板；Replace 表示写模板；Zero / Incr / Decr 则可扩展更复杂的区域控制。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7ED4F7-B9D1-4519-890D-E3449D3F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81700"/>
            <a:ext cx="10572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0478">
            <a:solidFill>
              <a:srgbClr val="2E416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F487D1-84A2-448C-9ED4-1D3DE7BA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81700"/>
            <a:ext cx="1057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4B6E8F-B32B-40A2-A944-412586B0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53150"/>
            <a:ext cx="10153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168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本案例推荐组合：Mask = Comp Always + Pass Replace；Geometry = Comp Equal + Pass Keep。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651641-2B01-4E95-A729-57E28761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1057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E85A6"/>
                </a:solidFill>
              </a:defRPr>
            </a:pPr>
            <a:r>
              <a:rPr sz="675" b="0">
                <a:solidFill>
                  <a:srgbClr val="6E85A6"/>
                </a:solidFill>
              </a:rPr>
              <a:t>Sources: Assets/ShaderCourse/Scripts/StencilTestDemo.cs  |  Assets/ShaderCourse/Shaders/Lesson/StencilTestShader.shader  |  CSDN 检索方向：Unity Shader 模板测试 / Stencil 基础用法  |  CSDN 检索方向：Unity Stencil 轮廓 / Portal / Mask 案例</a:t>
            </a:r>
          </a:p>
        </p:txBody>
      </p:sp>
    </p:spTree>
    <p:extLst>
      <p:ext uri="{BB962C8B-B14F-4D97-AF65-F5344CB8AC3E}">
        <p14:creationId xmlns:p14="http://schemas.microsoft.com/office/powerpoint/2010/main" val="10689311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C12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56D9D8B-C674-449B-85A7-144BA6D130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7875EB-A495-4856-8173-9A670712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762000"/>
            <a:ext cx="43815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45A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DA2FDF-68C6-44E2-9DF2-57DFFB86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238250"/>
            <a:ext cx="40957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C6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3CE98F-93E4-4D0E-B994-28068FBD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76750"/>
            <a:ext cx="3619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3E4A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0DA416-C9AA-45B7-8291-5D8B6010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137374-BA18-411C-9798-AC446370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AA7D47-75CF-4321-8E47-CED75856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48F67F-89E3-4574-94A7-6464D193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1450"/>
            <a:ext cx="1866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9525">
            <a:solidFill>
              <a:srgbClr val="2E41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AB38A0-3EE1-4FBC-B6A9-5C768557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D1C5"/>
                </a:solidFill>
              </a:defRPr>
            </a:pPr>
            <a:r>
              <a:rPr sz="1050" b="1">
                <a:solidFill>
                  <a:srgbClr val="4FD1C5"/>
                </a:solidFill>
              </a:rPr>
              <a:t>DEBUG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FEE595-FAB9-414A-AC8C-37A5D191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常见错误与排查方法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D79AE7-BCDF-4DFD-A44B-C2965347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3C0"/>
                </a:solidFill>
              </a:defRPr>
            </a:pPr>
            <a:r>
              <a:rPr sz="1350" b="0">
                <a:solidFill>
                  <a:srgbClr val="8EA3C0"/>
                </a:solidFill>
              </a:rPr>
              <a:t>学会观察“什么都看不到”“所有窗口显示同一内容”“Mask 自己被看见”这三类经典故障。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10F572-41AF-403D-8869-CDAD5C94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3812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10 / 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C84687-9A1A-4044-841E-8B5858A1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32575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1430">
            <a:solidFill>
              <a:srgbClr val="2E416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3FF34F-2182-47BF-8C0C-15574B8B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3257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75F844-0EDD-4C65-B21D-2DEC5218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7180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故障 1：什么都看不到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CA4911-38B5-497E-88E4-60FBDFB5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838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19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先检查 Mask 与 Geometry 的 _StencilID 是否一致；</a:t>
            </a:r>
          </a:p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再检查 Mask 是否确实比 Geometry 更早渲染。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E36A4A-107D-4A5C-AE3D-DFE7E46A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00350"/>
            <a:ext cx="32575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1430">
            <a:solidFill>
              <a:srgbClr val="2E41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3D050C-BC2D-4926-94D9-F24FFE1E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00350"/>
            <a:ext cx="3257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A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2CA4C-FA10-4DD2-A58E-F7A37670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7180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故障 2：四个面都看到同一内容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49A5A5-2CE1-4867-B984-B151D278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52800"/>
            <a:ext cx="2838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通常是四个 Mask 材质或四个 Geometry 材质没有正确分配不同 ID。</a:t>
            </a:r>
          </a:p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逐个核对 1 / 2 / 3 / 4。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B63D46-571C-4860-AB83-52FDA445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00350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1430">
            <a:solidFill>
              <a:srgbClr val="2E416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08F833-3A45-4BA6-9592-03BB82AD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0035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095DA6-1E8A-4ED1-9BC1-D51A3581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7180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故障 3：Mask 自己被看见了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BBE051-FE06-4B3A-9897-2041E901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52800"/>
            <a:ext cx="29146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说明 ColorMask 0 被改掉了，或者材质换错了 Shader。</a:t>
            </a:r>
          </a:p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Mask 面片本身不应该输出颜色。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CB6534-A458-4A65-B4DC-93420A4A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32575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1430">
            <a:solidFill>
              <a:srgbClr val="2E416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1952A5-151A-475D-B224-32A999AE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3257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72D24A-60C4-45CD-A5F4-D7B19797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8630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观察法 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BF16B9-B817-4DE4-B7D4-A1C491E8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67300"/>
            <a:ext cx="2838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临时让 Geometry 只输出纯色，先确认是不是模板问题，再回到完整 PBR 计算。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04E206-BA8F-422F-A493-D657455D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14850"/>
            <a:ext cx="32575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1430">
            <a:solidFill>
              <a:srgbClr val="2E416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F84CA4-8F02-4DD0-A15F-4F1FE84C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14850"/>
            <a:ext cx="3257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E7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FCA512-C574-42E2-B115-B900D30C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8630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观察法 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C46B6D-8990-4AAD-898C-A61DE6EC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67300"/>
            <a:ext cx="2838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先只保留一个 Mask 与一个 Geometry，把变量减少到最小，再逐步恢复。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D8B0BB-8B88-43BC-AE83-9A2E5636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14850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1430">
            <a:solidFill>
              <a:srgbClr val="2E416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21974B-D4D9-43B6-AC14-DB497265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1485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799DAE-8C68-40D7-A755-C07CF0ED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8630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观察法 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EB49E4-B3B6-4C4E-8937-F436681A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67300"/>
            <a:ext cx="29146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501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关注 Render Queue、ZWrite、ZTest、Stencil 四组状态；</a:t>
            </a:r>
          </a:p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模板类问题往往不是片元颜色公式本身出错。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3CC6E9-F074-42C7-A452-905A8719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1057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E85A6"/>
                </a:solidFill>
              </a:defRPr>
            </a:pPr>
            <a:r>
              <a:rPr sz="675" b="0">
                <a:solidFill>
                  <a:srgbClr val="6E85A6"/>
                </a:solidFill>
              </a:rPr>
              <a:t>Sources: Assets/ShaderCourse/Example/Stentil/MagicBox_Testing.md  |  Assets/ShaderCourse/Example/Stentil/Shaders/Stentil_Mask.shader  |  Assets/ShaderCourse/Example/Stentil/Shaders/Stentil_Geometry.shader</a:t>
            </a:r>
          </a:p>
        </p:txBody>
      </p:sp>
    </p:spTree>
    <p:extLst>
      <p:ext uri="{BB962C8B-B14F-4D97-AF65-F5344CB8AC3E}">
        <p14:creationId xmlns:p14="http://schemas.microsoft.com/office/powerpoint/2010/main" val="14090126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C12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56D9D8B-C674-449B-85A7-144BA6D130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1EC738-C41B-437F-AC25-E4F9432A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762000"/>
            <a:ext cx="43815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45A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DF6419-D8B1-4498-9FA9-758803E8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238250"/>
            <a:ext cx="40957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C6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1436D9-F014-4E7B-9380-2F9FA898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76750"/>
            <a:ext cx="3619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3E4A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27E739-9E1C-44DB-9241-4058DB6B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3A4D49-DF02-47EC-8640-8EB750D4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FE8143-886E-404D-9B76-A4CAC9B9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598528-9572-4225-B46B-5F22F4A7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1450"/>
            <a:ext cx="1866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9525">
            <a:solidFill>
              <a:srgbClr val="2E41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19802C-9839-4193-A48B-206D9351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D1C5"/>
                </a:solidFill>
              </a:defRPr>
            </a:pPr>
            <a:r>
              <a:rPr sz="1050" b="1">
                <a:solidFill>
                  <a:srgbClr val="4FD1C5"/>
                </a:solidFill>
              </a:rPr>
              <a:t>APPLICATION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88815A-2843-423D-9D13-A724B024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模板测试能做什么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F00FB5-1EAA-4896-965E-972AE4AB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3C0"/>
                </a:solidFill>
              </a:defRPr>
            </a:pPr>
            <a:r>
              <a:rPr sz="1350" b="0">
                <a:solidFill>
                  <a:srgbClr val="8EA3C0"/>
                </a:solidFill>
              </a:rPr>
              <a:t>模板测试是局部可见性控制工具，常用于窗口显示、UI 遮罩、轮廓描边、传送门与选择性渲染。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F83B60-1ABD-4949-8264-18140BD4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3812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11 / 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C54AA8-318D-4E2A-8099-3556EAEC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23622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1430">
            <a:solidFill>
              <a:srgbClr val="2E416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C6C8AB-D724-4F0D-9528-2075A28B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2362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F552A9-8078-4954-9067-25A75C8C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窗口显示 / 观察窗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25293A-1109-4E79-B7CC-2D0FC6ED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9950"/>
            <a:ext cx="19431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最直观的用法。</a:t>
            </a:r>
          </a:p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只在指定面片或孔洞区域内显示另一套内容。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BA97F8-2FD2-4ADC-8CD6-C289B3DE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57500"/>
            <a:ext cx="23622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1430">
            <a:solidFill>
              <a:srgbClr val="2E41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5CF175-3BCE-46AF-BA36-34916FAD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57500"/>
            <a:ext cx="2362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8FF4AC-7C4A-4D31-9445-890759B0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2895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UI 遮罩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2139A7-C5EE-466A-9CD4-04E7348C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09950"/>
            <a:ext cx="19431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限定图片、特效、进度条的显示区域。</a:t>
            </a:r>
          </a:p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思路与 3D 窗口完全一致。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FC37EF-0712-455E-BE12-8B03841F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57500"/>
            <a:ext cx="23622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1430">
            <a:solidFill>
              <a:srgbClr val="2E416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87FDE8-AB02-4EC3-A721-25B2850D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57500"/>
            <a:ext cx="2362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A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7036DA-0E50-407C-9486-98EB7B0E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2895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轮廓描边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69FB4A-0A36-41FA-8F80-7376A0EA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19431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常配合 NotEqual 使用。</a:t>
            </a:r>
          </a:p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先标记主体，再绘制放大外壳，只保留轮廓区域。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E40581-04A9-4AF8-8FFB-563398BD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57500"/>
            <a:ext cx="25717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1430">
            <a:solidFill>
              <a:srgbClr val="2E416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CC0D46-BEA4-4355-9265-21D51D96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57500"/>
            <a:ext cx="2571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E47709-CA0D-41D0-A641-7A4A5A05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28950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Portal / 选择性渲染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BD738F-9512-4E14-A2F8-FA345B3D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09950"/>
            <a:ext cx="21526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用于传送门、X-Ray、局部显影等效果。</a:t>
            </a:r>
          </a:p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它本质上是“让不同区域看到不同世界”。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EE6730-F9A0-40AB-9EC1-7C130D01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86400"/>
            <a:ext cx="10572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0478">
            <a:solidFill>
              <a:srgbClr val="2E416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375D68-EBCD-4A1C-ADCD-00AE6739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86400"/>
            <a:ext cx="1057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E7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75811E-4B98-4A0E-BBE6-6C97655B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57850"/>
            <a:ext cx="10153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课程承接：下一步可以继续延伸到描边、局部 dissolve、后处理遮罩、屏幕空间特效与 Render Feature 配合。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B83458-72C1-434F-AA1F-4E79584B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1057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E85A6"/>
                </a:solidFill>
              </a:defRPr>
            </a:pPr>
            <a:r>
              <a:rPr sz="675" b="0">
                <a:solidFill>
                  <a:srgbClr val="6E85A6"/>
                </a:solidFill>
              </a:rPr>
              <a:t>Sources: Assets/ShaderCourse/Scripts/StencilTestDemo.cs  |  Assets/ShaderCourse/Shaders/Lesson/StencilTestShader.shader  |  CSDN 检索方向：Unity URP Stencil 遮罩与窗口显示  |  CSDN 检索方向：Unity Stencil 轮廓 / Portal / Mask 案例</a:t>
            </a:r>
          </a:p>
        </p:txBody>
      </p:sp>
    </p:spTree>
    <p:extLst>
      <p:ext uri="{BB962C8B-B14F-4D97-AF65-F5344CB8AC3E}">
        <p14:creationId xmlns:p14="http://schemas.microsoft.com/office/powerpoint/2010/main" val="16262420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C12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56D9D8B-C674-449B-85A7-144BA6D130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5BCBDC-09B8-4A3D-AF25-C762C60F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762000"/>
            <a:ext cx="43815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45A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0E2760-D2FA-4792-807B-C80A8655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238250"/>
            <a:ext cx="40957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C6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9C840B-37B7-4762-A5DD-05F4B4D1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76750"/>
            <a:ext cx="3619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3E4A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30C8C2-0A6A-47C7-B89E-97EDADF5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BBCFF0-A956-494F-BF42-2A39618B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5C99B1-3780-4192-AD99-CC885EB5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84FDD2-270E-47FA-95BD-B267E12A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1450"/>
            <a:ext cx="1866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9525">
            <a:solidFill>
              <a:srgbClr val="2E41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D8B570-C8C2-4576-8E25-081388B0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D1C5"/>
                </a:solidFill>
              </a:defRPr>
            </a:pPr>
            <a:r>
              <a:rPr sz="1050" b="1">
                <a:solidFill>
                  <a:srgbClr val="4FD1C5"/>
                </a:solidFill>
              </a:rPr>
              <a:t>WRAP-UP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F51395-BD0A-49B5-8297-21021110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小结与课后练习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4B0611-4710-4C3C-8118-14B8B395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3C0"/>
                </a:solidFill>
              </a:defRPr>
            </a:pPr>
            <a:r>
              <a:rPr sz="1350" b="0">
                <a:solidFill>
                  <a:srgbClr val="8EA3C0"/>
                </a:solidFill>
              </a:rPr>
              <a:t>把“先写模板，再读模板，最后再做光照”真正变成可复述、可实现、可调试的知识。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D6BB52-AA75-45D4-9163-CEB0E7FE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3812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12 / 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E63D8B-194E-4733-9BEC-32C214AC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485775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1430">
            <a:solidFill>
              <a:srgbClr val="2E416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67FAD5-94FB-4E3D-807D-0B364217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485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DECB23-E9F2-47EA-BD2E-C21393B5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71800"/>
            <a:ext cx="443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本章三句总结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A4EB50-4751-4A55-99FA-23456E3C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44386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1. 模板缓冲区存的是逐像素整数标签，不是颜色。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2. Mask Shader 常用于写模板值，Geometry Shader 常用于读模板值。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3. Stencil 决定可见区域，BRDF / IBL / 法线贴图决定区域内的材质表现。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3C7DA0-672C-419C-B922-B5CA6506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00350"/>
            <a:ext cx="54483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1430">
            <a:solidFill>
              <a:srgbClr val="2E41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3AF85F-9A2E-4291-A2D0-20E2ED39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00350"/>
            <a:ext cx="5448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DFD667-BC87-4769-B25C-76410BC3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71800"/>
            <a:ext cx="502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课后练习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9A62B5-986E-4309-B908-23251716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52800"/>
            <a:ext cx="50292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练习 A：把当前案例扩展成 6 个窗口、6 个几何体。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练习 B：把 Geometry 的 Comp Equal 改成 NotEqual，观察显示结果。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练习 C：尝试做一个简单描边效果，体会模板值如何辅助轮廓渲染。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D7E3F4"/>
                </a:solidFill>
              </a:defRPr>
            </a:pPr>
            <a:r>
              <a:rPr sz="1350" b="0">
                <a:solidFill>
                  <a:srgbClr val="D7E3F4"/>
                </a:solidFill>
              </a:rPr>
              <a:t>练习 D：写一份自己的“Stencil 调试清单”。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841A22-5785-4383-B872-D7703D98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572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D2E4F">
              <a:alpha val="86667"/>
            </a:srgbClr>
          </a:solidFill>
          <a:ln xmlns:a="http://schemas.openxmlformats.org/drawingml/2006/main" w="10478">
            <a:solidFill>
              <a:srgbClr val="2E416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04A024-196B-4DF1-88B4-2AD296C9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57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E7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3E2410-C6C5-4DD9-AB90-BA1F00D7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10153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目标不是背参数，而是能清楚解释每一个像素为什么被显示、为什么被拒绝。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E215D3-C925-436F-9A49-511D820F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1057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E85A6"/>
                </a:solidFill>
              </a:defRPr>
            </a:pPr>
            <a:r>
              <a:rPr sz="675" b="0">
                <a:solidFill>
                  <a:srgbClr val="6E85A6"/>
                </a:solidFill>
              </a:rPr>
              <a:t>Sources: Assets/ShaderCourse/Example/Stentil/Shaders/Stentil_Mask.shader  |  Assets/ShaderCourse/Example/Stentil/Shaders/Stentil_Geometry.shader  |  Assets/ShaderCourse/Example/Stentil/MagicBox_Testing.md</a:t>
            </a:r>
          </a:p>
        </p:txBody>
      </p:sp>
    </p:spTree>
    <p:extLst>
      <p:ext uri="{BB962C8B-B14F-4D97-AF65-F5344CB8AC3E}">
        <p14:creationId xmlns:p14="http://schemas.microsoft.com/office/powerpoint/2010/main" val="334987585"/>
      </p:ext>
    </p:extLst>
  </p:cSld>
</p:sld>
</file>

<file path=ppt/theme/theme1.xml><?xml version="1.0" encoding="utf-8"?>
<a:theme xmlns:a="http://schemas.openxmlformats.org/drawingml/2006/main" name="StencilCourse">
  <a:themeElements>
    <a:clrScheme name="StencilCourse">
      <a:accent1>
        <a:srgbClr val="4FD1C5"/>
      </a:accent1>
      <a:accent2>
        <a:srgbClr val="FF8A65"/>
      </a:accent2>
      <a:accent3>
        <a:srgbClr val="F6C85F"/>
      </a:accent3>
      <a:accent4>
        <a:srgbClr val="7AA2FF"/>
      </a:accent4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tencilCours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2026-04-19T01:51:22.6880000Z</dcterms:created>
  <dcterms:modified xsi:type="dcterms:W3CDTF">2026-04-19T01:51:22.6880000Z</dcterms:modified>
</coreProperties>
</file>
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0d1c922b71487c" /><Relationship Type="http://schemas.openxmlformats.org/officeDocument/2006/relationships/extended-properties" Target="/docProps/app.xml" Id="Rcaf01e98afe543e5" /><Relationship Type="http://schemas.openxmlformats.org/officeDocument/2006/relationships/officeDocument" Target="/ppt/presentation.xml" Id="R3c937c2d548646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1e4ee7177a4e55"/>
  </p:sldMasterIdLst>
  <p:notesMasterIdLst>
    <p:notesMasterId xmlns:r="http://schemas.openxmlformats.org/officeDocument/2006/relationships" r:id="Re2820f01efb3442a"/>
  </p:notesMasterIdLst>
  <p:sldIdLst>
    <p:sldId xmlns:r="http://schemas.openxmlformats.org/officeDocument/2006/relationships" id="256" r:id="Rafa35ad8999f4c1f"/>
    <p:sldId xmlns:r="http://schemas.openxmlformats.org/officeDocument/2006/relationships" id="257" r:id="R3789d9e103e043ca"/>
    <p:sldId xmlns:r="http://schemas.openxmlformats.org/officeDocument/2006/relationships" id="258" r:id="R2d516368136e40a6"/>
    <p:sldId xmlns:r="http://schemas.openxmlformats.org/officeDocument/2006/relationships" id="259" r:id="R4e912ef52c2a484f"/>
    <p:sldId xmlns:r="http://schemas.openxmlformats.org/officeDocument/2006/relationships" id="260" r:id="Rc5c77da7e5f841fb"/>
    <p:sldId xmlns:r="http://schemas.openxmlformats.org/officeDocument/2006/relationships" id="261" r:id="Ra051847cedbb4c1f"/>
    <p:sldId xmlns:r="http://schemas.openxmlformats.org/officeDocument/2006/relationships" id="262" r:id="Rf961bcf06d0d4674"/>
    <p:sldId xmlns:r="http://schemas.openxmlformats.org/officeDocument/2006/relationships" id="263" r:id="Rebc1a83562c241a8"/>
    <p:sldId xmlns:r="http://schemas.openxmlformats.org/officeDocument/2006/relationships" id="264" r:id="R24f26771f9fd401a"/>
    <p:sldId xmlns:r="http://schemas.openxmlformats.org/officeDocument/2006/relationships" id="265" r:id="R4f4bd4db9cae4128"/>
    <p:sldId xmlns:r="http://schemas.openxmlformats.org/officeDocument/2006/relationships" id="266" r:id="R2c228a11a1bc4226"/>
    <p:sldId xmlns:r="http://schemas.openxmlformats.org/officeDocument/2006/relationships" id="267" r:id="R40ee6781d2a440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e4ee7177a4e55" /><Relationship Type="http://schemas.openxmlformats.org/officeDocument/2006/relationships/theme" Target="/ppt/theme/theme1.xml" Id="R7b9cc0fb552545a4" /><Relationship Type="http://schemas.openxmlformats.org/officeDocument/2006/relationships/notesMaster" Target="/ppt/notesMasters/notesMaster1.xml" Id="Re2820f01efb3442a" /><Relationship Type="http://schemas.openxmlformats.org/officeDocument/2006/relationships/presProps" Target="/ppt/presProps.xml" Id="R99c603cf4a304186" /><Relationship Type="http://schemas.openxmlformats.org/officeDocument/2006/relationships/viewProps" Target="/ppt/viewProps.xml" Id="R97248fadc3d74c7e" /><Relationship Type="http://schemas.openxmlformats.org/officeDocument/2006/relationships/tableStyles" Target="/ppt/tableStyles.xml" Id="Rcef192651a1e4c6b" /><Relationship Type="http://schemas.openxmlformats.org/officeDocument/2006/relationships/slide" Target="/ppt/slides/slide1.xml" Id="Rafa35ad8999f4c1f" /><Relationship Type="http://schemas.openxmlformats.org/officeDocument/2006/relationships/slide" Target="/ppt/slides/slide2.xml" Id="R3789d9e103e043ca" /><Relationship Type="http://schemas.openxmlformats.org/officeDocument/2006/relationships/slide" Target="/ppt/slides/slide3.xml" Id="R2d516368136e40a6" /><Relationship Type="http://schemas.openxmlformats.org/officeDocument/2006/relationships/slide" Target="/ppt/slides/slide4.xml" Id="R4e912ef52c2a484f" /><Relationship Type="http://schemas.openxmlformats.org/officeDocument/2006/relationships/slide" Target="/ppt/slides/slide5.xml" Id="Rc5c77da7e5f841fb" /><Relationship Type="http://schemas.openxmlformats.org/officeDocument/2006/relationships/slide" Target="/ppt/slides/slide6.xml" Id="Ra051847cedbb4c1f" /><Relationship Type="http://schemas.openxmlformats.org/officeDocument/2006/relationships/slide" Target="/ppt/slides/slide7.xml" Id="Rf961bcf06d0d4674" /><Relationship Type="http://schemas.openxmlformats.org/officeDocument/2006/relationships/slide" Target="/ppt/slides/slide8.xml" Id="Rebc1a83562c241a8" /><Relationship Type="http://schemas.openxmlformats.org/officeDocument/2006/relationships/slide" Target="/ppt/slides/slide9.xml" Id="R24f26771f9fd401a" /><Relationship Type="http://schemas.openxmlformats.org/officeDocument/2006/relationships/slide" Target="/ppt/slides/slide10.xml" Id="R4f4bd4db9cae4128" /><Relationship Type="http://schemas.openxmlformats.org/officeDocument/2006/relationships/slide" Target="/ppt/slides/slide11.xml" Id="R2c228a11a1bc4226" /><Relationship Type="http://schemas.openxmlformats.org/officeDocument/2006/relationships/slide" Target="/ppt/slides/slide12.xml" Id="R40ee6781d2a440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a866c586af04a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f9763ed76343ce" /><Relationship Type="http://schemas.openxmlformats.org/officeDocument/2006/relationships/notesMaster" Target="/ppt/notesMasters/notesMaster1.xml" Id="Ra3f25cd59dd54d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8adc37a1e04c6f" /><Relationship Type="http://schemas.openxmlformats.org/officeDocument/2006/relationships/notesMaster" Target="/ppt/notesMasters/notesMaster1.xml" Id="R1edd010244794d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98681713474ab1" /><Relationship Type="http://schemas.openxmlformats.org/officeDocument/2006/relationships/notesMaster" Target="/ppt/notesMasters/notesMaster1.xml" Id="R7399205b983949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ddafb3702d4ff9" /><Relationship Type="http://schemas.openxmlformats.org/officeDocument/2006/relationships/notesMaster" Target="/ppt/notesMasters/notesMaster1.xml" Id="Reaf0a884e6cc4a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bf6a447eeb45ec" /><Relationship Type="http://schemas.openxmlformats.org/officeDocument/2006/relationships/notesMaster" Target="/ppt/notesMasters/notesMaster1.xml" Id="R58b210b78a614c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93716f8714450f" /><Relationship Type="http://schemas.openxmlformats.org/officeDocument/2006/relationships/notesMaster" Target="/ppt/notesMasters/notesMaster1.xml" Id="R1be4169a009346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bbb717a5a045d2" /><Relationship Type="http://schemas.openxmlformats.org/officeDocument/2006/relationships/notesMaster" Target="/ppt/notesMasters/notesMaster1.xml" Id="R97de58aa2a7040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58d02c3973443e" /><Relationship Type="http://schemas.openxmlformats.org/officeDocument/2006/relationships/notesMaster" Target="/ppt/notesMasters/notesMaster1.xml" Id="R798a28fe3f244c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bc626c41ca4675" /><Relationship Type="http://schemas.openxmlformats.org/officeDocument/2006/relationships/notesMaster" Target="/ppt/notesMasters/notesMaster1.xml" Id="R784fe619683c46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6d65017e2c413d" /><Relationship Type="http://schemas.openxmlformats.org/officeDocument/2006/relationships/notesMaster" Target="/ppt/notesMasters/notesMaster1.xml" Id="Rd734ad2e43824c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19ffa0cd2043ad" /><Relationship Type="http://schemas.openxmlformats.org/officeDocument/2006/relationships/notesMaster" Target="/ppt/notesMasters/notesMaster1.xml" Id="R1de0f6b6882c47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3c18a347af44de" /><Relationship Type="http://schemas.openxmlformats.org/officeDocument/2006/relationships/notesMaster" Target="/ppt/notesMasters/notesMaster1.xml" Id="R440a6dd0814f4f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b82099a9a434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060D3F2-CCAE-4EB3-A4A7-AA35EB608CAE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0921509-51C3-450E-BCC7-92275C24964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7B90C0-3083-451B-9FC6-C7D271CCBCC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4CF726-D117-4326-9B20-091DEB369F7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73fa253ebb34722" /><Relationship Type="http://schemas.openxmlformats.org/officeDocument/2006/relationships/slideLayout" Target="/ppt/slideLayouts/slideLayout2.xml" Id="Rdf9e1e1bd46c42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8F3041-B37C-4A8C-B407-38CDBAFC76D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9e1e1bd46c42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9e57d4bcc242b9" /><Relationship Type="http://schemas.openxmlformats.org/officeDocument/2006/relationships/image" Target="/ppt/media/image.png" Id="R34ab8a13634144c7" /><Relationship Type="http://schemas.openxmlformats.org/officeDocument/2006/relationships/notesSlide" Target="/ppt/notesSlides/notesSlide1.xml" Id="R7a7f6807357140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8de9c64db14bd3" /><Relationship Type="http://schemas.openxmlformats.org/officeDocument/2006/relationships/notesSlide" Target="/ppt/notesSlides/notesSlide2.xml" Id="Re9cde8b91e934c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b3a17ffd09428c" /><Relationship Type="http://schemas.openxmlformats.org/officeDocument/2006/relationships/notesSlide" Target="/ppt/notesSlides/notesSlide3.xml" Id="R418acdad268946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c6eed462da4d34" /><Relationship Type="http://schemas.openxmlformats.org/officeDocument/2006/relationships/image" Target="/ppt/media/image2.png" Id="R40eeff99af6a4a0f" /><Relationship Type="http://schemas.openxmlformats.org/officeDocument/2006/relationships/notesSlide" Target="/ppt/notesSlides/notesSlide4.xml" Id="R4d01bc770e6743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0934dfbae5491a" /><Relationship Type="http://schemas.openxmlformats.org/officeDocument/2006/relationships/notesSlide" Target="/ppt/notesSlides/notesSlide5.xml" Id="R75a33a483d364c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1b92a325c74944" /><Relationship Type="http://schemas.openxmlformats.org/officeDocument/2006/relationships/image" Target="/ppt/media/image3.png" Id="R9602ca6ffa904bb2" /><Relationship Type="http://schemas.openxmlformats.org/officeDocument/2006/relationships/image" Target="/ppt/media/image4.png" Id="Rabfedd9c9c3d4da4" /><Relationship Type="http://schemas.openxmlformats.org/officeDocument/2006/relationships/image" Target="/ppt/media/image5.png" Id="Rb565c5c9619a4f83" /><Relationship Type="http://schemas.openxmlformats.org/officeDocument/2006/relationships/notesSlide" Target="/ppt/notesSlides/notesSlide6.xml" Id="R0d3fc15bad9944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1c5cd08c7347cb" /><Relationship Type="http://schemas.openxmlformats.org/officeDocument/2006/relationships/notesSlide" Target="/ppt/notesSlides/notesSlide7.xml" Id="R175f7c33629e43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77fd6a9db24eeb" /><Relationship Type="http://schemas.openxmlformats.org/officeDocument/2006/relationships/notesSlide" Target="/ppt/notesSlides/notesSlide8.xml" Id="R5d10689f821944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99957b07544af2" /><Relationship Type="http://schemas.openxmlformats.org/officeDocument/2006/relationships/notesSlide" Target="/ppt/notesSlides/notesSlide9.xml" Id="Rf12c920b89f044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cd8249bcc0487d" /><Relationship Type="http://schemas.openxmlformats.org/officeDocument/2006/relationships/notesSlide" Target="/ppt/notesSlides/notesSlide10.xml" Id="R59190973ddf447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afaea046754354" /><Relationship Type="http://schemas.openxmlformats.org/officeDocument/2006/relationships/notesSlide" Target="/ppt/notesSlides/notesSlide11.xml" Id="R919fdf869d2f4c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b73c1aaf924103" /><Relationship Type="http://schemas.openxmlformats.org/officeDocument/2006/relationships/notesSlide" Target="/ppt/notesSlides/notesSlide12.xml" Id="R6fa19714201141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775B6-E743-4A5D-A334-EBC577E9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CA539-66B0-4160-AD6F-C801BE40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1967E-70CB-4ED3-A746-3973AE86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C10BF-CA7B-4A92-9BEB-71041BD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FB44A-1E5A-4ADC-B748-B48377E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AA255-86AE-4D48-BB26-38B4FEE4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CA768-422E-462B-B3C7-A1C6FA6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E9B64-D088-42B5-B62C-22F402BF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D7FF"/>
                </a:solidFill>
              </a:defRPr>
            </a:pPr>
            <a:r>
              <a:rPr sz="1050" b="1">
                <a:solidFill>
                  <a:srgbClr val="57D7FF"/>
                </a:solidFill>
              </a:rPr>
              <a:t>LESSON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3FC02-F056-4CF5-9361-FFEAE2E3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01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96B01-D087-42FF-BF5F-85AA0C1F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533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</a:defRPr>
            </a:pPr>
            <a:r>
              <a:rPr sz="3600" b="1">
                <a:solidFill>
                  <a:srgbClr val="F8FAFC"/>
                </a:solidFill>
              </a:rPr>
              <a:t>Unity Shader 编程</a:t>
            </a:r>
          </a:p>
          <a:p xmlns:a="http://schemas.openxmlformats.org/drawingml/2006/main">
            <a:pPr algn="l">
              <a:defRPr sz="3600" b="1">
                <a:solidFill>
                  <a:srgbClr val="F8FAFC"/>
                </a:solidFill>
              </a:defRPr>
            </a:pPr>
            <a:r>
              <a:rPr sz="3600" b="1">
                <a:solidFill>
                  <a:srgbClr val="F8FAFC"/>
                </a:solidFill>
              </a:rPr>
              <a:t>PBR 光照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36B04-0EB7-448A-864F-E02AEEAF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33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FD9"/>
                </a:solidFill>
              </a:defRPr>
            </a:pPr>
            <a:r>
              <a:rPr sz="1575" b="0">
                <a:solidFill>
                  <a:srgbClr val="A8BFD9"/>
                </a:solidFill>
              </a:rPr>
              <a:t>从基础光照模型自然过渡到物理材质表达。</a:t>
            </a:r>
          </a:p>
          <a:p xmlns:a="http://schemas.openxmlformats.org/drawingml/2006/main">
            <a:pPr algn="l">
              <a:defRPr sz="1575" b="0">
                <a:solidFill>
                  <a:srgbClr val="A8BFD9"/>
                </a:solidFill>
              </a:defRPr>
            </a:pPr>
            <a:r>
              <a:rPr sz="1575" b="0">
                <a:solidFill>
                  <a:srgbClr val="A8BFD9"/>
                </a:solidFill>
              </a:rPr>
              <a:t>本章围绕 BRDF、Metallic、Smoothness、IBL 与 URP 落地案例展开。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55F11-A57D-4B0D-8B0E-AF06E45E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229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15564-65A7-4E69-AF37-EE54B6BC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22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32849-D2EB-4919-9233-29C97A6D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388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本章定位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0D5E5-2D94-4BC4-9ECE-D7B30F81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388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048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它不是推翻前面的 Lambert / Blinn-Phong，而是在它们之上回答：为什么现代项目更偏向 PBR，以及 PBR 到底更合理在哪里。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77B52-5643-4DB0-A2BD-4DBE7AFE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200150"/>
            <a:ext cx="424815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A7B67-6EEB-4ECA-8A0C-B7419949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200150"/>
            <a:ext cx="424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2A64F-5A0E-4FB2-87A2-F1D85B8F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52550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参考图：非金属与金属对比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C407D-F831-4438-B566-9C763041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19250"/>
            <a:ext cx="39433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FDBE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b8a13634144c7"/>
          <a:stretch xmlns:a="http://schemas.openxmlformats.org/drawingml/2006/main"/>
        </p:blipFill>
        <p:spPr>
          <a:xfrm xmlns:a="http://schemas.openxmlformats.org/drawingml/2006/main">
            <a:off x="6934200" y="2097765"/>
            <a:ext cx="3829050" cy="2052871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01FCC-216C-4057-A2CC-2147578A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958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1D4E8"/>
                </a:solidFill>
              </a:defRPr>
            </a:pPr>
            <a:r>
              <a:rPr sz="900" b="0">
                <a:solidFill>
                  <a:srgbClr val="C1D4E8"/>
                </a:solidFill>
              </a:rPr>
              <a:t>同一环境下，材质参数变化会同时影响漫反射、反射和整体观感。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191FA-8DD4-44BC-959A-F9B76E4E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61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Desktop/Unity URP PBR光照原理深度解析.pptx | Assets/ShaderCourse/Example/Stentil/Shaders/Stentil_Geometry.shader | Assets/ShaderCourse/Example/PBRLessonURP/Shaders/URP_PBR_Lesson.shader | Assets/ShaderCourse/Example/lightingModle/URP_BlinnPhong_Full_With_SH/URP_BlinnPhong_Full_With_SH.shader</a:t>
            </a:r>
          </a:p>
        </p:txBody>
      </p:sp>
    </p:spTree>
    <p:extLst>
      <p:ext uri="{BB962C8B-B14F-4D97-AF65-F5344CB8AC3E}">
        <p14:creationId xmlns:p14="http://schemas.microsoft.com/office/powerpoint/2010/main" val="273396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67324-F3C4-4F6D-8494-15876913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1262D-F1A7-4D38-836E-FCD5BA7C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10A19-6BBC-494D-A1AC-BF12344B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7CF0E-764E-4418-B5B0-7D543B78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CED55-B348-4DBC-BC56-576D260C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6D5CD-BC35-40C4-B1A1-B19553DC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AD80F-83D2-4F48-A27A-A0B0A35B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C3339-C66C-4736-B982-00CCB80F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A6FF"/>
                </a:solidFill>
              </a:defRPr>
            </a:pPr>
            <a:r>
              <a:rPr sz="1050" b="1">
                <a:solidFill>
                  <a:srgbClr val="8CA6FF"/>
                </a:solidFill>
              </a:rPr>
              <a:t>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5E69F-2698-4FA3-92DE-41EB476E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02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D52F8-9D49-4653-8AC6-0E38F034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从基础光照模型走向 PBR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E86DA-C3DA-428A-9681-F31C1DB7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前面我们已经学会“光怎么照亮物体”，这一章要继续回答“材质为什么会以这种方式反光”。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CB29A-6781-4683-B5E8-69A63D94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381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D7E0D-32BC-4097-8087-BD7D8B81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基础光照模型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7FDA2-983E-43FE-AF8D-D7A90A01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8A0BD"/>
                </a:solidFill>
              </a:defRPr>
            </a:pPr>
            <a:r>
              <a:rPr sz="1050" b="0">
                <a:solidFill>
                  <a:srgbClr val="88A0BD"/>
                </a:solidFill>
              </a:rPr>
              <a:t>Lambert + Blinn-Phong</a:t>
            </a:r>
          </a:p>
          <a:p xmlns:a="http://schemas.openxmlformats.org/drawingml/2006/main">
            <a:pPr algn="l">
              <a:defRPr sz="1050" b="0">
                <a:solidFill>
                  <a:srgbClr val="88A0BD"/>
                </a:solidFill>
              </a:defRPr>
            </a:pPr>
            <a:r>
              <a:rPr sz="1050" b="0">
                <a:solidFill>
                  <a:srgbClr val="88A0BD"/>
                </a:solidFill>
              </a:rPr>
              <a:t>偏经验式，参数语义不统一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B1B3D-53A8-401B-BF79-C091855F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10188-750B-4057-A943-89A63030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765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9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29B75-3AB8-4625-8B57-5F0FE955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28900"/>
            <a:ext cx="2381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98F38-F2C2-4DF7-9B3E-0A402726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PBR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0FDA4-9B9D-47E7-ADC9-BF3FAF30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8A0BD"/>
                </a:solidFill>
              </a:defRPr>
            </a:pPr>
            <a:r>
              <a:rPr sz="1050" b="0">
                <a:solidFill>
                  <a:srgbClr val="88A0BD"/>
                </a:solidFill>
              </a:rPr>
              <a:t>Metallic / Smoothness</a:t>
            </a:r>
          </a:p>
          <a:p xmlns:a="http://schemas.openxmlformats.org/drawingml/2006/main">
            <a:pPr algn="l">
              <a:defRPr sz="1050" b="0">
                <a:solidFill>
                  <a:srgbClr val="88A0BD"/>
                </a:solidFill>
              </a:defRPr>
            </a:pPr>
            <a:r>
              <a:rPr sz="1050" b="0">
                <a:solidFill>
                  <a:srgbClr val="88A0BD"/>
                </a:solidFill>
              </a:rPr>
              <a:t>能量守恒 + 物理意义更明确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2C04A-325A-4012-833D-B3E66070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33800"/>
            <a:ext cx="3429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038"/>
          </a:solidFill>
          <a:ln xmlns:a="http://schemas.openxmlformats.org/drawingml/2006/main" w="11430">
            <a:solidFill>
              <a:srgbClr val="FFB8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C56FF-2D46-4425-B386-3F44D394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05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65"/>
                </a:solidFill>
              </a:defRPr>
            </a:pPr>
            <a:r>
              <a:rPr sz="1350" b="1">
                <a:solidFill>
                  <a:srgbClr val="FFB865"/>
                </a:solidFill>
              </a:rPr>
              <a:t>核心目标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A7314-99A8-497B-8D16-115F533F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29100"/>
            <a:ext cx="2838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2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1. 不同光照环境下材质表现更稳定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2. 参数语义更统一，便于美术和程序协作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3. 直接光和间接光可以放进同一套材质框架里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747E4-0B32-4467-AEB1-7461A581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41719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AE726-61C6-4ADC-945E-40FAEE83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417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301FF-5177-4439-99C0-95666BE2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382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课堂衔接方式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A7EEA7-86E0-475F-AD3B-7A664D9A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05150"/>
            <a:ext cx="382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1. 基础光照模型仍然重要，它帮助学生先理解 N、L、V、H 这些向量关系。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2. PBR 不是抛弃这些基础，而是把高光、遮蔽、菲涅尔和环境反射组织得更科学。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3. 所以前一章是铺路，这一章是把“经验写法”升级成“参数更可信的材质框架”。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7BDCA9-8DC0-482F-BBAB-18A2C4D7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57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7E53A5-4A06-4B89-B968-E875C0BC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180143-7FAA-480C-8589-73C4ED36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86450"/>
            <a:ext cx="1022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课程一句话：基础光照模型告诉我们“亮不亮”，PBR 进一步告诉我们“为什么会这么亮”。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D19B9F-CBB8-4144-9A28-C3E0CF39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61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Desktop/Unity URP PBR光照原理深度解析.pptx | Assets/ShaderCourse/Example/Stentil/Shaders/Stentil_Geometry.shader | Assets/ShaderCourse/Example/PBRLessonURP/Shaders/URP_PBR_Lesson.shader | Assets/ShaderCourse/Example/lightingModle/URP_BlinnPhong_Full_With_SH/URP_BlinnPhong_Full_With_SH.shader</a:t>
            </a:r>
          </a:p>
        </p:txBody>
      </p:sp>
    </p:spTree>
    <p:extLst>
      <p:ext uri="{BB962C8B-B14F-4D97-AF65-F5344CB8AC3E}">
        <p14:creationId xmlns:p14="http://schemas.microsoft.com/office/powerpoint/2010/main" val="1608768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C59EF-1EEC-438B-8F10-623F664D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77F80-0708-4C99-9313-004F16F8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313C0-6DDC-4C65-9FA4-775249B3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41454-63B0-4191-8328-FAC3454B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A7CAD-5E33-4E44-B215-9FC69388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F3305-05E9-45E4-9AE3-849C1A82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AE0A5-E641-4F3D-84CC-F7CDDB35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A08F7-63CF-4F7D-AEDC-9D838B3E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E4B5"/>
                </a:solidFill>
              </a:defRPr>
            </a:pPr>
            <a:r>
              <a:rPr sz="1050" b="1">
                <a:solidFill>
                  <a:srgbClr val="76E4B5"/>
                </a:solidFill>
              </a:rPr>
              <a:t>WHY PBR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76B20-5C46-4EB6-80A0-99A67457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03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73025-BDF1-43A9-8038-22DE2F77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为什么传统经验式高光不够了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2F0F7-2F20-4A9D-90C8-5850ED61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当项目需要多个材质、多个环境和更稳定的制作流程时，经验式参数会越来越难统一。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AC284-3C81-485D-A2BF-B7AA1E91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1623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A5721-310F-45DB-8A76-39B5F117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162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BEE31-2EDC-4531-8BAB-D8B93C0D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传统问题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E8A26-C726-4E8B-A31E-A1D27536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28194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高光强度和高光范围常常靠经验硬调，参数语义不够清晰。</a:t>
            </a:r>
          </a:p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同一个材质换环境后，常常要重新修。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3850F-87FB-4426-A1EB-44AD994F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1623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52D59-21CE-4574-AB3C-8FBCE0FF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162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21282-18EC-4537-956D-64CE17AB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传统问题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F740E-0723-4357-857E-A0EBC89E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0400"/>
            <a:ext cx="28194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直接光和环境光容易分裂成两套逻辑。</a:t>
            </a:r>
          </a:p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代码能跑，但材质在不同场景下不稳定。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BBE0C-FDD7-4EAF-AD25-D013D2EC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37147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5A265-EE87-45EB-AFA3-8AF1E043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AC01B-5C42-4D40-A075-93CB93B4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7655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PBR 的改进方向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135EE-1E65-4756-8786-DCB75686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0400"/>
            <a:ext cx="3371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让参数更贴近材质本身，比如是不是金属、表面有多粗糙。</a:t>
            </a:r>
          </a:p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再把直接光与间接光统一到同一套反射框架里。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9FED9-D085-4E84-A673-7CA24C68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72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EFB9C-F984-4889-859F-FF5049F9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BE90A9-A6B0-4448-B1B3-E71BF5C5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53100"/>
            <a:ext cx="1022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学生在这一页要建立的判断标准：如果一个材质必须“换光就重调”，那它通常还停留在偏经验式的阶段。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7FF8B-CDCD-4E90-9EF7-B0F3A10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61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Desktop/Unity URP PBR光照原理深度解析.pptx | Assets/ShaderCourse/Example/Stentil/Shaders/Stentil_Geometry.shader | Assets/ShaderCourse/Example/PBRLessonURP/Shaders/URP_PBR_Lesson.shader | Assets/ShaderCourse/Example/lightingModle/URP_BlinnPhong_Full_With_SH/URP_BlinnPhong_Full_With_SH.shader</a:t>
            </a:r>
          </a:p>
        </p:txBody>
      </p:sp>
    </p:spTree>
    <p:extLst>
      <p:ext uri="{BB962C8B-B14F-4D97-AF65-F5344CB8AC3E}">
        <p14:creationId xmlns:p14="http://schemas.microsoft.com/office/powerpoint/2010/main" val="201447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872FD-A56D-4BA8-A77E-7AF32A64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4A7FF-111C-499F-A51B-2C71E31E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58E41-EE12-4E63-B51A-1447B613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50A78-DBEA-4A43-A3C0-FF3E0A6B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37504-6EA6-4EF3-8CC2-68D53240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3E9B9-C0AD-4C59-80A2-4BED3A8F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893EF-633B-4311-ACB9-6451D49C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14368-ECD8-4D7D-A356-CB43651B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865"/>
                </a:solidFill>
              </a:defRPr>
            </a:pPr>
            <a:r>
              <a:rPr sz="1050" b="1">
                <a:solidFill>
                  <a:srgbClr val="FFB865"/>
                </a:solidFill>
              </a:rPr>
              <a:t>PARAMETERS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3C3CC-C2E6-4B7A-84A6-D86B05BE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04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66D9A-A0EE-4F6F-85AB-125D2068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PBR 首先统一的是材质参数语义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665C1-204F-4AE8-B67D-BC2ED776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最关键的两个入口参数，是 Metallic 和 Smoothness / Roughness。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3275B-D411-444B-A440-D6FB5C2C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43815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9F7F5-027E-456E-B9EE-5DB4CF88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438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3BA2F-8C82-40A7-8B31-2EE2323F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03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参考图：Metallic 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7DFF5-5B2F-460E-A0E3-C9208133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40767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FDBE7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eff99af6a4a0f"/>
          <a:stretch xmlns:a="http://schemas.openxmlformats.org/drawingml/2006/main"/>
        </p:blipFill>
        <p:spPr>
          <a:xfrm xmlns:a="http://schemas.openxmlformats.org/drawingml/2006/main">
            <a:off x="1047750" y="3295269"/>
            <a:ext cx="3962400" cy="1505712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40984-2650-4607-B5F4-D80819B0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34000"/>
            <a:ext cx="403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1D4E8"/>
                </a:solidFill>
              </a:defRPr>
            </a:pPr>
            <a:r>
              <a:rPr sz="900" b="0">
                <a:solidFill>
                  <a:srgbClr val="C1D4E8"/>
                </a:solidFill>
              </a:rPr>
              <a:t>金属度并不是“越高越高级”，而是在回答“表面是不是金属”。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EE71-2A7B-4CD8-AF42-B880522C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09850"/>
            <a:ext cx="27241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8F33F-493A-4356-A1D4-D61884B3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0985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90CAA-EB0B-43EE-BDC4-7603D554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62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Metallic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2DF1C8-4326-4275-AACC-452D103C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F4"/>
                </a:solidFill>
              </a:defRPr>
            </a:pPr>
            <a:r>
              <a:rPr sz="1275" b="0">
                <a:solidFill>
                  <a:srgbClr val="D7E5F4"/>
                </a:solidFill>
              </a:rPr>
              <a:t>对非金属来说，漫反射是主体，F0 通常接近 0.04。</a:t>
            </a:r>
          </a:p>
          <a:p xmlns:a="http://schemas.openxmlformats.org/drawingml/2006/main">
            <a:pPr algn="l">
              <a:defRPr sz="1275" b="0">
                <a:solidFill>
                  <a:srgbClr val="D7E5F4"/>
                </a:solidFill>
              </a:defRPr>
            </a:pPr>
            <a:r>
              <a:rPr sz="1275" b="0">
                <a:solidFill>
                  <a:srgbClr val="D7E5F4"/>
                </a:solidFill>
              </a:rPr>
              <a:t>对金属来说，漫反射会弱很多，镜面反射颜色更接近材质本色。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5F1DB-B892-4229-BFAC-63679609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29146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2A4B7-9C69-4DDA-901E-6AE3E63F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2A13ED-CA78-4009-B11E-AD781EF9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Smoothness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E8D490-7F07-4589-9D83-C2CED08C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861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F4"/>
                </a:solidFill>
              </a:defRPr>
            </a:pPr>
            <a:r>
              <a:rPr sz="1275" b="0">
                <a:solidFill>
                  <a:srgbClr val="D7E5F4"/>
                </a:solidFill>
              </a:rPr>
              <a:t>它控制高光有多锐利。</a:t>
            </a:r>
          </a:p>
          <a:p xmlns:a="http://schemas.openxmlformats.org/drawingml/2006/main">
            <a:pPr algn="l">
              <a:defRPr sz="1275" b="0">
                <a:solidFill>
                  <a:srgbClr val="D7E5F4"/>
                </a:solidFill>
              </a:defRPr>
            </a:pPr>
            <a:r>
              <a:rPr sz="1275" b="0">
                <a:solidFill>
                  <a:srgbClr val="D7E5F4"/>
                </a:solidFill>
              </a:rPr>
              <a:t>Smoothness 高，表面更平整，反射更集中；Smoothness 低，反射更散。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150E1A-0EB5-4AC5-944F-0C36FAF5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05300"/>
            <a:ext cx="58864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CED2D2-5A60-4B76-AC98-0EAC6408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05300"/>
            <a:ext cx="5886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719DD0-FF42-493F-AF80-128A117F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57700"/>
            <a:ext cx="554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教学落点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F7D3EC-1FF8-45A9-9202-57BD4E16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81550"/>
            <a:ext cx="554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这一页不用一开始就把所有微表面公式讲满。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先让学生把参数和直觉绑定：金属度回答“反射像不像金属”，光滑度回答“反射是锐还是散”。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64CA2F-49CA-40CC-A797-D6E216F6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61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Desktop/Unity URP PBR光照原理深度解析.pptx | Assets/ShaderCourse/Example/Stentil/Shaders/Stentil_Geometry.shader | Assets/ShaderCourse/Example/PBRLessonURP/Shaders/URP_PBR_Lesson.shader | Assets/ShaderCourse/Example/lightingModle/URP_BlinnPhong_Full_With_SH/URP_BlinnPhong_Full_With_SH.shader</a:t>
            </a:r>
          </a:p>
        </p:txBody>
      </p:sp>
    </p:spTree>
    <p:extLst>
      <p:ext uri="{BB962C8B-B14F-4D97-AF65-F5344CB8AC3E}">
        <p14:creationId xmlns:p14="http://schemas.microsoft.com/office/powerpoint/2010/main" val="147050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C9ADC-6AAC-453C-83F7-25F34089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39326-830C-496D-A3BA-2DEFC286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223DA-09FA-4E59-8CDE-9C196983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75D34-A8F8-44F6-8BE4-CB895F58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D9072-1556-434A-A8E8-E6A8850D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689B4-AA36-4040-9193-7F293E4C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0EACA-2BE7-4B22-98A1-DFC95366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C243E-59EE-40B4-B721-7F9D2592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D7FF"/>
                </a:solidFill>
              </a:defRPr>
            </a:pPr>
            <a:r>
              <a:rPr sz="1050" b="1">
                <a:solidFill>
                  <a:srgbClr val="57D7FF"/>
                </a:solidFill>
              </a:rPr>
              <a:t>BRDF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1EC4C-3AA8-4F28-94BE-65DFBDF0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05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6018B-11F6-4C57-9801-96D1145D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Microfacet BRDF：PBR 的理论核心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D9701-311A-4A15-8E91-EB86B5F1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PBR 的直接光照通常可以理解成 D、G、F 三个部分共同决定镜面反射。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A870C-D5DB-49FB-A249-0D2EE344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381250" cy="27051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93215-5BD3-41D4-BBFC-F3FBDA85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DA67B-FC01-443D-AD0B-73F8DBBD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D：Distribution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AB890-C211-4733-B006-DF903202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2038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决定微表面法线分布。</a:t>
            </a:r>
          </a:p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它影响高光形状和集中程度。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A71BB-9574-48D3-8EB9-3873F896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2381250" cy="27051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A2EED-A63F-46DE-9F16-3DAD19EA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C640F-AFEE-43FF-A3D1-B2B481DB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G：Geometry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EE230-6547-47E5-85E7-ECD73EB9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00400"/>
            <a:ext cx="2038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描述微表面之间的遮挡与自阴影。</a:t>
            </a:r>
          </a:p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它让反射结果更像真实表面而不是理想镜面。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4B512-667E-400A-A0A4-6ED6730B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2381250" cy="27051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CB9D90-8E98-47FF-814B-70DA928F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3FDAB-FD2E-40EC-9CDC-BFABA464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F：Fresnel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2E1A5-E7AD-4E28-9875-E11CAE28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2038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描述观察角度变化时反射增强。</a:t>
            </a:r>
          </a:p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越靠边缘，反射通常越强。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3BACBB-AB42-40EE-841A-4D548239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2628900" cy="27051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B9B507-E98E-4CD9-BA37-1C0BB6AE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2628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87181-136A-4EB5-8694-8E0CE20F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一句话合起来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44AE8-A536-4F7B-9196-C3A0F9AE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2286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D 决定“反射斑点长什么样”，G 决定“中途有没有被挡住”，F 决定“从这个角度看会反多少”。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881929-1B17-4B3E-AD57-4C034025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57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24F338-BAC1-4ACF-9CB0-8DD84DA3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B32F70-C005-472F-AE83-EEAD482C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86450"/>
            <a:ext cx="1022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课堂建议：把 D/G/F 当成“高光外形、遮蔽修正、角度反射”三件事来讲，学生更容易记。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99FDFB-BE53-4F46-B395-89DDE16A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61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Desktop/Unity URP PBR光照原理深度解析.pptx | Assets/ShaderCourse/Example/Stentil/Shaders/Stentil_Geometry.shader | Assets/ShaderCourse/Example/PBRLessonURP/Shaders/URP_PBR_Lesson.shader | Assets/ShaderCourse/Example/lightingModle/URP_BlinnPhong_Full_With_SH/URP_BlinnPhong_Full_With_SH.shader</a:t>
            </a:r>
          </a:p>
        </p:txBody>
      </p:sp>
    </p:spTree>
    <p:extLst>
      <p:ext uri="{BB962C8B-B14F-4D97-AF65-F5344CB8AC3E}">
        <p14:creationId xmlns:p14="http://schemas.microsoft.com/office/powerpoint/2010/main" val="1167975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66020-FD8D-4C22-9526-B569CEB3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1A277-BC3A-4D5C-85C6-31A1FB8E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6B324-3FC8-4F39-8754-B2A69BAF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2D7EF-B745-44E1-9EA6-939A9AC7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9EB53-801A-4F36-8140-17E3AEB9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D0610-EB30-4FD5-929E-F3B4EF42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B5352-B7EE-4AEB-87A4-D513A740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01902-DA40-4413-8B73-4AEAA244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E4B5"/>
                </a:solidFill>
              </a:defRPr>
            </a:pPr>
            <a:r>
              <a:rPr sz="1050" b="1">
                <a:solidFill>
                  <a:srgbClr val="76E4B5"/>
                </a:solidFill>
              </a:rPr>
              <a:t>MICROFACET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092ED-8645-448E-A5E8-C5DA12D5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06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E3FBF-C0BA-4AB0-9610-B8D3A9DF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微表面假设：表面并不真的光滑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3E58A-CCEF-47BD-A50E-C881223C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PBR 假设宏观平面由许多细小微表面组成，镜面反射其实是这些微表面统计后的结果。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87158-012B-4D8B-9A0A-9352281B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33337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1A5C5-5869-4B31-B569-F7E68585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D87C9-2AF5-4E53-83A9-6443B188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参考图：微表面法线分布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4E493-4B56-4A8F-9885-C9817D98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30289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FDBE7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2ca6ffa904bb2"/>
          <a:stretch xmlns:a="http://schemas.openxmlformats.org/drawingml/2006/main"/>
        </p:blipFill>
        <p:spPr>
          <a:xfrm xmlns:a="http://schemas.openxmlformats.org/drawingml/2006/main">
            <a:off x="1047750" y="3399404"/>
            <a:ext cx="2914650" cy="1145041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1194CE-7581-486E-9FD6-4AA2F6E1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816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22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1D4E8"/>
                </a:solidFill>
              </a:defRPr>
            </a:pPr>
            <a:r>
              <a:rPr sz="900" b="0">
                <a:solidFill>
                  <a:srgbClr val="C1D4E8"/>
                </a:solidFill>
              </a:rPr>
              <a:t>光线并不是只对一个理想法线反射，而是与许多局部法线共同作用。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7F8F7-72DC-4C80-9331-7B68BFB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33337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C6DAE-B039-46F7-8173-32DC86C3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F9D54-EEDF-4112-BE2C-917CFED0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参考图：Geometry 遮蔽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5DFFE-CE08-47F8-832C-30C66691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30289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FDBE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edd9c9c3d4da4"/>
          <a:stretch xmlns:a="http://schemas.openxmlformats.org/drawingml/2006/main"/>
        </p:blipFill>
        <p:spPr>
          <a:xfrm xmlns:a="http://schemas.openxmlformats.org/drawingml/2006/main">
            <a:off x="4610100" y="3511445"/>
            <a:ext cx="2914650" cy="92096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EC073-3986-4317-87A5-C58AF045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816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1D4E8"/>
                </a:solidFill>
              </a:defRPr>
            </a:pPr>
            <a:r>
              <a:rPr sz="900" b="0">
                <a:solidFill>
                  <a:srgbClr val="C1D4E8"/>
                </a:solidFill>
              </a:rPr>
              <a:t>微表面之间会互相挡住，从而影响最终能量返回。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CEB13D-C53F-4C49-A0BC-32FE7B1F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34480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11A31B-C88F-44AB-8328-17BD0472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3448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064F0-1B96-4A8A-A428-31C25C10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参考图：菲涅尔角度变化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4E853F-CBB9-4BAC-83C0-EA0A36E1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31432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FDBE7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5c5c9619a4f83"/>
          <a:stretch xmlns:a="http://schemas.openxmlformats.org/drawingml/2006/main"/>
        </p:blipFill>
        <p:spPr>
          <a:xfrm xmlns:a="http://schemas.openxmlformats.org/drawingml/2006/main">
            <a:off x="8172450" y="3348210"/>
            <a:ext cx="3028950" cy="124743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EAFF94-4115-4DB7-9364-E59C1057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81600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1D4E8"/>
                </a:solidFill>
              </a:defRPr>
            </a:pPr>
            <a:r>
              <a:rPr sz="900" b="0">
                <a:solidFill>
                  <a:srgbClr val="C1D4E8"/>
                </a:solidFill>
              </a:rPr>
              <a:t>掠射角反射更强，是学生最容易直接观察到的现象之一。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28EEAC-78D0-474B-932B-5CBEF459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7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6FE9FC-1239-45E2-91E1-ABC71F03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7F8200-40C1-445C-A274-A1C2CF0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05500"/>
            <a:ext cx="1022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这也是为什么“光滑度变化”和“观察角度变化”都会显著改变高光，而不仅仅是亮度数值变化。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29EE6C-458C-4D1C-969E-46C149AA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61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Desktop/Unity URP PBR光照原理深度解析.pptx | Assets/ShaderCourse/Example/Stentil/Shaders/Stentil_Geometry.shader | Assets/ShaderCourse/Example/PBRLessonURP/Shaders/URP_PBR_Lesson.shader | Assets/ShaderCourse/Example/lightingModle/URP_BlinnPhong_Full_With_SH/URP_BlinnPhong_Full_With_SH.shader</a:t>
            </a:r>
          </a:p>
        </p:txBody>
      </p:sp>
    </p:spTree>
    <p:extLst>
      <p:ext uri="{BB962C8B-B14F-4D97-AF65-F5344CB8AC3E}">
        <p14:creationId xmlns:p14="http://schemas.microsoft.com/office/powerpoint/2010/main" val="16003400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EC5EC-CA47-43CA-BC61-E68D561C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0C3D1-C716-4341-8970-A131246E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CBC6E-D03F-4BF1-973E-32E66116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05E67-BD08-4266-91CA-4D0E1C76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B1377-23E5-4325-A950-DB13F958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CC9C4-D69F-43F0-B6A4-B330FDE7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AB99F-4B93-4145-8A19-FCB08E14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38814-DA4D-40FD-9B7D-608CD8C7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A6FF"/>
                </a:solidFill>
              </a:defRPr>
            </a:pPr>
            <a:r>
              <a:rPr sz="1050" b="1">
                <a:solidFill>
                  <a:srgbClr val="8CA6FF"/>
                </a:solidFill>
              </a:rPr>
              <a:t>IBL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2FDA3-5BF2-42C1-B764-3F37BF29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07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7AB10-498A-4EDB-8B92-046D0B4B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PBR 不只看直接光，还要看间接光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B8570-EC60-415F-BCC2-F49FEBFD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现代材质表现的真实感，很大程度来自环境反射，也就是 IBL。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DE004-7EDA-43A0-8577-AFE2A5E5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1623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B3D49-4EBB-482D-ADE9-8C35D377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162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A1B19-79FC-4EE0-A203-FD281ABE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直接光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B613B-3C2E-427A-9F93-CA6B1CA7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28194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来自主光源或附加光源。</a:t>
            </a:r>
          </a:p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在代码中通常走 BRDF 直接计算。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508BB-12AA-492E-972B-9405D2C7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1623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BDF40-433C-4DDF-B0D6-43D15E9E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162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F1224-6EF0-496F-8B77-0EDBD710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SH 漫反射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7E044-1E49-4FEE-9D0A-6068C0C1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0400"/>
            <a:ext cx="28194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适合低频环境漫反射。</a:t>
            </a:r>
          </a:p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URP 里常用 `SampleSH(normalWS)` 获取环境漫反射。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8DBAB-267C-4539-85F8-91EA4FFD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37147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6BB72-B2EC-4E16-9126-0F011AA8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575B1-D628-453A-809A-D75C68B3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7655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IBL 镜面反射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43048-6D00-4738-A0AB-F61C05AF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0400"/>
            <a:ext cx="3371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通过反射方向采样环境贴图。</a:t>
            </a:r>
          </a:p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URP 里可以用 `GlossyEnvironmentReflection` 近似实现。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584F9-FA67-48F6-B6FA-B30F2D16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72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2BFFB-0C77-4FEC-955A-ED93B723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8D7BB6-E853-4ECE-80B5-6EF0D053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53100"/>
            <a:ext cx="1022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记忆口径：SH 更像“环境底色”，IBL 更像“环境倒影”。两者配合，材质才会真正脱离死板的单灯高光。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BA14D6-C9B1-4A18-BE6B-2CB8BED9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61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Desktop/Unity URP PBR光照原理深度解析.pptx | Assets/ShaderCourse/Example/Stentil/Shaders/Stentil_Geometry.shader | Assets/ShaderCourse/Example/PBRLessonURP/Shaders/URP_PBR_Lesson.shader | Assets/ShaderCourse/Example/lightingModle/URP_BlinnPhong_Full_With_SH/URP_BlinnPhong_Full_With_SH.shader</a:t>
            </a:r>
          </a:p>
        </p:txBody>
      </p:sp>
    </p:spTree>
    <p:extLst>
      <p:ext uri="{BB962C8B-B14F-4D97-AF65-F5344CB8AC3E}">
        <p14:creationId xmlns:p14="http://schemas.microsoft.com/office/powerpoint/2010/main" val="1676019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5BE4F-51C2-4517-9C14-10F793E1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20418-9393-4289-B3C9-D4283369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5AC21-F6F4-4809-85A8-DB51D290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02196-B1C7-4B1E-8679-E4640BC2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13228-D106-446D-93C6-A18561D3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AD6FC-EDF7-4A6A-AE27-5F09C3B5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CC053-F1BF-4BBF-A60A-24AA369A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38966-AEAF-4A49-A2CB-E9B66CB4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865"/>
                </a:solidFill>
              </a:defRPr>
            </a:pPr>
            <a:r>
              <a:rPr sz="1050" b="1">
                <a:solidFill>
                  <a:srgbClr val="FFB865"/>
                </a:solidFill>
              </a:rPr>
              <a:t>URP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0F1C2-F641-41FD-96A7-7EBAF5B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08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5B8C5-93F2-4294-A559-7BF98BF2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URP 案例脚本结构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5AC07-296B-464A-84C7-83E40047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为了课程连贯性，案例脚本直接沿用前面章节已经出现过的 URP PBR 结构。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E6DE9-8390-4989-9CDB-7225232A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5143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EB9CB-F40F-4C44-98B4-84C8462F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514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F117A-AFB3-4BC1-9A36-8B1D6F23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F16E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73495-B62B-4211-8484-D2192424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FFB8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14B82-7800-4655-9B70-45ED3D8C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76E4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B7C1D-DB9E-4E3C-BC8C-26DFFADA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28925"/>
            <a:ext cx="422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CCE6"/>
                </a:solidFill>
              </a:defRPr>
            </a:pPr>
            <a:r>
              <a:rPr sz="1050" b="1">
                <a:solidFill>
                  <a:srgbClr val="B7CCE6"/>
                </a:solidFill>
              </a:rPr>
              <a:t>URP_PBR_Lesson.shader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D381E-0988-4E6E-8C9D-B334C199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48006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half3 FresnelSchlick(...)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 DistributionGGX(...)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 GeometrySmith(...)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half3 EvaluateDirectPBR(...)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    // D * G * F / (4 * NdotV * NdotL)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half3 EvaluateIBL(...)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    half3 diffuseIBL = SampleSH(normalWS) * albedo * kD;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    half3 specularIBL = GlossyEnvironmentReflection(...).rgb * fresnel;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1F905-8BDE-4538-A4D2-1CB497CC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17B24-630B-415C-858B-1142949D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F2299B-8E1F-4562-9608-E8F81248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与前面课程一致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ABB99-079B-480A-8BF4-4A41FD92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2038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F4"/>
                </a:solidFill>
              </a:defRPr>
            </a:pPr>
            <a:r>
              <a:rPr sz="1275" b="0">
                <a:solidFill>
                  <a:srgbClr val="D7E5F4"/>
                </a:solidFill>
              </a:rPr>
              <a:t>顶点阶段仍然负责世界空间位置、法线、切线和阴影坐标。</a:t>
            </a:r>
          </a:p>
          <a:p xmlns:a="http://schemas.openxmlformats.org/drawingml/2006/main">
            <a:pPr algn="l">
              <a:defRPr sz="1275" b="0">
                <a:solidFill>
                  <a:srgbClr val="D7E5F4"/>
                </a:solidFill>
              </a:defRPr>
            </a:pPr>
            <a:r>
              <a:rPr sz="1275" b="0">
                <a:solidFill>
                  <a:srgbClr val="D7E5F4"/>
                </a:solidFill>
              </a:rPr>
              <a:t>学生不需要重新适应一套完全不同的代码组织。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68070-9EC2-457A-BD35-F5D3BAC8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552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27D4FB-637D-4E3F-8526-7523A42A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552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20BE0-340D-40E9-82C9-59153E80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本章新增重点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ADDD84-48E6-4CDE-9CBD-59AF2252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00400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F4"/>
                </a:solidFill>
              </a:defRPr>
            </a:pPr>
            <a:r>
              <a:rPr sz="1275" b="0">
                <a:solidFill>
                  <a:srgbClr val="D7E5F4"/>
                </a:solidFill>
              </a:rPr>
              <a:t>不再只讲高光结果，而是开始讲高光背后的 D/G/F 物理意义和参数来源。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546AEA-3F05-4C4D-AEA9-3217DE4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62450"/>
            <a:ext cx="5143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6B1E00-9A30-4F11-9DE9-3FE72001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62450"/>
            <a:ext cx="514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6D269E-AD3E-4C5B-89A5-AD4CC75A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14850"/>
            <a:ext cx="480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为什么这样设计案例脚本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307D4F-8CF5-41C3-A226-6F2EBF40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38700"/>
            <a:ext cx="4800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让学生知道：PBR 不是神秘黑盒，它仍然是可以拆开、阅读、重构的 Shader 逻辑。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课程里讲的理论，和脚本中的函数是一一对应的。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9224A3-401F-4489-929A-2C5BD693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61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Desktop/Unity URP PBR光照原理深度解析.pptx | Assets/ShaderCourse/Example/Stentil/Shaders/Stentil_Geometry.shader | Assets/ShaderCourse/Example/PBRLessonURP/Shaders/URP_PBR_Lesson.shader | Assets/ShaderCourse/Example/lightingModle/URP_BlinnPhong_Full_With_SH/URP_BlinnPhong_Full_With_SH.shader</a:t>
            </a:r>
          </a:p>
        </p:txBody>
      </p:sp>
    </p:spTree>
    <p:extLst>
      <p:ext uri="{BB962C8B-B14F-4D97-AF65-F5344CB8AC3E}">
        <p14:creationId xmlns:p14="http://schemas.microsoft.com/office/powerpoint/2010/main" val="10847314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799B7-4511-4D4F-BD2D-F1E0DA2F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11DD8-AFEF-40E4-BA8A-D617CDE6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C2DA0-FD93-4741-A573-02931C4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B6B34-F655-4FD5-9A22-0E29FD90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8CBBB-414C-4D8A-A631-9C54F6D0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57266-53E5-42BE-A9C5-88A126FC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752D7-8457-48B7-82E0-B9202549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D9202-5455-483E-B082-405822C7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6E84"/>
                </a:solidFill>
              </a:defRPr>
            </a:pPr>
            <a:r>
              <a:rPr sz="1050" b="1">
                <a:solidFill>
                  <a:srgbClr val="F16E84"/>
                </a:solidFill>
              </a:rPr>
              <a:t>CODE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53798-1907-417F-A82B-592537FF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09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A55FA-01A9-42FF-AE43-8C606E67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代码重点页：直接光与间接光如何汇合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FE352-C03B-40B8-A3D4-A852FC2F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这一页适合课堂上逐段对照：哪部分负责直接光，哪部分负责环境光。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97E7C-6233-4630-8504-71F54A5A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5048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14663-CB54-48A5-8956-FDEEE6DD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597F9-F844-4B16-9C25-A8E751D7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F16E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3190E-C51D-4CE2-B5FC-C965800A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FFB8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A7475-0A33-441C-A4BF-22765FAB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76E4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27D4C-751D-46A1-A79E-F61FBDE6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28925"/>
            <a:ext cx="413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CCE6"/>
                </a:solidFill>
              </a:defRPr>
            </a:pPr>
            <a:r>
              <a:rPr sz="1050" b="1">
                <a:solidFill>
                  <a:srgbClr val="B7CCE6"/>
                </a:solidFill>
              </a:rPr>
              <a:t>片元主逻辑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3A4BF-1BFD-4960-A98D-7B5A4576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47053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half4 baseTex = SAMPLE_TEXTURE2D(_BaseMap, sampler_BaseMap, input.uv);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half3 albedo = baseTex.rgb * _BaseColor.rgb;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half3 normalWS = GetSurfaceNormal(input);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half3 viewDirWS = SafeNormalize(GetWorldSpaceViewDir(input.positionWS));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half3 directLighting = EvaluateDirectPBR(...);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half3 indirectLighting = EvaluateIBL(...);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return half4(directLighting + indirectLighting, 1.0h);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0A7D7-83CF-4B7D-87D7-C9B48821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52197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DE8846-BC21-4FAF-A4F0-5A56C510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BCBC1-DE90-4B43-B9C0-E29BE311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逐段讲法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36638-BD02-4505-8DA2-9F0CFB4B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48768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1. 采样 BaseMap，得到材质基础颜色。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2. 法线和视线方向准备好后，直接光走 BRDF。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3. 环境漫反射用 SH，环境镜面反射用 IBL。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4. 最终颜色并不是“谁替代谁”，而是直接光与间接光的合成。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1E462-B54D-418F-B5F5-D39C4FBB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57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40FBC-59F2-4BBE-9AA6-7CC47A30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827899-325D-4F3C-9CD8-359E73FB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38850"/>
            <a:ext cx="1022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一句话帮助学生建立全图：直接光决定“灯打上去是什么感觉”，间接光决定“环境包围时是什么感觉”。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E1FE7-7EAD-490D-A56B-591751A7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61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Desktop/Unity URP PBR光照原理深度解析.pptx | Assets/ShaderCourse/Example/Stentil/Shaders/Stentil_Geometry.shader | Assets/ShaderCourse/Example/PBRLessonURP/Shaders/URP_PBR_Lesson.shader | Assets/ShaderCourse/Example/lightingModle/URP_BlinnPhong_Full_With_SH/URP_BlinnPhong_Full_With_SH.shader</a:t>
            </a:r>
          </a:p>
        </p:txBody>
      </p:sp>
    </p:spTree>
    <p:extLst>
      <p:ext uri="{BB962C8B-B14F-4D97-AF65-F5344CB8AC3E}">
        <p14:creationId xmlns:p14="http://schemas.microsoft.com/office/powerpoint/2010/main" val="822681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A1475-4F91-4616-91F2-7BF3F784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82B5B-DF30-43B1-8371-4C995D80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E563A-0372-4CA3-B515-3442EC32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3C6BA-AC06-4D1E-8AA1-9F903DE2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8A952-D2E7-42C9-92D2-88034DFB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0C984-5CEB-47DF-B997-93B82482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92A40-CBC2-4F82-AF8F-E75E02F7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72C05-E322-4BF3-8B48-1C573B55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E4B5"/>
                </a:solidFill>
              </a:defRPr>
            </a:pPr>
            <a:r>
              <a:rPr sz="1050" b="1">
                <a:solidFill>
                  <a:srgbClr val="76E4B5"/>
                </a:solidFill>
              </a:rPr>
              <a:t>COMPARE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25D44-A9A8-43EE-898A-23B5A91A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10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92BA0-8A4E-442C-B986-73ED26E4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把基础光照和 PBR 放在一起看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9F7B3-DF73-47DE-8A19-A0174EA7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这一页帮助学生建立前后章节的知识坐标，而不是把两个章节割裂开。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8C5D9-AE9C-4474-B782-C7B0C741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953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C54B3-FB99-4A03-9226-C492881C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EB9C3-0587-48C9-93D4-D2F3E60B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基础光照模型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94F22-8C00-447E-943D-379E65C9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4610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优点：</a:t>
            </a:r>
          </a:p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容易入门，适合建立向量、点乘、高光半角向量的基础直觉。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局限：</a:t>
            </a:r>
          </a:p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材质参数语义不够统一，环境变化后往往需要重新修高光。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F39EB-BF46-42B9-A127-EF2293E5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53530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728EE-578B-44A9-B080-14B2FA6F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5353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37125-7E01-4560-85D2-B1B5D435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501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PBR 光照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18C10-0115-4EDD-80FE-8ADA0C35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0400"/>
            <a:ext cx="5010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优点：</a:t>
            </a:r>
          </a:p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参数更贴近材质属性，直接光和间接光能纳入更统一的框架。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成本：</a:t>
            </a:r>
          </a:p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理论更多、函数更多，需要学生先打好基础光照和法线空间的底子。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52E94-7345-4E26-9710-DAF1F451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57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563D9-F8BD-42B5-8EA2-E5EB3BAD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C5136-24BE-43B5-A08A-D4ED1BC5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86450"/>
            <a:ext cx="1022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课程关系不是“前一章错了，后一章对了”，而是“前一章是必要台阶，后一章是更完整的工程表达”。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12A36-0E0D-4E29-B70B-F0A8B361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61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Desktop/Unity URP PBR光照原理深度解析.pptx | Assets/ShaderCourse/Example/Stentil/Shaders/Stentil_Geometry.shader | Assets/ShaderCourse/Example/PBRLessonURP/Shaders/URP_PBR_Lesson.shader | Assets/ShaderCourse/Example/lightingModle/URP_BlinnPhong_Full_With_SH/URP_BlinnPhong_Full_With_SH.shader</a:t>
            </a:r>
          </a:p>
        </p:txBody>
      </p:sp>
    </p:spTree>
    <p:extLst>
      <p:ext uri="{BB962C8B-B14F-4D97-AF65-F5344CB8AC3E}">
        <p14:creationId xmlns:p14="http://schemas.microsoft.com/office/powerpoint/2010/main" val="11532219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D6B74-27B5-4AE3-A63F-93649DFA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9DCE2-0C3E-4C8D-84C2-0447B15D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675BF-D2D9-4EC6-AE56-4FBEC5EC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4A48A-C4B9-48E6-B859-CDB4BFD8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30C20-2497-48A0-BB6F-015F38F2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EBF50-3C09-4DC7-86C8-84D78BAF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0670D-C67D-433F-8504-2C6E4DF5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2F012-A154-4DF0-8F1E-3EDB5F45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A6FF"/>
                </a:solidFill>
              </a:defRPr>
            </a:pPr>
            <a:r>
              <a:rPr sz="1050" b="1">
                <a:solidFill>
                  <a:srgbClr val="8CA6FF"/>
                </a:solidFill>
              </a:rPr>
              <a:t>CHECKLIST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06392-8A0E-427D-B2F4-A773D2C1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11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42EEA-C67B-4FF8-A991-FC5009E5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课堂观察点与调试清单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D2884-CED4-4FF1-B181-9B438762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讲 PBR 时，不要只讲公式，更要让学生会观察参数变化带来的画面差异。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2D307-5D53-4B85-AD94-9669BB6F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192F9-E1EE-4721-B440-7BD0778A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B33E2-EBCD-4EA9-A6DB-F0D4897B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观察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F7998-C06C-42B5-9D66-733B18DB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2990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固定光照环境，只改 Metallic，观察漫反射减弱与镜面颜色变化。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63BD6-E1A6-45CB-BA1B-2A60F00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B6023-4264-42C4-A117-6906B6A9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3FA4C-57A6-4258-B74A-AA94949A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765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观察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33BE9-9F84-412F-859D-D18C1D94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2990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固定 Metallic，只改 Smoothness，观察高光从散到锐的变化。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D86FE-2674-4BAD-97C1-1B55F815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371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4609D2-8297-469A-B30B-C2219379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371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982DE-C0FF-4B5A-8CEF-645FAB0F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765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观察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4DE03-D679-47CA-888A-5E086590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0400"/>
            <a:ext cx="3028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转动相机，观察边缘区域反射增强，从而理解 Fresnel。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77157D-E649-4C67-ABAC-81A63DAA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10F58-8E7E-4C10-9198-CAEB6860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7FD75-539F-4390-AE46-4FC0114A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调试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E9EE25-BB4D-4F46-A520-D744D84B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990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如果高光方向不对，先检查法线空间和 TBN，而不是先怀疑 BRDF 公式。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7D552-202C-4A17-9983-0291961B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7675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A7AE2C-1BEF-40B0-A7F3-411CB55A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76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793C8-C7B3-4FB2-968D-729BC5F9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291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调试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06CA75-CAA7-47E7-AAA1-8331E92E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53000"/>
            <a:ext cx="2990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如果材质显得发灰或发死，检查 SH / IBL 是否真正参与了间接光。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15AA80-B4AA-47B2-880D-837179D3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3371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6470A1-F4C6-4991-8BAF-6198203A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3371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7A736A-FE73-4DCA-92FB-6EDCDD84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调试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7BC0F4-0CCF-4454-A032-71733006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3028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如果金属看起来像塑料，优先确认 F0、Metallic 分支和漫反射保留量是否合理。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3B7408-5D0C-491C-931D-47C9AA8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61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Desktop/Unity URP PBR光照原理深度解析.pptx | Assets/ShaderCourse/Example/Stentil/Shaders/Stentil_Geometry.shader | Assets/ShaderCourse/Example/PBRLessonURP/Shaders/URP_PBR_Lesson.shader | Assets/ShaderCourse/Example/lightingModle/URP_BlinnPhong_Full_With_SH/URP_BlinnPhong_Full_With_SH.shader</a:t>
            </a:r>
          </a:p>
        </p:txBody>
      </p:sp>
    </p:spTree>
    <p:extLst>
      <p:ext uri="{BB962C8B-B14F-4D97-AF65-F5344CB8AC3E}">
        <p14:creationId xmlns:p14="http://schemas.microsoft.com/office/powerpoint/2010/main" val="8918344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B601D7-3355-4C57-AF82-AD13F5FE8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33592-C1F8-431B-ABB7-072A24E6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A2055-D1D3-4003-8D18-0FADFA71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A91DF-5BD1-4F41-8B6A-A8A585A1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1D3F5-7066-409B-91E2-48B304A5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ECBFB-E84B-49E9-A02C-5C1E5A26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BCDBC-FDE0-4BA9-808C-481FD5F3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DADA6-CAB0-4CC1-A837-AC0544A5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272E9-29A9-479A-B13D-E107FB25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D7FF"/>
                </a:solidFill>
              </a:defRPr>
            </a:pPr>
            <a:r>
              <a:rPr sz="1050" b="1">
                <a:solidFill>
                  <a:srgbClr val="57D7FF"/>
                </a:solidFill>
              </a:rPr>
              <a:t>WRAP-UP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9048D-D88E-4544-B064-70C5AB97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12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51C0A-15D4-4234-8CA4-A108A7BC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小结与课后练习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3D7B1-A3C1-4FBE-A35B-BF0FA9CA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本章的目标不是让学生背完所有公式，而是先建立一套可解释、可复用、可落地的 PBR 思维。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AE854-CD01-42F7-85FC-7F7BE8F2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5775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E3C3C-C6CC-42CE-8EF8-95037653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5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6AAA9-DFC6-467A-9E4E-A470C091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1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本章三句话总结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07A4B-0E05-4643-A014-0AB6BB04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45148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1. PBR 的价值在于参数语义更清晰、材质表现更稳定。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2. 直接光通常靠 BRDF，间接光通常靠 SH 与 IBL。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3. 在 URP 里，PBR 不是抽象理论，而是可以拆成 Fresnel、GGX、Geometry、IBL 等函数来实现。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C363D-ECBD-48AB-B029-E45399F8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542925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5F124-0965-4636-B1F2-2E9C75E1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40053-37FF-4ED0-94E7-DB91F620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76550"/>
            <a:ext cx="508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课后练习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374AB-8579-4356-8302-A77991B5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50863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练习 A：在案例脚本里只保留直接光，观察没有 IBL 时材质会失去哪些信息。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练习 B：把 Metallic 和 Smoothness 分别做成极端值，记录画面差异。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练习 C：尝试给案例加法线贴图，并对照高光变化理解 TBN 的作用。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0179D-F8EF-4CE8-982E-91A39D41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72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14EEB-EB52-4A46-BF5E-17B97238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DBC81-F750-4112-B229-3DBA23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53100"/>
            <a:ext cx="1022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交付物已放入 `Assets/ShaderCourse/Example/PBRLessonURP/`：包括课件和案例 Shader，可直接作为“基础光照模型”后的下一节课使用。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DF403-AFC0-4921-94E1-A7E05F98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66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261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Desktop/Unity URP PBR光照原理深度解析.pptx | Assets/ShaderCourse/Example/Stentil/Shaders/Stentil_Geometry.shader | Assets/ShaderCourse/Example/PBRLessonURP/Shaders/URP_PBR_Lesson.shader | Assets/ShaderCourse/Example/lightingModle/URP_BlinnPhong_Full_With_SH/URP_BlinnPhong_Full_With_SH.shader</a:t>
            </a:r>
          </a:p>
        </p:txBody>
      </p:sp>
    </p:spTree>
    <p:extLst>
      <p:ext uri="{BB962C8B-B14F-4D97-AF65-F5344CB8AC3E}">
        <p14:creationId xmlns:p14="http://schemas.microsoft.com/office/powerpoint/2010/main" val="824258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2026-04-19T08:41:33.6060000Z</dcterms:created>
  <dcterms:modified xsi:type="dcterms:W3CDTF">2026-04-19T08:41:33.6060000Z</dcterms:modified>
</coreProperties>
</file>